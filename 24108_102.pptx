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70" r:id="rId10"/>
    <p:sldId id="271" r:id="rId11"/>
    <p:sldId id="272" r:id="rId12"/>
    <p:sldId id="275" r:id="rId13"/>
    <p:sldId id="273" r:id="rId14"/>
    <p:sldId id="274" r:id="rId15"/>
  </p:sldIdLst>
  <p:sldSz cx="18288000" cy="10287000"/>
  <p:notesSz cx="6858000" cy="9144000"/>
  <p:embeddedFontLst>
    <p:embeddedFont>
      <p:font typeface="Cambria Math" panose="02040503050406030204" pitchFamily="18" charset="0"/>
      <p:regular r:id="rId17"/>
    </p:embeddedFont>
    <p:embeddedFont>
      <p:font typeface="Canva Sans Italics" panose="020B0604020202020204" charset="0"/>
      <p:regular r:id="rId18"/>
    </p:embeddedFont>
    <p:embeddedFont>
      <p:font typeface="EB Garamond" panose="00000500000000000000" pitchFamily="2" charset="0"/>
      <p:regular r:id="rId19"/>
      <p:bold r:id="rId20"/>
      <p:italic r:id="rId21"/>
      <p:boldItalic r:id="rId22"/>
    </p:embeddedFont>
    <p:embeddedFont>
      <p:font typeface="EB Garamond Italics" panose="020B0604020202020204" charset="0"/>
      <p:regular r:id="rId23"/>
    </p:embeddedFont>
    <p:embeddedFont>
      <p:font typeface="EB Garamond Semi-Bold" panose="020B0604020202020204" charset="0"/>
      <p:regular r:id="rId24"/>
    </p:embeddedFont>
    <p:embeddedFont>
      <p:font typeface="Touvlo" panose="020B0604020202020204" charset="0"/>
      <p:regular r:id="rId25"/>
    </p:embeddedFont>
    <p:embeddedFont>
      <p:font typeface="Touvlo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1F249F-1F36-41BD-AC52-43A43FB7EF56}" v="110" dt="2026-10-14T13:14:49.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70" autoAdjust="0"/>
    <p:restoredTop sz="94622" autoAdjust="0"/>
  </p:normalViewPr>
  <p:slideViewPr>
    <p:cSldViewPr>
      <p:cViewPr varScale="1">
        <p:scale>
          <a:sx n="52" d="100"/>
          <a:sy n="52" d="100"/>
        </p:scale>
        <p:origin x="1003"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poori Sai Vivek" userId="8ad695f6ba688a4f" providerId="LiveId" clId="{8DB9192F-1FC9-4BBA-9587-DE260D409BC4}"/>
    <pc:docChg chg="undo redo custSel addSld delSld modSld sldOrd">
      <pc:chgData name="Chepoori Sai Vivek" userId="8ad695f6ba688a4f" providerId="LiveId" clId="{8DB9192F-1FC9-4BBA-9587-DE260D409BC4}" dt="2026-10-14T13:16:24.233" v="1624" actId="2696"/>
      <pc:docMkLst>
        <pc:docMk/>
      </pc:docMkLst>
      <pc:sldChg chg="modSp mod modTransition">
        <pc:chgData name="Chepoori Sai Vivek" userId="8ad695f6ba688a4f" providerId="LiveId" clId="{8DB9192F-1FC9-4BBA-9587-DE260D409BC4}" dt="2026-10-14T11:53:28.325" v="1437"/>
        <pc:sldMkLst>
          <pc:docMk/>
          <pc:sldMk cId="0" sldId="256"/>
        </pc:sldMkLst>
        <pc:spChg chg="mod">
          <ac:chgData name="Chepoori Sai Vivek" userId="8ad695f6ba688a4f" providerId="LiveId" clId="{8DB9192F-1FC9-4BBA-9587-DE260D409BC4}" dt="2026-09-19T12:21:54.863" v="17" actId="255"/>
          <ac:spMkLst>
            <pc:docMk/>
            <pc:sldMk cId="0" sldId="256"/>
            <ac:spMk id="2" creationId="{00000000-0000-0000-0000-000000000000}"/>
          </ac:spMkLst>
        </pc:spChg>
        <pc:spChg chg="mod">
          <ac:chgData name="Chepoori Sai Vivek" userId="8ad695f6ba688a4f" providerId="LiveId" clId="{8DB9192F-1FC9-4BBA-9587-DE260D409BC4}" dt="2026-09-19T12:22:06.843" v="25" actId="1035"/>
          <ac:spMkLst>
            <pc:docMk/>
            <pc:sldMk cId="0" sldId="256"/>
            <ac:spMk id="3" creationId="{00000000-0000-0000-0000-000000000000}"/>
          </ac:spMkLst>
        </pc:spChg>
      </pc:sldChg>
      <pc:sldChg chg="modSp mod modTransition">
        <pc:chgData name="Chepoori Sai Vivek" userId="8ad695f6ba688a4f" providerId="LiveId" clId="{8DB9192F-1FC9-4BBA-9587-DE260D409BC4}" dt="2026-10-14T11:53:30.371" v="1438"/>
        <pc:sldMkLst>
          <pc:docMk/>
          <pc:sldMk cId="0" sldId="257"/>
        </pc:sldMkLst>
        <pc:spChg chg="mod">
          <ac:chgData name="Chepoori Sai Vivek" userId="8ad695f6ba688a4f" providerId="LiveId" clId="{8DB9192F-1FC9-4BBA-9587-DE260D409BC4}" dt="2026-09-19T13:18:08.431" v="263" actId="20577"/>
          <ac:spMkLst>
            <pc:docMk/>
            <pc:sldMk cId="0" sldId="257"/>
            <ac:spMk id="2" creationId="{00000000-0000-0000-0000-000000000000}"/>
          </ac:spMkLst>
        </pc:spChg>
      </pc:sldChg>
      <pc:sldChg chg="modTransition">
        <pc:chgData name="Chepoori Sai Vivek" userId="8ad695f6ba688a4f" providerId="LiveId" clId="{8DB9192F-1FC9-4BBA-9587-DE260D409BC4}" dt="2026-10-14T11:53:31.691" v="1439"/>
        <pc:sldMkLst>
          <pc:docMk/>
          <pc:sldMk cId="0" sldId="258"/>
        </pc:sldMkLst>
      </pc:sldChg>
      <pc:sldChg chg="modTransition addAnim delAnim modAnim">
        <pc:chgData name="Chepoori Sai Vivek" userId="8ad695f6ba688a4f" providerId="LiveId" clId="{8DB9192F-1FC9-4BBA-9587-DE260D409BC4}" dt="2026-10-14T11:53:33.892" v="1440"/>
        <pc:sldMkLst>
          <pc:docMk/>
          <pc:sldMk cId="0" sldId="259"/>
        </pc:sldMkLst>
      </pc:sldChg>
      <pc:sldChg chg="addSp delSp modSp mod modNotesTx">
        <pc:chgData name="Chepoori Sai Vivek" userId="8ad695f6ba688a4f" providerId="LiveId" clId="{8DB9192F-1FC9-4BBA-9587-DE260D409BC4}" dt="2026-09-19T13:24:13.529" v="391" actId="20577"/>
        <pc:sldMkLst>
          <pc:docMk/>
          <pc:sldMk cId="0" sldId="260"/>
        </pc:sldMkLst>
        <pc:spChg chg="mod">
          <ac:chgData name="Chepoori Sai Vivek" userId="8ad695f6ba688a4f" providerId="LiveId" clId="{8DB9192F-1FC9-4BBA-9587-DE260D409BC4}" dt="2026-09-19T13:18:37.120" v="265" actId="255"/>
          <ac:spMkLst>
            <pc:docMk/>
            <pc:sldMk cId="0" sldId="260"/>
            <ac:spMk id="3" creationId="{00000000-0000-0000-0000-000000000000}"/>
          </ac:spMkLst>
        </pc:spChg>
        <pc:spChg chg="mod">
          <ac:chgData name="Chepoori Sai Vivek" userId="8ad695f6ba688a4f" providerId="LiveId" clId="{8DB9192F-1FC9-4BBA-9587-DE260D409BC4}" dt="2026-09-19T13:16:03.596" v="197" actId="255"/>
          <ac:spMkLst>
            <pc:docMk/>
            <pc:sldMk cId="0" sldId="260"/>
            <ac:spMk id="4" creationId="{00000000-0000-0000-0000-000000000000}"/>
          </ac:spMkLst>
        </pc:spChg>
        <pc:spChg chg="mod">
          <ac:chgData name="Chepoori Sai Vivek" userId="8ad695f6ba688a4f" providerId="LiveId" clId="{8DB9192F-1FC9-4BBA-9587-DE260D409BC4}" dt="2026-09-19T13:16:46.294" v="215" actId="1035"/>
          <ac:spMkLst>
            <pc:docMk/>
            <pc:sldMk cId="0" sldId="260"/>
            <ac:spMk id="5" creationId="{00000000-0000-0000-0000-000000000000}"/>
          </ac:spMkLst>
        </pc:spChg>
        <pc:spChg chg="mod">
          <ac:chgData name="Chepoori Sai Vivek" userId="8ad695f6ba688a4f" providerId="LiveId" clId="{8DB9192F-1FC9-4BBA-9587-DE260D409BC4}" dt="2026-09-19T13:16:59.012" v="229" actId="255"/>
          <ac:spMkLst>
            <pc:docMk/>
            <pc:sldMk cId="0" sldId="260"/>
            <ac:spMk id="6" creationId="{00000000-0000-0000-0000-000000000000}"/>
          </ac:spMkLst>
        </pc:spChg>
        <pc:spChg chg="mod">
          <ac:chgData name="Chepoori Sai Vivek" userId="8ad695f6ba688a4f" providerId="LiveId" clId="{8DB9192F-1FC9-4BBA-9587-DE260D409BC4}" dt="2026-09-19T13:15:55.874" v="196" actId="255"/>
          <ac:spMkLst>
            <pc:docMk/>
            <pc:sldMk cId="0" sldId="260"/>
            <ac:spMk id="10" creationId="{00000000-0000-0000-0000-000000000000}"/>
          </ac:spMkLst>
        </pc:spChg>
        <pc:spChg chg="mod">
          <ac:chgData name="Chepoori Sai Vivek" userId="8ad695f6ba688a4f" providerId="LiveId" clId="{8DB9192F-1FC9-4BBA-9587-DE260D409BC4}" dt="2026-09-19T13:15:33.145" v="194" actId="255"/>
          <ac:spMkLst>
            <pc:docMk/>
            <pc:sldMk cId="0" sldId="260"/>
            <ac:spMk id="12" creationId="{00000000-0000-0000-0000-000000000000}"/>
          </ac:spMkLst>
        </pc:spChg>
        <pc:spChg chg="mod">
          <ac:chgData name="Chepoori Sai Vivek" userId="8ad695f6ba688a4f" providerId="LiveId" clId="{8DB9192F-1FC9-4BBA-9587-DE260D409BC4}" dt="2026-09-19T13:17:22.555" v="249" actId="1035"/>
          <ac:spMkLst>
            <pc:docMk/>
            <pc:sldMk cId="0" sldId="260"/>
            <ac:spMk id="13" creationId="{00000000-0000-0000-0000-000000000000}"/>
          </ac:spMkLst>
        </pc:spChg>
        <pc:cxnChg chg="add mod">
          <ac:chgData name="Chepoori Sai Vivek" userId="8ad695f6ba688a4f" providerId="LiveId" clId="{8DB9192F-1FC9-4BBA-9587-DE260D409BC4}" dt="2026-09-19T13:19:08.641" v="268" actId="14100"/>
          <ac:cxnSpMkLst>
            <pc:docMk/>
            <pc:sldMk cId="0" sldId="260"/>
            <ac:cxnSpMk id="14" creationId="{40173BA2-9781-921B-F4C6-C092FC9DCD88}"/>
          </ac:cxnSpMkLst>
        </pc:cxnChg>
        <pc:cxnChg chg="add mod">
          <ac:chgData name="Chepoori Sai Vivek" userId="8ad695f6ba688a4f" providerId="LiveId" clId="{8DB9192F-1FC9-4BBA-9587-DE260D409BC4}" dt="2026-09-19T13:19:21.299" v="347" actId="1035"/>
          <ac:cxnSpMkLst>
            <pc:docMk/>
            <pc:sldMk cId="0" sldId="260"/>
            <ac:cxnSpMk id="17" creationId="{7A1EAC1D-7FEE-3E88-AEFA-898621DD239A}"/>
          </ac:cxnSpMkLst>
        </pc:cxnChg>
        <pc:cxnChg chg="add mod">
          <ac:chgData name="Chepoori Sai Vivek" userId="8ad695f6ba688a4f" providerId="LiveId" clId="{8DB9192F-1FC9-4BBA-9587-DE260D409BC4}" dt="2026-09-19T13:19:53.653" v="352" actId="14100"/>
          <ac:cxnSpMkLst>
            <pc:docMk/>
            <pc:sldMk cId="0" sldId="260"/>
            <ac:cxnSpMk id="18" creationId="{A5D650DA-E8D9-AAD8-2295-4C6E352A4866}"/>
          </ac:cxnSpMkLst>
        </pc:cxnChg>
        <pc:cxnChg chg="add mod">
          <ac:chgData name="Chepoori Sai Vivek" userId="8ad695f6ba688a4f" providerId="LiveId" clId="{8DB9192F-1FC9-4BBA-9587-DE260D409BC4}" dt="2026-09-19T13:20:11.406" v="390" actId="14100"/>
          <ac:cxnSpMkLst>
            <pc:docMk/>
            <pc:sldMk cId="0" sldId="260"/>
            <ac:cxnSpMk id="23" creationId="{5849B6FA-3E7B-5711-74D4-6F6BD4080F7A}"/>
          </ac:cxnSpMkLst>
        </pc:cxnChg>
      </pc:sldChg>
      <pc:sldChg chg="modSp mod modNotesTx">
        <pc:chgData name="Chepoori Sai Vivek" userId="8ad695f6ba688a4f" providerId="LiveId" clId="{8DB9192F-1FC9-4BBA-9587-DE260D409BC4}" dt="2026-09-19T13:24:17.412" v="392" actId="20577"/>
        <pc:sldMkLst>
          <pc:docMk/>
          <pc:sldMk cId="0" sldId="261"/>
        </pc:sldMkLst>
        <pc:spChg chg="mod">
          <ac:chgData name="Chepoori Sai Vivek" userId="8ad695f6ba688a4f" providerId="LiveId" clId="{8DB9192F-1FC9-4BBA-9587-DE260D409BC4}" dt="2026-09-19T12:20:15.950" v="4" actId="20577"/>
          <ac:spMkLst>
            <pc:docMk/>
            <pc:sldMk cId="0" sldId="261"/>
            <ac:spMk id="2" creationId="{00000000-0000-0000-0000-000000000000}"/>
          </ac:spMkLst>
        </pc:spChg>
        <pc:spChg chg="mod">
          <ac:chgData name="Chepoori Sai Vivek" userId="8ad695f6ba688a4f" providerId="LiveId" clId="{8DB9192F-1FC9-4BBA-9587-DE260D409BC4}" dt="2026-09-19T13:13:35.360" v="187" actId="255"/>
          <ac:spMkLst>
            <pc:docMk/>
            <pc:sldMk cId="0" sldId="261"/>
            <ac:spMk id="3" creationId="{00000000-0000-0000-0000-000000000000}"/>
          </ac:spMkLst>
        </pc:spChg>
        <pc:spChg chg="mod">
          <ac:chgData name="Chepoori Sai Vivek" userId="8ad695f6ba688a4f" providerId="LiveId" clId="{8DB9192F-1FC9-4BBA-9587-DE260D409BC4}" dt="2026-09-19T13:14:45.756" v="193" actId="1035"/>
          <ac:spMkLst>
            <pc:docMk/>
            <pc:sldMk cId="0" sldId="261"/>
            <ac:spMk id="5" creationId="{00000000-0000-0000-0000-000000000000}"/>
          </ac:spMkLst>
        </pc:spChg>
        <pc:graphicFrameChg chg="mod modGraphic">
          <ac:chgData name="Chepoori Sai Vivek" userId="8ad695f6ba688a4f" providerId="LiveId" clId="{8DB9192F-1FC9-4BBA-9587-DE260D409BC4}" dt="2026-09-19T13:14:36.338" v="190" actId="1035"/>
          <ac:graphicFrameMkLst>
            <pc:docMk/>
            <pc:sldMk cId="0" sldId="261"/>
            <ac:graphicFrameMk id="4" creationId="{00000000-0000-0000-0000-000000000000}"/>
          </ac:graphicFrameMkLst>
        </pc:graphicFrameChg>
      </pc:sldChg>
      <pc:sldChg chg="modSp mod modNotesTx">
        <pc:chgData name="Chepoori Sai Vivek" userId="8ad695f6ba688a4f" providerId="LiveId" clId="{8DB9192F-1FC9-4BBA-9587-DE260D409BC4}" dt="2026-09-19T13:24:32.135" v="393" actId="20577"/>
        <pc:sldMkLst>
          <pc:docMk/>
          <pc:sldMk cId="0" sldId="262"/>
        </pc:sldMkLst>
        <pc:spChg chg="mod">
          <ac:chgData name="Chepoori Sai Vivek" userId="8ad695f6ba688a4f" providerId="LiveId" clId="{8DB9192F-1FC9-4BBA-9587-DE260D409BC4}" dt="2026-09-19T12:20:23.564" v="10" actId="20577"/>
          <ac:spMkLst>
            <pc:docMk/>
            <pc:sldMk cId="0" sldId="262"/>
            <ac:spMk id="2" creationId="{00000000-0000-0000-0000-000000000000}"/>
          </ac:spMkLst>
        </pc:spChg>
        <pc:spChg chg="mod">
          <ac:chgData name="Chepoori Sai Vivek" userId="8ad695f6ba688a4f" providerId="LiveId" clId="{8DB9192F-1FC9-4BBA-9587-DE260D409BC4}" dt="2026-09-19T13:14:02.282" v="189" actId="255"/>
          <ac:spMkLst>
            <pc:docMk/>
            <pc:sldMk cId="0" sldId="262"/>
            <ac:spMk id="3" creationId="{00000000-0000-0000-0000-000000000000}"/>
          </ac:spMkLst>
        </pc:spChg>
        <pc:spChg chg="mod">
          <ac:chgData name="Chepoori Sai Vivek" userId="8ad695f6ba688a4f" providerId="LiveId" clId="{8DB9192F-1FC9-4BBA-9587-DE260D409BC4}" dt="2026-09-19T13:13:01.902" v="179" actId="1035"/>
          <ac:spMkLst>
            <pc:docMk/>
            <pc:sldMk cId="0" sldId="262"/>
            <ac:spMk id="5" creationId="{00000000-0000-0000-0000-000000000000}"/>
          </ac:spMkLst>
        </pc:spChg>
        <pc:graphicFrameChg chg="mod modGraphic">
          <ac:chgData name="Chepoori Sai Vivek" userId="8ad695f6ba688a4f" providerId="LiveId" clId="{8DB9192F-1FC9-4BBA-9587-DE260D409BC4}" dt="2026-09-19T13:12:56.991" v="176" actId="1035"/>
          <ac:graphicFrameMkLst>
            <pc:docMk/>
            <pc:sldMk cId="0" sldId="262"/>
            <ac:graphicFrameMk id="4" creationId="{00000000-0000-0000-0000-000000000000}"/>
          </ac:graphicFrameMkLst>
        </pc:graphicFrameChg>
      </pc:sldChg>
      <pc:sldChg chg="addSp modSp mod modNotesTx">
        <pc:chgData name="Chepoori Sai Vivek" userId="8ad695f6ba688a4f" providerId="LiveId" clId="{8DB9192F-1FC9-4BBA-9587-DE260D409BC4}" dt="2026-09-19T13:24:37.216" v="394" actId="20577"/>
        <pc:sldMkLst>
          <pc:docMk/>
          <pc:sldMk cId="0" sldId="263"/>
        </pc:sldMkLst>
        <pc:spChg chg="mod">
          <ac:chgData name="Chepoori Sai Vivek" userId="8ad695f6ba688a4f" providerId="LiveId" clId="{8DB9192F-1FC9-4BBA-9587-DE260D409BC4}" dt="2026-09-19T13:09:18.842" v="58" actId="255"/>
          <ac:spMkLst>
            <pc:docMk/>
            <pc:sldMk cId="0" sldId="263"/>
            <ac:spMk id="4" creationId="{00000000-0000-0000-0000-000000000000}"/>
          </ac:spMkLst>
        </pc:spChg>
        <pc:spChg chg="mod">
          <ac:chgData name="Chepoori Sai Vivek" userId="8ad695f6ba688a4f" providerId="LiveId" clId="{8DB9192F-1FC9-4BBA-9587-DE260D409BC4}" dt="2026-09-19T13:09:00.339" v="57" actId="20577"/>
          <ac:spMkLst>
            <pc:docMk/>
            <pc:sldMk cId="0" sldId="263"/>
            <ac:spMk id="5" creationId="{00000000-0000-0000-0000-000000000000}"/>
          </ac:spMkLst>
        </pc:spChg>
        <pc:spChg chg="mod">
          <ac:chgData name="Chepoori Sai Vivek" userId="8ad695f6ba688a4f" providerId="LiveId" clId="{8DB9192F-1FC9-4BBA-9587-DE260D409BC4}" dt="2026-09-19T13:09:52.408" v="60" actId="255"/>
          <ac:spMkLst>
            <pc:docMk/>
            <pc:sldMk cId="0" sldId="263"/>
            <ac:spMk id="6" creationId="{00000000-0000-0000-0000-000000000000}"/>
          </ac:spMkLst>
        </pc:spChg>
        <pc:spChg chg="mod">
          <ac:chgData name="Chepoori Sai Vivek" userId="8ad695f6ba688a4f" providerId="LiveId" clId="{8DB9192F-1FC9-4BBA-9587-DE260D409BC4}" dt="2026-09-19T13:09:56.067" v="69" actId="1035"/>
          <ac:spMkLst>
            <pc:docMk/>
            <pc:sldMk cId="0" sldId="263"/>
            <ac:spMk id="7" creationId="{00000000-0000-0000-0000-000000000000}"/>
          </ac:spMkLst>
        </pc:spChg>
        <pc:spChg chg="mod">
          <ac:chgData name="Chepoori Sai Vivek" userId="8ad695f6ba688a4f" providerId="LiveId" clId="{8DB9192F-1FC9-4BBA-9587-DE260D409BC4}" dt="2026-09-19T13:10:06.014" v="79" actId="255"/>
          <ac:spMkLst>
            <pc:docMk/>
            <pc:sldMk cId="0" sldId="263"/>
            <ac:spMk id="8" creationId="{00000000-0000-0000-0000-000000000000}"/>
          </ac:spMkLst>
        </pc:spChg>
        <pc:spChg chg="mod">
          <ac:chgData name="Chepoori Sai Vivek" userId="8ad695f6ba688a4f" providerId="LiveId" clId="{8DB9192F-1FC9-4BBA-9587-DE260D409BC4}" dt="2026-09-19T13:09:31.632" v="59" actId="255"/>
          <ac:spMkLst>
            <pc:docMk/>
            <pc:sldMk cId="0" sldId="263"/>
            <ac:spMk id="10" creationId="{00000000-0000-0000-0000-000000000000}"/>
          </ac:spMkLst>
        </pc:spChg>
        <pc:cxnChg chg="add mod">
          <ac:chgData name="Chepoori Sai Vivek" userId="8ad695f6ba688a4f" providerId="LiveId" clId="{8DB9192F-1FC9-4BBA-9587-DE260D409BC4}" dt="2026-09-19T13:11:00.928" v="85" actId="13822"/>
          <ac:cxnSpMkLst>
            <pc:docMk/>
            <pc:sldMk cId="0" sldId="263"/>
            <ac:cxnSpMk id="12" creationId="{25A603F3-F840-2D2A-F578-13243EAD8D75}"/>
          </ac:cxnSpMkLst>
        </pc:cxnChg>
        <pc:cxnChg chg="add mod">
          <ac:chgData name="Chepoori Sai Vivek" userId="8ad695f6ba688a4f" providerId="LiveId" clId="{8DB9192F-1FC9-4BBA-9587-DE260D409BC4}" dt="2026-09-19T13:11:20.076" v="165" actId="1037"/>
          <ac:cxnSpMkLst>
            <pc:docMk/>
            <pc:sldMk cId="0" sldId="263"/>
            <ac:cxnSpMk id="16" creationId="{33780468-4151-D85B-514D-A63B100861AB}"/>
          </ac:cxnSpMkLst>
        </pc:cxnChg>
        <pc:cxnChg chg="add mod">
          <ac:chgData name="Chepoori Sai Vivek" userId="8ad695f6ba688a4f" providerId="LiveId" clId="{8DB9192F-1FC9-4BBA-9587-DE260D409BC4}" dt="2026-09-19T13:12:00.405" v="171" actId="1035"/>
          <ac:cxnSpMkLst>
            <pc:docMk/>
            <pc:sldMk cId="0" sldId="263"/>
            <ac:cxnSpMk id="17" creationId="{945E99FD-2FB6-8CC6-754F-534DA44AEF18}"/>
          </ac:cxnSpMkLst>
        </pc:cxnChg>
      </pc:sldChg>
      <pc:sldChg chg="modSp del mod">
        <pc:chgData name="Chepoori Sai Vivek" userId="8ad695f6ba688a4f" providerId="LiveId" clId="{8DB9192F-1FC9-4BBA-9587-DE260D409BC4}" dt="2026-10-13T17:45:55.436" v="926" actId="47"/>
        <pc:sldMkLst>
          <pc:docMk/>
          <pc:sldMk cId="0" sldId="264"/>
        </pc:sldMkLst>
        <pc:spChg chg="mod">
          <ac:chgData name="Chepoori Sai Vivek" userId="8ad695f6ba688a4f" providerId="LiveId" clId="{8DB9192F-1FC9-4BBA-9587-DE260D409BC4}" dt="2026-10-13T17:06:35.615" v="460" actId="207"/>
          <ac:spMkLst>
            <pc:docMk/>
            <pc:sldMk cId="0" sldId="264"/>
            <ac:spMk id="2" creationId="{00000000-0000-0000-0000-000000000000}"/>
          </ac:spMkLst>
        </pc:spChg>
      </pc:sldChg>
      <pc:sldChg chg="modSp del mod">
        <pc:chgData name="Chepoori Sai Vivek" userId="8ad695f6ba688a4f" providerId="LiveId" clId="{8DB9192F-1FC9-4BBA-9587-DE260D409BC4}" dt="2026-10-13T17:45:56.536" v="927" actId="47"/>
        <pc:sldMkLst>
          <pc:docMk/>
          <pc:sldMk cId="0" sldId="265"/>
        </pc:sldMkLst>
        <pc:spChg chg="mod">
          <ac:chgData name="Chepoori Sai Vivek" userId="8ad695f6ba688a4f" providerId="LiveId" clId="{8DB9192F-1FC9-4BBA-9587-DE260D409BC4}" dt="2026-10-13T17:07:31.001" v="462" actId="255"/>
          <ac:spMkLst>
            <pc:docMk/>
            <pc:sldMk cId="0" sldId="265"/>
            <ac:spMk id="2" creationId="{00000000-0000-0000-0000-000000000000}"/>
          </ac:spMkLst>
        </pc:spChg>
      </pc:sldChg>
      <pc:sldChg chg="modSp del mod">
        <pc:chgData name="Chepoori Sai Vivek" userId="8ad695f6ba688a4f" providerId="LiveId" clId="{8DB9192F-1FC9-4BBA-9587-DE260D409BC4}" dt="2026-10-13T17:45:57.890" v="928" actId="47"/>
        <pc:sldMkLst>
          <pc:docMk/>
          <pc:sldMk cId="0" sldId="266"/>
        </pc:sldMkLst>
        <pc:spChg chg="mod">
          <ac:chgData name="Chepoori Sai Vivek" userId="8ad695f6ba688a4f" providerId="LiveId" clId="{8DB9192F-1FC9-4BBA-9587-DE260D409BC4}" dt="2026-10-13T17:07:51.776" v="464" actId="255"/>
          <ac:spMkLst>
            <pc:docMk/>
            <pc:sldMk cId="0" sldId="266"/>
            <ac:spMk id="2" creationId="{00000000-0000-0000-0000-000000000000}"/>
          </ac:spMkLst>
        </pc:spChg>
      </pc:sldChg>
      <pc:sldChg chg="modSp del mod">
        <pc:chgData name="Chepoori Sai Vivek" userId="8ad695f6ba688a4f" providerId="LiveId" clId="{8DB9192F-1FC9-4BBA-9587-DE260D409BC4}" dt="2026-10-13T17:45:58.724" v="929" actId="47"/>
        <pc:sldMkLst>
          <pc:docMk/>
          <pc:sldMk cId="0" sldId="267"/>
        </pc:sldMkLst>
        <pc:spChg chg="mod">
          <ac:chgData name="Chepoori Sai Vivek" userId="8ad695f6ba688a4f" providerId="LiveId" clId="{8DB9192F-1FC9-4BBA-9587-DE260D409BC4}" dt="2026-10-13T17:08:18.643" v="466" actId="255"/>
          <ac:spMkLst>
            <pc:docMk/>
            <pc:sldMk cId="0" sldId="267"/>
            <ac:spMk id="2" creationId="{00000000-0000-0000-0000-000000000000}"/>
          </ac:spMkLst>
        </pc:spChg>
      </pc:sldChg>
      <pc:sldChg chg="modSp del mod">
        <pc:chgData name="Chepoori Sai Vivek" userId="8ad695f6ba688a4f" providerId="LiveId" clId="{8DB9192F-1FC9-4BBA-9587-DE260D409BC4}" dt="2026-10-13T17:45:59.499" v="930" actId="47"/>
        <pc:sldMkLst>
          <pc:docMk/>
          <pc:sldMk cId="0" sldId="268"/>
        </pc:sldMkLst>
        <pc:spChg chg="mod">
          <ac:chgData name="Chepoori Sai Vivek" userId="8ad695f6ba688a4f" providerId="LiveId" clId="{8DB9192F-1FC9-4BBA-9587-DE260D409BC4}" dt="2026-10-13T17:08:46.107" v="468" actId="255"/>
          <ac:spMkLst>
            <pc:docMk/>
            <pc:sldMk cId="0" sldId="268"/>
            <ac:spMk id="2" creationId="{00000000-0000-0000-0000-000000000000}"/>
          </ac:spMkLst>
        </pc:spChg>
      </pc:sldChg>
      <pc:sldChg chg="modSp del mod">
        <pc:chgData name="Chepoori Sai Vivek" userId="8ad695f6ba688a4f" providerId="LiveId" clId="{8DB9192F-1FC9-4BBA-9587-DE260D409BC4}" dt="2026-10-13T17:46:00.943" v="931" actId="47"/>
        <pc:sldMkLst>
          <pc:docMk/>
          <pc:sldMk cId="0" sldId="269"/>
        </pc:sldMkLst>
        <pc:spChg chg="mod">
          <ac:chgData name="Chepoori Sai Vivek" userId="8ad695f6ba688a4f" providerId="LiveId" clId="{8DB9192F-1FC9-4BBA-9587-DE260D409BC4}" dt="2026-10-13T17:09:03.675" v="470" actId="255"/>
          <ac:spMkLst>
            <pc:docMk/>
            <pc:sldMk cId="0" sldId="269"/>
            <ac:spMk id="2" creationId="{00000000-0000-0000-0000-000000000000}"/>
          </ac:spMkLst>
        </pc:spChg>
      </pc:sldChg>
      <pc:sldChg chg="addSp delSp modSp mod ord">
        <pc:chgData name="Chepoori Sai Vivek" userId="8ad695f6ba688a4f" providerId="LiveId" clId="{8DB9192F-1FC9-4BBA-9587-DE260D409BC4}" dt="2026-10-14T11:55:20.311" v="1445" actId="255"/>
        <pc:sldMkLst>
          <pc:docMk/>
          <pc:sldMk cId="0" sldId="270"/>
        </pc:sldMkLst>
        <pc:spChg chg="mod">
          <ac:chgData name="Chepoori Sai Vivek" userId="8ad695f6ba688a4f" providerId="LiveId" clId="{8DB9192F-1FC9-4BBA-9587-DE260D409BC4}" dt="2026-10-13T18:03:44.098" v="1096" actId="255"/>
          <ac:spMkLst>
            <pc:docMk/>
            <pc:sldMk cId="0" sldId="270"/>
            <ac:spMk id="2" creationId="{00000000-0000-0000-0000-000000000000}"/>
          </ac:spMkLst>
        </pc:spChg>
        <pc:spChg chg="add del mod">
          <ac:chgData name="Chepoori Sai Vivek" userId="8ad695f6ba688a4f" providerId="LiveId" clId="{8DB9192F-1FC9-4BBA-9587-DE260D409BC4}" dt="2026-10-13T17:32:42.481" v="524" actId="478"/>
          <ac:spMkLst>
            <pc:docMk/>
            <pc:sldMk cId="0" sldId="270"/>
            <ac:spMk id="3" creationId="{00000000-0000-0000-0000-000000000000}"/>
          </ac:spMkLst>
        </pc:spChg>
        <pc:spChg chg="del">
          <ac:chgData name="Chepoori Sai Vivek" userId="8ad695f6ba688a4f" providerId="LiveId" clId="{8DB9192F-1FC9-4BBA-9587-DE260D409BC4}" dt="2026-10-13T17:33:15.002" v="530" actId="478"/>
          <ac:spMkLst>
            <pc:docMk/>
            <pc:sldMk cId="0" sldId="270"/>
            <ac:spMk id="4" creationId="{00000000-0000-0000-0000-000000000000}"/>
          </ac:spMkLst>
        </pc:spChg>
        <pc:spChg chg="add mod">
          <ac:chgData name="Chepoori Sai Vivek" userId="8ad695f6ba688a4f" providerId="LiveId" clId="{8DB9192F-1FC9-4BBA-9587-DE260D409BC4}" dt="2026-10-13T17:33:12.284" v="529" actId="1076"/>
          <ac:spMkLst>
            <pc:docMk/>
            <pc:sldMk cId="0" sldId="270"/>
            <ac:spMk id="5" creationId="{7315182D-4CDA-82FA-12D7-7295454F844D}"/>
          </ac:spMkLst>
        </pc:spChg>
        <pc:spChg chg="add del mod">
          <ac:chgData name="Chepoori Sai Vivek" userId="8ad695f6ba688a4f" providerId="LiveId" clId="{8DB9192F-1FC9-4BBA-9587-DE260D409BC4}" dt="2026-10-13T17:35:40.240" v="534" actId="478"/>
          <ac:spMkLst>
            <pc:docMk/>
            <pc:sldMk cId="0" sldId="270"/>
            <ac:spMk id="6" creationId="{9A7C3B84-9B37-2B96-6638-D00A14F0FD46}"/>
          </ac:spMkLst>
        </pc:spChg>
        <pc:spChg chg="add del mod">
          <ac:chgData name="Chepoori Sai Vivek" userId="8ad695f6ba688a4f" providerId="LiveId" clId="{8DB9192F-1FC9-4BBA-9587-DE260D409BC4}" dt="2026-10-13T17:35:49.273" v="538" actId="478"/>
          <ac:spMkLst>
            <pc:docMk/>
            <pc:sldMk cId="0" sldId="270"/>
            <ac:spMk id="9" creationId="{6A7FDFD6-3661-DBB9-E0C2-E163A049F637}"/>
          </ac:spMkLst>
        </pc:spChg>
        <pc:spChg chg="add mod">
          <ac:chgData name="Chepoori Sai Vivek" userId="8ad695f6ba688a4f" providerId="LiveId" clId="{8DB9192F-1FC9-4BBA-9587-DE260D409BC4}" dt="2026-10-13T17:38:10.524" v="583" actId="1037"/>
          <ac:spMkLst>
            <pc:docMk/>
            <pc:sldMk cId="0" sldId="270"/>
            <ac:spMk id="11" creationId="{AA640103-0D9E-38B1-8785-B67642BB7A60}"/>
          </ac:spMkLst>
        </pc:spChg>
        <pc:spChg chg="add mod">
          <ac:chgData name="Chepoori Sai Vivek" userId="8ad695f6ba688a4f" providerId="LiveId" clId="{8DB9192F-1FC9-4BBA-9587-DE260D409BC4}" dt="2026-10-13T17:41:38.462" v="869" actId="20577"/>
          <ac:spMkLst>
            <pc:docMk/>
            <pc:sldMk cId="0" sldId="270"/>
            <ac:spMk id="13" creationId="{896BE3C4-B017-30F4-C3EF-B4DBB2F519C3}"/>
          </ac:spMkLst>
        </pc:spChg>
        <pc:spChg chg="add mod">
          <ac:chgData name="Chepoori Sai Vivek" userId="8ad695f6ba688a4f" providerId="LiveId" clId="{8DB9192F-1FC9-4BBA-9587-DE260D409BC4}" dt="2026-10-13T17:45:39.427" v="925" actId="2711"/>
          <ac:spMkLst>
            <pc:docMk/>
            <pc:sldMk cId="0" sldId="270"/>
            <ac:spMk id="17" creationId="{907A3074-CA9A-3DB2-C411-1D22A692F3ED}"/>
          </ac:spMkLst>
        </pc:spChg>
        <pc:spChg chg="add del mod">
          <ac:chgData name="Chepoori Sai Vivek" userId="8ad695f6ba688a4f" providerId="LiveId" clId="{8DB9192F-1FC9-4BBA-9587-DE260D409BC4}" dt="2026-10-13T17:44:56.619" v="919" actId="22"/>
          <ac:spMkLst>
            <pc:docMk/>
            <pc:sldMk cId="0" sldId="270"/>
            <ac:spMk id="19" creationId="{ECEB9160-17E5-BCD9-104B-E9B15CD78E1D}"/>
          </ac:spMkLst>
        </pc:spChg>
        <pc:spChg chg="add del mod">
          <ac:chgData name="Chepoori Sai Vivek" userId="8ad695f6ba688a4f" providerId="LiveId" clId="{8DB9192F-1FC9-4BBA-9587-DE260D409BC4}" dt="2026-10-13T17:45:07.854" v="923" actId="22"/>
          <ac:spMkLst>
            <pc:docMk/>
            <pc:sldMk cId="0" sldId="270"/>
            <ac:spMk id="21" creationId="{E6F9BB67-25FF-A004-A7B3-F3681B68BB11}"/>
          </ac:spMkLst>
        </pc:spChg>
        <pc:graphicFrameChg chg="add del mod">
          <ac:chgData name="Chepoori Sai Vivek" userId="8ad695f6ba688a4f" providerId="LiveId" clId="{8DB9192F-1FC9-4BBA-9587-DE260D409BC4}" dt="2026-10-13T17:35:49.273" v="538" actId="478"/>
          <ac:graphicFrameMkLst>
            <pc:docMk/>
            <pc:sldMk cId="0" sldId="270"/>
            <ac:graphicFrameMk id="7" creationId="{A8DFD0A9-F689-61DC-F935-9EA3F046AFB8}"/>
          </ac:graphicFrameMkLst>
        </pc:graphicFrameChg>
        <pc:graphicFrameChg chg="add mod modGraphic">
          <ac:chgData name="Chepoori Sai Vivek" userId="8ad695f6ba688a4f" providerId="LiveId" clId="{8DB9192F-1FC9-4BBA-9587-DE260D409BC4}" dt="2026-10-14T11:55:20.311" v="1445" actId="255"/>
          <ac:graphicFrameMkLst>
            <pc:docMk/>
            <pc:sldMk cId="0" sldId="270"/>
            <ac:graphicFrameMk id="14" creationId="{AAF69F8E-52CC-858C-BEE7-3320CAACC70E}"/>
          </ac:graphicFrameMkLst>
        </pc:graphicFrameChg>
        <pc:graphicFrameChg chg="add mod">
          <ac:chgData name="Chepoori Sai Vivek" userId="8ad695f6ba688a4f" providerId="LiveId" clId="{8DB9192F-1FC9-4BBA-9587-DE260D409BC4}" dt="2026-10-13T17:41:05.579" v="782"/>
          <ac:graphicFrameMkLst>
            <pc:docMk/>
            <pc:sldMk cId="0" sldId="270"/>
            <ac:graphicFrameMk id="15" creationId="{99C60A97-89F6-24D5-0DFF-8CFD597CB5B9}"/>
          </ac:graphicFrameMkLst>
        </pc:graphicFrameChg>
      </pc:sldChg>
      <pc:sldChg chg="delSp modSp add mod">
        <pc:chgData name="Chepoori Sai Vivek" userId="8ad695f6ba688a4f" providerId="LiveId" clId="{8DB9192F-1FC9-4BBA-9587-DE260D409BC4}" dt="2026-10-14T12:02:45.374" v="1489" actId="255"/>
        <pc:sldMkLst>
          <pc:docMk/>
          <pc:sldMk cId="486893771" sldId="271"/>
        </pc:sldMkLst>
        <pc:spChg chg="mod">
          <ac:chgData name="Chepoori Sai Vivek" userId="8ad695f6ba688a4f" providerId="LiveId" clId="{8DB9192F-1FC9-4BBA-9587-DE260D409BC4}" dt="2026-10-13T18:03:50.088" v="1097" actId="255"/>
          <ac:spMkLst>
            <pc:docMk/>
            <pc:sldMk cId="486893771" sldId="271"/>
            <ac:spMk id="2" creationId="{294167B4-8520-657E-2B24-36F07762B37E}"/>
          </ac:spMkLst>
        </pc:spChg>
        <pc:spChg chg="mod">
          <ac:chgData name="Chepoori Sai Vivek" userId="8ad695f6ba688a4f" providerId="LiveId" clId="{8DB9192F-1FC9-4BBA-9587-DE260D409BC4}" dt="2026-10-14T12:02:45.374" v="1489" actId="255"/>
          <ac:spMkLst>
            <pc:docMk/>
            <pc:sldMk cId="486893771" sldId="271"/>
            <ac:spMk id="11" creationId="{872E9F9E-4E92-1D99-4363-041FE1F3F1A8}"/>
          </ac:spMkLst>
        </pc:spChg>
        <pc:spChg chg="del">
          <ac:chgData name="Chepoori Sai Vivek" userId="8ad695f6ba688a4f" providerId="LiveId" clId="{8DB9192F-1FC9-4BBA-9587-DE260D409BC4}" dt="2026-10-13T17:46:48.605" v="933" actId="478"/>
          <ac:spMkLst>
            <pc:docMk/>
            <pc:sldMk cId="486893771" sldId="271"/>
            <ac:spMk id="13" creationId="{D7FE5FCC-BFE5-5BA0-3BA3-455C5D4734A2}"/>
          </ac:spMkLst>
        </pc:spChg>
        <pc:spChg chg="del mod">
          <ac:chgData name="Chepoori Sai Vivek" userId="8ad695f6ba688a4f" providerId="LiveId" clId="{8DB9192F-1FC9-4BBA-9587-DE260D409BC4}" dt="2026-10-13T17:46:53.168" v="936" actId="478"/>
          <ac:spMkLst>
            <pc:docMk/>
            <pc:sldMk cId="486893771" sldId="271"/>
            <ac:spMk id="17" creationId="{CAA09E5E-96AC-39CA-8FC1-441FD89B74B4}"/>
          </ac:spMkLst>
        </pc:spChg>
        <pc:graphicFrameChg chg="del">
          <ac:chgData name="Chepoori Sai Vivek" userId="8ad695f6ba688a4f" providerId="LiveId" clId="{8DB9192F-1FC9-4BBA-9587-DE260D409BC4}" dt="2026-10-13T17:46:50.433" v="934" actId="478"/>
          <ac:graphicFrameMkLst>
            <pc:docMk/>
            <pc:sldMk cId="486893771" sldId="271"/>
            <ac:graphicFrameMk id="14" creationId="{8A9DF349-9DCE-B38A-56D6-A76207D1FA67}"/>
          </ac:graphicFrameMkLst>
        </pc:graphicFrameChg>
      </pc:sldChg>
      <pc:sldChg chg="modSp add mod">
        <pc:chgData name="Chepoori Sai Vivek" userId="8ad695f6ba688a4f" providerId="LiveId" clId="{8DB9192F-1FC9-4BBA-9587-DE260D409BC4}" dt="2026-10-14T12:05:26.462" v="1521" actId="5793"/>
        <pc:sldMkLst>
          <pc:docMk/>
          <pc:sldMk cId="404895063" sldId="272"/>
        </pc:sldMkLst>
        <pc:spChg chg="mod">
          <ac:chgData name="Chepoori Sai Vivek" userId="8ad695f6ba688a4f" providerId="LiveId" clId="{8DB9192F-1FC9-4BBA-9587-DE260D409BC4}" dt="2026-10-13T18:03:54.984" v="1098" actId="255"/>
          <ac:spMkLst>
            <pc:docMk/>
            <pc:sldMk cId="404895063" sldId="272"/>
            <ac:spMk id="2" creationId="{B49D37C2-3F28-6076-95DA-A936B5D0D9BB}"/>
          </ac:spMkLst>
        </pc:spChg>
        <pc:spChg chg="mod">
          <ac:chgData name="Chepoori Sai Vivek" userId="8ad695f6ba688a4f" providerId="LiveId" clId="{8DB9192F-1FC9-4BBA-9587-DE260D409BC4}" dt="2026-10-13T17:53:02.914" v="988" actId="255"/>
          <ac:spMkLst>
            <pc:docMk/>
            <pc:sldMk cId="404895063" sldId="272"/>
            <ac:spMk id="5" creationId="{86D1EC7A-A1A4-67B0-BCE5-BC4DFD009123}"/>
          </ac:spMkLst>
        </pc:spChg>
        <pc:spChg chg="mod">
          <ac:chgData name="Chepoori Sai Vivek" userId="8ad695f6ba688a4f" providerId="LiveId" clId="{8DB9192F-1FC9-4BBA-9587-DE260D409BC4}" dt="2026-10-14T12:05:26.462" v="1521" actId="5793"/>
          <ac:spMkLst>
            <pc:docMk/>
            <pc:sldMk cId="404895063" sldId="272"/>
            <ac:spMk id="11" creationId="{65F9B050-592D-A428-779C-4741E08C089D}"/>
          </ac:spMkLst>
        </pc:spChg>
      </pc:sldChg>
      <pc:sldChg chg="modSp add mod">
        <pc:chgData name="Chepoori Sai Vivek" userId="8ad695f6ba688a4f" providerId="LiveId" clId="{8DB9192F-1FC9-4BBA-9587-DE260D409BC4}" dt="2026-10-14T12:07:51.729" v="1524" actId="15"/>
        <pc:sldMkLst>
          <pc:docMk/>
          <pc:sldMk cId="3906626339" sldId="273"/>
        </pc:sldMkLst>
        <pc:spChg chg="mod">
          <ac:chgData name="Chepoori Sai Vivek" userId="8ad695f6ba688a4f" providerId="LiveId" clId="{8DB9192F-1FC9-4BBA-9587-DE260D409BC4}" dt="2026-10-13T18:04:02.163" v="1099" actId="255"/>
          <ac:spMkLst>
            <pc:docMk/>
            <pc:sldMk cId="3906626339" sldId="273"/>
            <ac:spMk id="2" creationId="{BEDFBB60-0AB9-9565-B948-62312770C4E5}"/>
          </ac:spMkLst>
        </pc:spChg>
        <pc:spChg chg="mod">
          <ac:chgData name="Chepoori Sai Vivek" userId="8ad695f6ba688a4f" providerId="LiveId" clId="{8DB9192F-1FC9-4BBA-9587-DE260D409BC4}" dt="2026-10-13T18:05:08.614" v="1102" actId="2711"/>
          <ac:spMkLst>
            <pc:docMk/>
            <pc:sldMk cId="3906626339" sldId="273"/>
            <ac:spMk id="5" creationId="{9F3C41BE-DBF3-9929-5D52-2683E0F8FA32}"/>
          </ac:spMkLst>
        </pc:spChg>
        <pc:spChg chg="mod">
          <ac:chgData name="Chepoori Sai Vivek" userId="8ad695f6ba688a4f" providerId="LiveId" clId="{8DB9192F-1FC9-4BBA-9587-DE260D409BC4}" dt="2026-10-14T12:07:51.729" v="1524" actId="15"/>
          <ac:spMkLst>
            <pc:docMk/>
            <pc:sldMk cId="3906626339" sldId="273"/>
            <ac:spMk id="11" creationId="{43F59769-4B4D-75A2-2638-8980589C3AA5}"/>
          </ac:spMkLst>
        </pc:spChg>
      </pc:sldChg>
      <pc:sldChg chg="addSp delSp modSp add del mod">
        <pc:chgData name="Chepoori Sai Vivek" userId="8ad695f6ba688a4f" providerId="LiveId" clId="{8DB9192F-1FC9-4BBA-9587-DE260D409BC4}" dt="2026-10-14T13:16:00.906" v="1623" actId="14100"/>
        <pc:sldMkLst>
          <pc:docMk/>
          <pc:sldMk cId="3707988699" sldId="274"/>
        </pc:sldMkLst>
        <pc:spChg chg="add mod">
          <ac:chgData name="Chepoori Sai Vivek" userId="8ad695f6ba688a4f" providerId="LiveId" clId="{8DB9192F-1FC9-4BBA-9587-DE260D409BC4}" dt="2026-10-13T18:15:23.100" v="1242" actId="1076"/>
          <ac:spMkLst>
            <pc:docMk/>
            <pc:sldMk cId="3707988699" sldId="274"/>
            <ac:spMk id="7" creationId="{E6BF4C38-BDF6-8C15-609B-6A760183FDDF}"/>
          </ac:spMkLst>
        </pc:spChg>
        <pc:spChg chg="add del mod">
          <ac:chgData name="Chepoori Sai Vivek" userId="8ad695f6ba688a4f" providerId="LiveId" clId="{8DB9192F-1FC9-4BBA-9587-DE260D409BC4}" dt="2026-10-14T13:13:27.585" v="1608"/>
          <ac:spMkLst>
            <pc:docMk/>
            <pc:sldMk cId="3707988699" sldId="274"/>
            <ac:spMk id="9" creationId="{0D2B3B42-9C38-8BA5-E08E-F03FD4493471}"/>
          </ac:spMkLst>
        </pc:spChg>
        <pc:spChg chg="add del mod">
          <ac:chgData name="Chepoori Sai Vivek" userId="8ad695f6ba688a4f" providerId="LiveId" clId="{8DB9192F-1FC9-4BBA-9587-DE260D409BC4}" dt="2026-10-13T18:17:08.958" v="1278"/>
          <ac:spMkLst>
            <pc:docMk/>
            <pc:sldMk cId="3707988699" sldId="274"/>
            <ac:spMk id="10" creationId="{7A76A1AE-540E-38AB-0E7F-0CF000D1C487}"/>
          </ac:spMkLst>
        </pc:spChg>
        <pc:spChg chg="add del mod">
          <ac:chgData name="Chepoori Sai Vivek" userId="8ad695f6ba688a4f" providerId="LiveId" clId="{8DB9192F-1FC9-4BBA-9587-DE260D409BC4}" dt="2026-10-14T12:55:24.448" v="1539" actId="1037"/>
          <ac:spMkLst>
            <pc:docMk/>
            <pc:sldMk cId="3707988699" sldId="274"/>
            <ac:spMk id="11" creationId="{52FD1BD0-499F-E56E-03F9-4CA44E0F9B5A}"/>
          </ac:spMkLst>
        </pc:spChg>
        <pc:spChg chg="add del mod">
          <ac:chgData name="Chepoori Sai Vivek" userId="8ad695f6ba688a4f" providerId="LiveId" clId="{8DB9192F-1FC9-4BBA-9587-DE260D409BC4}" dt="2026-10-14T12:54:48.714" v="1525" actId="478"/>
          <ac:spMkLst>
            <pc:docMk/>
            <pc:sldMk cId="3707988699" sldId="274"/>
            <ac:spMk id="12" creationId="{1325FC17-113B-ACD6-E990-7E913F99572A}"/>
          </ac:spMkLst>
        </pc:spChg>
        <pc:graphicFrameChg chg="add del mod modGraphic">
          <ac:chgData name="Chepoori Sai Vivek" userId="8ad695f6ba688a4f" providerId="LiveId" clId="{8DB9192F-1FC9-4BBA-9587-DE260D409BC4}" dt="2026-10-14T12:54:52.167" v="1527" actId="478"/>
          <ac:graphicFrameMkLst>
            <pc:docMk/>
            <pc:sldMk cId="3707988699" sldId="274"/>
            <ac:graphicFrameMk id="3" creationId="{56961D20-1F43-08BE-B0C7-9708F468A7DC}"/>
          </ac:graphicFrameMkLst>
        </pc:graphicFrameChg>
        <pc:graphicFrameChg chg="add mod">
          <ac:chgData name="Chepoori Sai Vivek" userId="8ad695f6ba688a4f" providerId="LiveId" clId="{8DB9192F-1FC9-4BBA-9587-DE260D409BC4}" dt="2026-10-13T18:15:23.100" v="1242" actId="1076"/>
          <ac:graphicFrameMkLst>
            <pc:docMk/>
            <pc:sldMk cId="3707988699" sldId="274"/>
            <ac:graphicFrameMk id="4" creationId="{29807273-CA36-39C6-063A-A7544139C862}"/>
          </ac:graphicFrameMkLst>
        </pc:graphicFrameChg>
        <pc:graphicFrameChg chg="add del mod modGraphic">
          <ac:chgData name="Chepoori Sai Vivek" userId="8ad695f6ba688a4f" providerId="LiveId" clId="{8DB9192F-1FC9-4BBA-9587-DE260D409BC4}" dt="2026-10-14T13:13:16.036" v="1546" actId="478"/>
          <ac:graphicFrameMkLst>
            <pc:docMk/>
            <pc:sldMk cId="3707988699" sldId="274"/>
            <ac:graphicFrameMk id="4" creationId="{787B4923-AE91-6383-5C9F-178DD9EDBBA5}"/>
          </ac:graphicFrameMkLst>
        </pc:graphicFrameChg>
        <pc:graphicFrameChg chg="add mod modGraphic">
          <ac:chgData name="Chepoori Sai Vivek" userId="8ad695f6ba688a4f" providerId="LiveId" clId="{8DB9192F-1FC9-4BBA-9587-DE260D409BC4}" dt="2026-10-14T13:16:00.906" v="1623" actId="14100"/>
          <ac:graphicFrameMkLst>
            <pc:docMk/>
            <pc:sldMk cId="3707988699" sldId="274"/>
            <ac:graphicFrameMk id="6" creationId="{0AD6ABCD-9B71-1AF5-28C6-DBAF382EC7C5}"/>
          </ac:graphicFrameMkLst>
        </pc:graphicFrameChg>
        <pc:graphicFrameChg chg="add del mod modGraphic">
          <ac:chgData name="Chepoori Sai Vivek" userId="8ad695f6ba688a4f" providerId="LiveId" clId="{8DB9192F-1FC9-4BBA-9587-DE260D409BC4}" dt="2026-10-14T12:54:50.223" v="1526" actId="478"/>
          <ac:graphicFrameMkLst>
            <pc:docMk/>
            <pc:sldMk cId="3707988699" sldId="274"/>
            <ac:graphicFrameMk id="8" creationId="{86BCCEFE-2D76-2A6B-3557-6190BF3B60BE}"/>
          </ac:graphicFrameMkLst>
        </pc:graphicFrameChg>
      </pc:sldChg>
      <pc:sldChg chg="modSp add mod">
        <pc:chgData name="Chepoori Sai Vivek" userId="8ad695f6ba688a4f" providerId="LiveId" clId="{8DB9192F-1FC9-4BBA-9587-DE260D409BC4}" dt="2026-10-14T12:07:21.695" v="1522" actId="15"/>
        <pc:sldMkLst>
          <pc:docMk/>
          <pc:sldMk cId="14800156" sldId="275"/>
        </pc:sldMkLst>
        <pc:spChg chg="mod">
          <ac:chgData name="Chepoori Sai Vivek" userId="8ad695f6ba688a4f" providerId="LiveId" clId="{8DB9192F-1FC9-4BBA-9587-DE260D409BC4}" dt="2026-10-14T12:07:21.695" v="1522" actId="15"/>
          <ac:spMkLst>
            <pc:docMk/>
            <pc:sldMk cId="14800156" sldId="275"/>
            <ac:spMk id="11" creationId="{F9E4DEA8-CC80-589C-40CE-EC44CFD70651}"/>
          </ac:spMkLst>
        </pc:spChg>
      </pc:sldChg>
      <pc:sldChg chg="addSp delSp modSp add del mod">
        <pc:chgData name="Chepoori Sai Vivek" userId="8ad695f6ba688a4f" providerId="LiveId" clId="{8DB9192F-1FC9-4BBA-9587-DE260D409BC4}" dt="2026-10-14T13:16:24.233" v="1624" actId="2696"/>
        <pc:sldMkLst>
          <pc:docMk/>
          <pc:sldMk cId="770123349" sldId="276"/>
        </pc:sldMkLst>
        <pc:spChg chg="mod">
          <ac:chgData name="Chepoori Sai Vivek" userId="8ad695f6ba688a4f" providerId="LiveId" clId="{8DB9192F-1FC9-4BBA-9587-DE260D409BC4}" dt="2026-10-13T18:19:55.384" v="1393" actId="20577"/>
          <ac:spMkLst>
            <pc:docMk/>
            <pc:sldMk cId="770123349" sldId="276"/>
            <ac:spMk id="5" creationId="{38426AB8-94CE-A99F-5EC1-B9B70F55CEF0}"/>
          </ac:spMkLst>
        </pc:spChg>
        <pc:spChg chg="del">
          <ac:chgData name="Chepoori Sai Vivek" userId="8ad695f6ba688a4f" providerId="LiveId" clId="{8DB9192F-1FC9-4BBA-9587-DE260D409BC4}" dt="2026-10-13T18:20:05.850" v="1395" actId="478"/>
          <ac:spMkLst>
            <pc:docMk/>
            <pc:sldMk cId="770123349" sldId="276"/>
            <ac:spMk id="11" creationId="{B9B7FA4D-8F65-CA10-8D98-81CE0311E180}"/>
          </ac:spMkLst>
        </pc:spChg>
        <pc:spChg chg="del">
          <ac:chgData name="Chepoori Sai Vivek" userId="8ad695f6ba688a4f" providerId="LiveId" clId="{8DB9192F-1FC9-4BBA-9587-DE260D409BC4}" dt="2026-10-13T18:20:07.118" v="1396" actId="478"/>
          <ac:spMkLst>
            <pc:docMk/>
            <pc:sldMk cId="770123349" sldId="276"/>
            <ac:spMk id="12" creationId="{22A16320-11D0-B730-548A-3DFF2A9220C9}"/>
          </ac:spMkLst>
        </pc:spChg>
        <pc:graphicFrameChg chg="del">
          <ac:chgData name="Chepoori Sai Vivek" userId="8ad695f6ba688a4f" providerId="LiveId" clId="{8DB9192F-1FC9-4BBA-9587-DE260D409BC4}" dt="2026-10-13T18:20:03.905" v="1394" actId="478"/>
          <ac:graphicFrameMkLst>
            <pc:docMk/>
            <pc:sldMk cId="770123349" sldId="276"/>
            <ac:graphicFrameMk id="3" creationId="{BAB5E47E-65A3-FE93-DB3B-E8F4804EC807}"/>
          </ac:graphicFrameMkLst>
        </pc:graphicFrameChg>
        <pc:graphicFrameChg chg="del">
          <ac:chgData name="Chepoori Sai Vivek" userId="8ad695f6ba688a4f" providerId="LiveId" clId="{8DB9192F-1FC9-4BBA-9587-DE260D409BC4}" dt="2026-10-13T18:20:08.524" v="1397" actId="478"/>
          <ac:graphicFrameMkLst>
            <pc:docMk/>
            <pc:sldMk cId="770123349" sldId="276"/>
            <ac:graphicFrameMk id="8" creationId="{4DFF1152-2B04-2349-863E-8F1FA6E4C012}"/>
          </ac:graphicFrameMkLst>
        </pc:graphicFrameChg>
        <pc:picChg chg="add del mod">
          <ac:chgData name="Chepoori Sai Vivek" userId="8ad695f6ba688a4f" providerId="LiveId" clId="{8DB9192F-1FC9-4BBA-9587-DE260D409BC4}" dt="2026-10-13T18:24:49.417" v="1428" actId="478"/>
          <ac:picMkLst>
            <pc:docMk/>
            <pc:sldMk cId="770123349" sldId="276"/>
            <ac:picMk id="6" creationId="{4B25613E-55BE-C2B1-5EB7-4254C17DA779}"/>
          </ac:picMkLst>
        </pc:picChg>
        <pc:picChg chg="add del mod">
          <ac:chgData name="Chepoori Sai Vivek" userId="8ad695f6ba688a4f" providerId="LiveId" clId="{8DB9192F-1FC9-4BBA-9587-DE260D409BC4}" dt="2026-10-14T11:53:44.418" v="1441" actId="478"/>
          <ac:picMkLst>
            <pc:docMk/>
            <pc:sldMk cId="770123349" sldId="276"/>
            <ac:picMk id="9" creationId="{0FC01C22-2E0C-2195-5601-D837CF66EF80}"/>
          </ac:picMkLst>
        </pc:picChg>
        <pc:picChg chg="add mod">
          <ac:chgData name="Chepoori Sai Vivek" userId="8ad695f6ba688a4f" providerId="LiveId" clId="{8DB9192F-1FC9-4BBA-9587-DE260D409BC4}" dt="2026-10-14T11:53:55.460" v="1444" actId="1076"/>
          <ac:picMkLst>
            <pc:docMk/>
            <pc:sldMk cId="770123349" sldId="276"/>
            <ac:picMk id="13" creationId="{FECEB9F7-C8B8-52BE-4BEB-EEC617A06F3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09CCCE-DB59-422F-BC65-026A42E4AD27}" type="datetimeFigureOut">
              <a:rPr lang="en-IN" smtClean="0"/>
              <a:t>14-10-2026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2108E8-CB39-4CBA-9799-FA9118457861}" type="slidenum">
              <a:rPr lang="en-IN" smtClean="0"/>
              <a:t>‹#›</a:t>
            </a:fld>
            <a:endParaRPr lang="en-IN"/>
          </a:p>
        </p:txBody>
      </p:sp>
    </p:spTree>
    <p:extLst>
      <p:ext uri="{BB962C8B-B14F-4D97-AF65-F5344CB8AC3E}">
        <p14:creationId xmlns:p14="http://schemas.microsoft.com/office/powerpoint/2010/main" val="333123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8694" y="6819900"/>
            <a:ext cx="9216505" cy="2235035"/>
          </a:xfrm>
          <a:prstGeom prst="rect">
            <a:avLst/>
          </a:prstGeom>
        </p:spPr>
        <p:txBody>
          <a:bodyPr lIns="0" tIns="0" rIns="0" bIns="0" rtlCol="0" anchor="t">
            <a:spAutoFit/>
          </a:bodyPr>
          <a:lstStyle/>
          <a:p>
            <a:pPr algn="ctr">
              <a:lnSpc>
                <a:spcPts val="5362"/>
              </a:lnSpc>
            </a:pPr>
            <a:r>
              <a:rPr lang="en-US" sz="3600" dirty="0">
                <a:solidFill>
                  <a:srgbClr val="000000"/>
                </a:solidFill>
                <a:latin typeface="Touvlo"/>
                <a:ea typeface="Touvlo"/>
                <a:cs typeface="Touvlo"/>
                <a:sym typeface="Touvlo"/>
              </a:rPr>
              <a:t>Paper ID : </a:t>
            </a:r>
            <a:r>
              <a:rPr lang="en-US" sz="3600" b="1" dirty="0">
                <a:solidFill>
                  <a:srgbClr val="000000"/>
                </a:solidFill>
                <a:latin typeface="Touvlo Bold"/>
                <a:ea typeface="Touvlo Bold"/>
                <a:cs typeface="Touvlo Bold"/>
                <a:sym typeface="Touvlo Bold"/>
              </a:rPr>
              <a:t>102</a:t>
            </a:r>
          </a:p>
          <a:p>
            <a:pPr algn="ctr">
              <a:lnSpc>
                <a:spcPts val="5362"/>
              </a:lnSpc>
            </a:pPr>
            <a:r>
              <a:rPr lang="en-US" sz="3600" dirty="0">
                <a:solidFill>
                  <a:srgbClr val="000000"/>
                </a:solidFill>
                <a:latin typeface="Touvlo"/>
                <a:ea typeface="Touvlo"/>
                <a:cs typeface="Touvlo"/>
                <a:sym typeface="Touvlo"/>
              </a:rPr>
              <a:t>Roll No : </a:t>
            </a:r>
            <a:r>
              <a:rPr lang="en-US" sz="3400" b="1" dirty="0">
                <a:solidFill>
                  <a:srgbClr val="000000"/>
                </a:solidFill>
                <a:latin typeface="Touvlo Bold"/>
                <a:ea typeface="Touvlo Bold"/>
                <a:cs typeface="Touvlo Bold"/>
                <a:sym typeface="Touvlo Bold"/>
              </a:rPr>
              <a:t>CH.SC.U4CSE24108</a:t>
            </a:r>
          </a:p>
          <a:p>
            <a:pPr algn="ctr">
              <a:lnSpc>
                <a:spcPts val="5261"/>
              </a:lnSpc>
            </a:pPr>
            <a:r>
              <a:rPr lang="en-US" sz="3600" dirty="0">
                <a:solidFill>
                  <a:srgbClr val="000000"/>
                </a:solidFill>
                <a:latin typeface="Touvlo"/>
                <a:ea typeface="Touvlo"/>
                <a:cs typeface="Touvlo"/>
                <a:sym typeface="Touvlo"/>
              </a:rPr>
              <a:t>Presented By : </a:t>
            </a:r>
            <a:r>
              <a:rPr lang="en-US" sz="3600" b="1" dirty="0">
                <a:solidFill>
                  <a:srgbClr val="000000"/>
                </a:solidFill>
                <a:latin typeface="Touvlo Bold"/>
                <a:ea typeface="Touvlo Bold"/>
                <a:cs typeface="Touvlo Bold"/>
                <a:sym typeface="Touvlo Bold"/>
              </a:rPr>
              <a:t>Chepoori Sai Vivek</a:t>
            </a:r>
          </a:p>
          <a:p>
            <a:pPr algn="l">
              <a:lnSpc>
                <a:spcPts val="468"/>
              </a:lnSpc>
              <a:spcBef>
                <a:spcPct val="0"/>
              </a:spcBef>
            </a:pPr>
            <a:endParaRPr lang="en-US" sz="3600" b="1" dirty="0">
              <a:solidFill>
                <a:srgbClr val="000000"/>
              </a:solidFill>
              <a:latin typeface="Touvlo Bold"/>
              <a:ea typeface="Touvlo Bold"/>
              <a:cs typeface="Touvlo Bold"/>
              <a:sym typeface="Touvlo Bold"/>
            </a:endParaRPr>
          </a:p>
        </p:txBody>
      </p:sp>
      <p:sp>
        <p:nvSpPr>
          <p:cNvPr id="3" name="TextBox 3"/>
          <p:cNvSpPr txBox="1"/>
          <p:nvPr/>
        </p:nvSpPr>
        <p:spPr>
          <a:xfrm>
            <a:off x="5138202" y="5448300"/>
            <a:ext cx="8272998" cy="456562"/>
          </a:xfrm>
          <a:prstGeom prst="rect">
            <a:avLst/>
          </a:prstGeom>
        </p:spPr>
        <p:txBody>
          <a:bodyPr wrap="square" lIns="0" tIns="0" rIns="0" bIns="0" rtlCol="0" anchor="t">
            <a:spAutoFit/>
          </a:bodyPr>
          <a:lstStyle/>
          <a:p>
            <a:pPr algn="ctr">
              <a:lnSpc>
                <a:spcPts val="3920"/>
              </a:lnSpc>
              <a:spcBef>
                <a:spcPct val="0"/>
              </a:spcBef>
            </a:pPr>
            <a:r>
              <a:rPr lang="en-US" sz="2450" i="1" spc="254" dirty="0">
                <a:solidFill>
                  <a:srgbClr val="000000"/>
                </a:solidFill>
                <a:latin typeface="Canva Sans Italics"/>
                <a:ea typeface="Canva Sans Italics"/>
                <a:cs typeface="Canva Sans Italics"/>
                <a:sym typeface="Canva Sans Italics"/>
              </a:rPr>
              <a:t>A SYSTEMATIC REVIEW AND META-ANALYSIS</a:t>
            </a:r>
          </a:p>
        </p:txBody>
      </p:sp>
      <p:sp>
        <p:nvSpPr>
          <p:cNvPr id="4" name="TextBox 4"/>
          <p:cNvSpPr txBox="1"/>
          <p:nvPr/>
        </p:nvSpPr>
        <p:spPr>
          <a:xfrm>
            <a:off x="689922" y="2900311"/>
            <a:ext cx="17194051" cy="1282636"/>
          </a:xfrm>
          <a:prstGeom prst="rect">
            <a:avLst/>
          </a:prstGeom>
        </p:spPr>
        <p:txBody>
          <a:bodyPr lIns="0" tIns="0" rIns="0" bIns="0" rtlCol="0" anchor="t">
            <a:spAutoFit/>
          </a:bodyPr>
          <a:lstStyle/>
          <a:p>
            <a:pPr algn="ctr">
              <a:lnSpc>
                <a:spcPts val="5202"/>
              </a:lnSpc>
              <a:spcBef>
                <a:spcPct val="0"/>
              </a:spcBef>
            </a:pPr>
            <a:r>
              <a:rPr lang="en-US" sz="3251" b="1" spc="338">
                <a:solidFill>
                  <a:srgbClr val="000000"/>
                </a:solidFill>
                <a:latin typeface="Touvlo Bold"/>
                <a:ea typeface="Touvlo Bold"/>
                <a:cs typeface="Touvlo Bold"/>
                <a:sym typeface="Touvlo Bold"/>
              </a:rPr>
              <a:t>PERFORMANCE OF NATURAL LANGUAGE PROCESSING MODELS IN EXTRACTING INFORMATION FROM FREE-TEXT RADIOLOGY REPORTS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0017" y="694123"/>
            <a:ext cx="14118470" cy="961760"/>
          </a:xfrm>
          <a:prstGeom prst="rect">
            <a:avLst/>
          </a:prstGeom>
        </p:spPr>
        <p:txBody>
          <a:bodyPr lIns="0" tIns="0" rIns="0" bIns="0" rtlCol="0" anchor="t">
            <a:spAutoFit/>
          </a:bodyPr>
          <a:lstStyle/>
          <a:p>
            <a:pPr algn="l">
              <a:lnSpc>
                <a:spcPts val="8108"/>
              </a:lnSpc>
            </a:pPr>
            <a:r>
              <a:rPr lang="en-US" sz="5067" spc="-50" dirty="0">
                <a:solidFill>
                  <a:srgbClr val="000000"/>
                </a:solidFill>
                <a:latin typeface="EB Garamond"/>
                <a:ea typeface="EB Garamond"/>
                <a:cs typeface="EB Garamond"/>
                <a:sym typeface="EB Garamond"/>
              </a:rPr>
              <a:t>Phase 1 - Problem Definition &amp; Interpretation</a:t>
            </a:r>
          </a:p>
        </p:txBody>
      </p:sp>
      <p:sp>
        <p:nvSpPr>
          <p:cNvPr id="3" name="TextBox 3"/>
          <p:cNvSpPr txBox="1"/>
          <p:nvPr/>
        </p:nvSpPr>
        <p:spPr>
          <a:xfrm>
            <a:off x="570017" y="2176900"/>
            <a:ext cx="10435202" cy="453390"/>
          </a:xfrm>
          <a:prstGeom prst="rect">
            <a:avLst/>
          </a:prstGeom>
        </p:spPr>
        <p:txBody>
          <a:bodyPr lIns="0" tIns="0" rIns="0" bIns="0" rtlCol="0" anchor="t">
            <a:spAutoFit/>
          </a:bodyPr>
          <a:lstStyle/>
          <a:p>
            <a:pPr algn="l">
              <a:lnSpc>
                <a:spcPts val="3899"/>
              </a:lnSpc>
            </a:pPr>
            <a:r>
              <a:rPr lang="en-US" sz="2599" b="1" spc="-25">
                <a:solidFill>
                  <a:srgbClr val="000000"/>
                </a:solidFill>
                <a:latin typeface="EB Garamond Semi-Bold"/>
                <a:ea typeface="EB Garamond Semi-Bold"/>
                <a:cs typeface="EB Garamond Semi-Bold"/>
                <a:sym typeface="EB Garamond Semi-Bold"/>
              </a:rPr>
              <a:t>PROBLEM DEFINITION</a:t>
            </a:r>
          </a:p>
        </p:txBody>
      </p:sp>
      <p:sp>
        <p:nvSpPr>
          <p:cNvPr id="4" name="TextBox 4"/>
          <p:cNvSpPr txBox="1"/>
          <p:nvPr/>
        </p:nvSpPr>
        <p:spPr>
          <a:xfrm>
            <a:off x="570017" y="2735065"/>
            <a:ext cx="10947000" cy="2980653"/>
          </a:xfrm>
          <a:prstGeom prst="rect">
            <a:avLst/>
          </a:prstGeom>
        </p:spPr>
        <p:txBody>
          <a:bodyPr lIns="0" tIns="0" rIns="0" bIns="0" rtlCol="0" anchor="t">
            <a:spAutoFit/>
          </a:bodyPr>
          <a:lstStyle/>
          <a:p>
            <a:pPr marL="579526" lvl="1" indent="-289763" algn="l">
              <a:lnSpc>
                <a:spcPts val="4026"/>
              </a:lnSpc>
              <a:buFont typeface="Arial"/>
              <a:buChar char="•"/>
            </a:pPr>
            <a:r>
              <a:rPr lang="en-US" sz="2000" spc="-26">
                <a:solidFill>
                  <a:srgbClr val="000000"/>
                </a:solidFill>
                <a:latin typeface="EB Garamond"/>
                <a:ea typeface="EB Garamond"/>
                <a:cs typeface="EB Garamond"/>
                <a:sym typeface="EB Garamond"/>
              </a:rPr>
              <a:t>Radiology reports are written in free-text (unstructured) format.</a:t>
            </a:r>
          </a:p>
          <a:p>
            <a:pPr marL="579526" lvl="1" indent="-289763" algn="l">
              <a:lnSpc>
                <a:spcPts val="4026"/>
              </a:lnSpc>
              <a:buFont typeface="Arial"/>
              <a:buChar char="•"/>
            </a:pPr>
            <a:r>
              <a:rPr lang="en-US" sz="2000" spc="-26">
                <a:solidFill>
                  <a:srgbClr val="000000"/>
                </a:solidFill>
                <a:latin typeface="EB Garamond"/>
                <a:ea typeface="EB Garamond"/>
                <a:cs typeface="EB Garamond"/>
                <a:sym typeface="EB Garamond"/>
              </a:rPr>
              <a:t>Free-text reports are difficult for computers to understand and process.</a:t>
            </a:r>
          </a:p>
          <a:p>
            <a:pPr marL="579526" lvl="1" indent="-289763" algn="l">
              <a:lnSpc>
                <a:spcPts val="4026"/>
              </a:lnSpc>
              <a:buFont typeface="Arial"/>
              <a:buChar char="•"/>
            </a:pPr>
            <a:r>
              <a:rPr lang="en-US" sz="2000" spc="-26">
                <a:solidFill>
                  <a:srgbClr val="000000"/>
                </a:solidFill>
                <a:latin typeface="EB Garamond"/>
                <a:ea typeface="EB Garamond"/>
                <a:cs typeface="EB Garamond"/>
                <a:sym typeface="EB Garamond"/>
              </a:rPr>
              <a:t>Manual extraction of clinical information is time-consuming and error-prone.</a:t>
            </a:r>
          </a:p>
          <a:p>
            <a:pPr marL="579526" lvl="1" indent="-289763" algn="l">
              <a:lnSpc>
                <a:spcPts val="4026"/>
              </a:lnSpc>
              <a:buFont typeface="Arial"/>
              <a:buChar char="•"/>
            </a:pPr>
            <a:r>
              <a:rPr lang="en-US" sz="2000" spc="-26">
                <a:solidFill>
                  <a:srgbClr val="000000"/>
                </a:solidFill>
                <a:latin typeface="EB Garamond"/>
                <a:ea typeface="EB Garamond"/>
                <a:cs typeface="EB Garamond"/>
                <a:sym typeface="EB Garamond"/>
              </a:rPr>
              <a:t>NLP automatically extracts structured clinical information from free-text reports.</a:t>
            </a:r>
          </a:p>
          <a:p>
            <a:pPr marL="579526" lvl="1" indent="-289763" algn="l">
              <a:lnSpc>
                <a:spcPts val="4026"/>
              </a:lnSpc>
              <a:buFont typeface="Arial"/>
              <a:buChar char="•"/>
            </a:pPr>
            <a:r>
              <a:rPr lang="en-US" sz="2000" spc="-26">
                <a:solidFill>
                  <a:srgbClr val="000000"/>
                </a:solidFill>
                <a:latin typeface="EB Garamond"/>
                <a:ea typeface="EB Garamond"/>
                <a:cs typeface="EB Garamond"/>
                <a:sym typeface="EB Garamond"/>
              </a:rPr>
              <a:t>This improves healthcare efficiency and clinical decision-making.</a:t>
            </a:r>
          </a:p>
          <a:p>
            <a:pPr algn="l">
              <a:lnSpc>
                <a:spcPts val="4026"/>
              </a:lnSpc>
            </a:pPr>
            <a:endParaRPr lang="en-US" sz="2684" spc="-26">
              <a:solidFill>
                <a:srgbClr val="000000"/>
              </a:solidFill>
              <a:latin typeface="EB Garamond"/>
              <a:ea typeface="EB Garamond"/>
              <a:cs typeface="EB Garamond"/>
              <a:sym typeface="EB Garamond"/>
            </a:endParaRPr>
          </a:p>
        </p:txBody>
      </p:sp>
      <p:sp>
        <p:nvSpPr>
          <p:cNvPr id="5" name="TextBox 5"/>
          <p:cNvSpPr txBox="1"/>
          <p:nvPr/>
        </p:nvSpPr>
        <p:spPr>
          <a:xfrm>
            <a:off x="570017" y="6492240"/>
            <a:ext cx="5211632" cy="438150"/>
          </a:xfrm>
          <a:prstGeom prst="rect">
            <a:avLst/>
          </a:prstGeom>
        </p:spPr>
        <p:txBody>
          <a:bodyPr lIns="0" tIns="0" rIns="0" bIns="0" rtlCol="0" anchor="t">
            <a:spAutoFit/>
          </a:bodyPr>
          <a:lstStyle/>
          <a:p>
            <a:pPr algn="l">
              <a:lnSpc>
                <a:spcPts val="3749"/>
              </a:lnSpc>
            </a:pPr>
            <a:r>
              <a:rPr lang="en-US" sz="2499" b="1" spc="-24">
                <a:solidFill>
                  <a:srgbClr val="000000"/>
                </a:solidFill>
                <a:latin typeface="EB Garamond Semi-Bold"/>
                <a:ea typeface="EB Garamond Semi-Bold"/>
                <a:cs typeface="EB Garamond Semi-Bold"/>
                <a:sym typeface="EB Garamond Semi-Bold"/>
              </a:rPr>
              <a:t>KEY CHALLENGES</a:t>
            </a:r>
          </a:p>
        </p:txBody>
      </p:sp>
      <p:sp>
        <p:nvSpPr>
          <p:cNvPr id="6" name="TextBox 6"/>
          <p:cNvSpPr txBox="1"/>
          <p:nvPr/>
        </p:nvSpPr>
        <p:spPr>
          <a:xfrm>
            <a:off x="570017" y="6949440"/>
            <a:ext cx="6148510" cy="2651760"/>
          </a:xfrm>
          <a:prstGeom prst="rect">
            <a:avLst/>
          </a:prstGeom>
        </p:spPr>
        <p:txBody>
          <a:bodyPr lIns="0" tIns="0" rIns="0" bIns="0" rtlCol="0" anchor="t">
            <a:spAutoFit/>
          </a:bodyPr>
          <a:lstStyle/>
          <a:p>
            <a:pPr marL="585837" lvl="1" indent="-292919" algn="l">
              <a:lnSpc>
                <a:spcPts val="4070"/>
              </a:lnSpc>
              <a:buFont typeface="Arial"/>
              <a:buChar char="•"/>
            </a:pPr>
            <a:r>
              <a:rPr lang="en-US" sz="1800" spc="-27">
                <a:solidFill>
                  <a:srgbClr val="000000"/>
                </a:solidFill>
                <a:latin typeface="EB Garamond"/>
                <a:ea typeface="EB Garamond"/>
                <a:cs typeface="EB Garamond"/>
                <a:sym typeface="EB Garamond"/>
              </a:rPr>
              <a:t>Unstructured free-text reports</a:t>
            </a:r>
          </a:p>
          <a:p>
            <a:pPr marL="585837" lvl="1" indent="-292919" algn="l">
              <a:lnSpc>
                <a:spcPts val="4070"/>
              </a:lnSpc>
              <a:buFont typeface="Arial"/>
              <a:buChar char="•"/>
            </a:pPr>
            <a:r>
              <a:rPr lang="en-US" sz="1800" spc="-27">
                <a:solidFill>
                  <a:srgbClr val="000000"/>
                </a:solidFill>
                <a:latin typeface="EB Garamond"/>
                <a:ea typeface="EB Garamond"/>
                <a:cs typeface="EB Garamond"/>
                <a:sym typeface="EB Garamond"/>
              </a:rPr>
              <a:t>Difficult for computers to interpret</a:t>
            </a:r>
          </a:p>
          <a:p>
            <a:pPr marL="585837" lvl="1" indent="-292919" algn="l">
              <a:lnSpc>
                <a:spcPts val="4070"/>
              </a:lnSpc>
              <a:buFont typeface="Arial"/>
              <a:buChar char="•"/>
            </a:pPr>
            <a:r>
              <a:rPr lang="en-US" sz="1800" spc="-27">
                <a:solidFill>
                  <a:srgbClr val="000000"/>
                </a:solidFill>
                <a:latin typeface="EB Garamond"/>
                <a:ea typeface="EB Garamond"/>
                <a:cs typeface="EB Garamond"/>
                <a:sym typeface="EB Garamond"/>
              </a:rPr>
              <a:t>Manual processing is slow and error-prone</a:t>
            </a:r>
          </a:p>
          <a:p>
            <a:pPr marL="585837" lvl="1" indent="-292919" algn="l">
              <a:lnSpc>
                <a:spcPts val="4070"/>
              </a:lnSpc>
              <a:buFont typeface="Arial"/>
              <a:buChar char="•"/>
            </a:pPr>
            <a:r>
              <a:rPr lang="en-US" sz="1800" spc="-27">
                <a:solidFill>
                  <a:srgbClr val="000000"/>
                </a:solidFill>
                <a:latin typeface="EB Garamond"/>
                <a:ea typeface="EB Garamond"/>
                <a:cs typeface="EB Garamond"/>
                <a:sym typeface="EB Garamond"/>
              </a:rPr>
              <a:t>Increasing volume of radiology reports</a:t>
            </a:r>
          </a:p>
          <a:p>
            <a:pPr algn="l">
              <a:lnSpc>
                <a:spcPts val="4424"/>
              </a:lnSpc>
            </a:pPr>
            <a:endParaRPr lang="en-US" sz="2713" spc="-27">
              <a:solidFill>
                <a:srgbClr val="000000"/>
              </a:solidFill>
              <a:latin typeface="EB Garamond"/>
              <a:ea typeface="EB Garamond"/>
              <a:cs typeface="EB Garamond"/>
              <a:sym typeface="EB Garamond"/>
            </a:endParaRPr>
          </a:p>
        </p:txBody>
      </p:sp>
      <p:sp>
        <p:nvSpPr>
          <p:cNvPr id="7" name="TextBox 7"/>
          <p:cNvSpPr txBox="1"/>
          <p:nvPr/>
        </p:nvSpPr>
        <p:spPr>
          <a:xfrm>
            <a:off x="12142045" y="3137600"/>
            <a:ext cx="5215692" cy="518160"/>
          </a:xfrm>
          <a:prstGeom prst="rect">
            <a:avLst/>
          </a:prstGeom>
        </p:spPr>
        <p:txBody>
          <a:bodyPr lIns="0" tIns="0" rIns="0" bIns="0" rtlCol="0" anchor="t">
            <a:spAutoFit/>
          </a:bodyPr>
          <a:lstStyle/>
          <a:p>
            <a:pPr algn="ctr">
              <a:lnSpc>
                <a:spcPts val="4349"/>
              </a:lnSpc>
            </a:pPr>
            <a:r>
              <a:rPr lang="en-US" sz="2899" b="1" spc="-28">
                <a:solidFill>
                  <a:srgbClr val="000000"/>
                </a:solidFill>
                <a:latin typeface="EB Garamond Semi-Bold"/>
                <a:ea typeface="EB Garamond Semi-Bold"/>
                <a:cs typeface="EB Garamond Semi-Bold"/>
                <a:sym typeface="EB Garamond Semi-Bold"/>
              </a:rPr>
              <a:t>SOLUTION</a:t>
            </a:r>
          </a:p>
        </p:txBody>
      </p:sp>
      <p:sp>
        <p:nvSpPr>
          <p:cNvPr id="8" name="TextBox 8"/>
          <p:cNvSpPr txBox="1"/>
          <p:nvPr/>
        </p:nvSpPr>
        <p:spPr>
          <a:xfrm>
            <a:off x="12142045" y="4158717"/>
            <a:ext cx="5215692" cy="3776910"/>
          </a:xfrm>
          <a:prstGeom prst="rect">
            <a:avLst/>
          </a:prstGeom>
        </p:spPr>
        <p:txBody>
          <a:bodyPr lIns="0" tIns="0" rIns="0" bIns="0" rtlCol="0" anchor="t">
            <a:spAutoFit/>
          </a:bodyPr>
          <a:lstStyle/>
          <a:p>
            <a:pPr algn="ctr">
              <a:lnSpc>
                <a:spcPts val="4302"/>
              </a:lnSpc>
            </a:pPr>
            <a:r>
              <a:rPr lang="en-US" sz="2868" spc="-28">
                <a:solidFill>
                  <a:srgbClr val="000000"/>
                </a:solidFill>
                <a:latin typeface="EB Garamond"/>
                <a:ea typeface="EB Garamond"/>
                <a:cs typeface="EB Garamond"/>
                <a:sym typeface="EB Garamond"/>
              </a:rPr>
              <a:t>Free-Text Radiology Report</a:t>
            </a:r>
          </a:p>
          <a:p>
            <a:pPr algn="ctr">
              <a:lnSpc>
                <a:spcPts val="4302"/>
              </a:lnSpc>
            </a:pPr>
            <a:endParaRPr lang="en-US" sz="2868" spc="-28">
              <a:solidFill>
                <a:srgbClr val="000000"/>
              </a:solidFill>
              <a:latin typeface="EB Garamond"/>
              <a:ea typeface="EB Garamond"/>
              <a:cs typeface="EB Garamond"/>
              <a:sym typeface="EB Garamond"/>
            </a:endParaRPr>
          </a:p>
          <a:p>
            <a:pPr algn="ctr">
              <a:lnSpc>
                <a:spcPts val="4302"/>
              </a:lnSpc>
            </a:pPr>
            <a:r>
              <a:rPr lang="en-US" sz="2868" spc="-28">
                <a:solidFill>
                  <a:srgbClr val="000000"/>
                </a:solidFill>
                <a:latin typeface="EB Garamond"/>
                <a:ea typeface="EB Garamond"/>
                <a:cs typeface="EB Garamond"/>
                <a:sym typeface="EB Garamond"/>
              </a:rPr>
              <a:t> </a:t>
            </a:r>
          </a:p>
          <a:p>
            <a:pPr algn="ctr">
              <a:lnSpc>
                <a:spcPts val="4302"/>
              </a:lnSpc>
            </a:pPr>
            <a:r>
              <a:rPr lang="en-US" sz="2868" spc="-28">
                <a:solidFill>
                  <a:srgbClr val="000000"/>
                </a:solidFill>
                <a:latin typeface="EB Garamond"/>
                <a:ea typeface="EB Garamond"/>
                <a:cs typeface="EB Garamond"/>
                <a:sym typeface="EB Garamond"/>
              </a:rPr>
              <a:t>NLP Model</a:t>
            </a:r>
          </a:p>
          <a:p>
            <a:pPr algn="ctr">
              <a:lnSpc>
                <a:spcPts val="4302"/>
              </a:lnSpc>
            </a:pPr>
            <a:endParaRPr lang="en-US" sz="2868" spc="-28">
              <a:solidFill>
                <a:srgbClr val="000000"/>
              </a:solidFill>
              <a:latin typeface="EB Garamond"/>
              <a:ea typeface="EB Garamond"/>
              <a:cs typeface="EB Garamond"/>
              <a:sym typeface="EB Garamond"/>
            </a:endParaRPr>
          </a:p>
          <a:p>
            <a:pPr algn="ctr">
              <a:lnSpc>
                <a:spcPts val="4302"/>
              </a:lnSpc>
            </a:pPr>
            <a:r>
              <a:rPr lang="en-US" sz="2868" spc="-28">
                <a:solidFill>
                  <a:srgbClr val="000000"/>
                </a:solidFill>
                <a:latin typeface="EB Garamond"/>
                <a:ea typeface="EB Garamond"/>
                <a:cs typeface="EB Garamond"/>
                <a:sym typeface="EB Garamond"/>
              </a:rPr>
              <a:t> </a:t>
            </a:r>
          </a:p>
          <a:p>
            <a:pPr algn="ctr">
              <a:lnSpc>
                <a:spcPts val="4302"/>
              </a:lnSpc>
            </a:pPr>
            <a:r>
              <a:rPr lang="en-US" sz="2868" spc="-28">
                <a:solidFill>
                  <a:srgbClr val="000000"/>
                </a:solidFill>
                <a:latin typeface="EB Garamond"/>
                <a:ea typeface="EB Garamond"/>
                <a:cs typeface="EB Garamond"/>
                <a:sym typeface="EB Garamond"/>
              </a:rPr>
              <a:t>Structured Clinical Information</a:t>
            </a:r>
          </a:p>
        </p:txBody>
      </p:sp>
      <p:sp>
        <p:nvSpPr>
          <p:cNvPr id="9" name="AutoShape 9"/>
          <p:cNvSpPr/>
          <p:nvPr/>
        </p:nvSpPr>
        <p:spPr>
          <a:xfrm>
            <a:off x="14778466" y="4924313"/>
            <a:ext cx="0" cy="772355"/>
          </a:xfrm>
          <a:prstGeom prst="line">
            <a:avLst/>
          </a:prstGeom>
          <a:ln w="38100" cap="flat">
            <a:solidFill>
              <a:srgbClr val="000000"/>
            </a:solidFill>
            <a:prstDash val="solid"/>
            <a:headEnd type="none" w="sm" len="sm"/>
            <a:tailEnd type="triangle" w="lg" len="med"/>
          </a:ln>
        </p:spPr>
      </p:sp>
      <p:sp>
        <p:nvSpPr>
          <p:cNvPr id="10" name="AutoShape 10"/>
          <p:cNvSpPr/>
          <p:nvPr/>
        </p:nvSpPr>
        <p:spPr>
          <a:xfrm>
            <a:off x="14778466" y="6519627"/>
            <a:ext cx="9525" cy="894155"/>
          </a:xfrm>
          <a:prstGeom prst="line">
            <a:avLst/>
          </a:prstGeom>
          <a:ln w="38100" cap="flat">
            <a:solidFill>
              <a:srgbClr val="000000"/>
            </a:solidFill>
            <a:prstDash val="solid"/>
            <a:headEnd type="none" w="sm" len="sm"/>
            <a:tailEnd type="triangle" w="lg" len="me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0017" y="708410"/>
            <a:ext cx="9295174" cy="961760"/>
          </a:xfrm>
          <a:prstGeom prst="rect">
            <a:avLst/>
          </a:prstGeom>
        </p:spPr>
        <p:txBody>
          <a:bodyPr lIns="0" tIns="0" rIns="0" bIns="0" rtlCol="0" anchor="t">
            <a:spAutoFit/>
          </a:bodyPr>
          <a:lstStyle/>
          <a:p>
            <a:pPr algn="l">
              <a:lnSpc>
                <a:spcPts val="8108"/>
              </a:lnSpc>
            </a:pPr>
            <a:r>
              <a:rPr lang="en-US" sz="5067" spc="-50">
                <a:solidFill>
                  <a:srgbClr val="000000"/>
                </a:solidFill>
                <a:latin typeface="EB Garamond"/>
                <a:ea typeface="EB Garamond"/>
                <a:cs typeface="EB Garamond"/>
                <a:sym typeface="EB Garamond"/>
              </a:rPr>
              <a:t>Dataset &amp; Methodology</a:t>
            </a:r>
          </a:p>
        </p:txBody>
      </p:sp>
      <p:sp>
        <p:nvSpPr>
          <p:cNvPr id="3" name="TextBox 3"/>
          <p:cNvSpPr txBox="1"/>
          <p:nvPr/>
        </p:nvSpPr>
        <p:spPr>
          <a:xfrm>
            <a:off x="570017" y="2394070"/>
            <a:ext cx="5211632" cy="417195"/>
          </a:xfrm>
          <a:prstGeom prst="rect">
            <a:avLst/>
          </a:prstGeom>
        </p:spPr>
        <p:txBody>
          <a:bodyPr lIns="0" tIns="0" rIns="0" bIns="0" rtlCol="0" anchor="t">
            <a:spAutoFit/>
          </a:bodyPr>
          <a:lstStyle/>
          <a:p>
            <a:pPr algn="l">
              <a:lnSpc>
                <a:spcPts val="3450"/>
              </a:lnSpc>
            </a:pPr>
            <a:r>
              <a:rPr lang="en-US" sz="2300" b="1" spc="-23">
                <a:solidFill>
                  <a:srgbClr val="000000"/>
                </a:solidFill>
                <a:latin typeface="EB Garamond Semi-Bold"/>
                <a:ea typeface="EB Garamond Semi-Bold"/>
                <a:cs typeface="EB Garamond Semi-Bold"/>
                <a:sym typeface="EB Garamond Semi-Bold"/>
              </a:rPr>
              <a:t>DATASET(S) USED</a:t>
            </a:r>
          </a:p>
        </p:txBody>
      </p:sp>
      <p:sp>
        <p:nvSpPr>
          <p:cNvPr id="4" name="TextBox 4"/>
          <p:cNvSpPr txBox="1"/>
          <p:nvPr/>
        </p:nvSpPr>
        <p:spPr>
          <a:xfrm>
            <a:off x="570017" y="3024187"/>
            <a:ext cx="5691960" cy="4674870"/>
          </a:xfrm>
          <a:prstGeom prst="rect">
            <a:avLst/>
          </a:prstGeom>
        </p:spPr>
        <p:txBody>
          <a:bodyPr lIns="0" tIns="0" rIns="0" bIns="0" rtlCol="0" anchor="t">
            <a:spAutoFit/>
          </a:bodyPr>
          <a:lstStyle/>
          <a:p>
            <a:pPr marL="604518" lvl="1" indent="-302259" algn="l">
              <a:lnSpc>
                <a:spcPts val="4199"/>
              </a:lnSpc>
              <a:buFont typeface="Arial"/>
              <a:buChar char="•"/>
            </a:pPr>
            <a:r>
              <a:rPr lang="en-US" sz="2799" spc="-27">
                <a:solidFill>
                  <a:srgbClr val="000000"/>
                </a:solidFill>
                <a:latin typeface="EB Garamond"/>
                <a:ea typeface="EB Garamond"/>
                <a:cs typeface="EB Garamond"/>
                <a:sym typeface="EB Garamond"/>
              </a:rPr>
              <a:t>28 published research studies were included.</a:t>
            </a:r>
          </a:p>
          <a:p>
            <a:pPr marL="604518" lvl="1" indent="-302259" algn="l">
              <a:lnSpc>
                <a:spcPts val="4199"/>
              </a:lnSpc>
              <a:buFont typeface="Arial"/>
              <a:buChar char="•"/>
            </a:pPr>
            <a:r>
              <a:rPr lang="en-US" sz="2799" spc="-27">
                <a:solidFill>
                  <a:srgbClr val="000000"/>
                </a:solidFill>
                <a:latin typeface="EB Garamond"/>
                <a:ea typeface="EB Garamond"/>
                <a:cs typeface="EB Garamond"/>
                <a:sym typeface="EB Garamond"/>
              </a:rPr>
              <a:t>More than 51,000 radiology reports were analyzed.</a:t>
            </a:r>
          </a:p>
          <a:p>
            <a:pPr marL="604518" lvl="1" indent="-302259" algn="l">
              <a:lnSpc>
                <a:spcPts val="4199"/>
              </a:lnSpc>
              <a:buFont typeface="Arial"/>
              <a:buChar char="•"/>
            </a:pPr>
            <a:r>
              <a:rPr lang="en-US" sz="2799" spc="-27">
                <a:solidFill>
                  <a:srgbClr val="000000"/>
                </a:solidFill>
                <a:latin typeface="EB Garamond"/>
                <a:ea typeface="EB Garamond"/>
                <a:cs typeface="EB Garamond"/>
                <a:sym typeface="EB Garamond"/>
              </a:rPr>
              <a:t>Over 421,000 clinical entities were extracted.</a:t>
            </a:r>
          </a:p>
          <a:p>
            <a:pPr marL="604518" lvl="1" indent="-302259" algn="l">
              <a:lnSpc>
                <a:spcPts val="4199"/>
              </a:lnSpc>
              <a:buFont typeface="Arial"/>
              <a:buChar char="•"/>
            </a:pPr>
            <a:r>
              <a:rPr lang="en-US" sz="2799" spc="-27">
                <a:solidFill>
                  <a:srgbClr val="000000"/>
                </a:solidFill>
                <a:latin typeface="EB Garamond"/>
                <a:ea typeface="EB Garamond"/>
                <a:cs typeface="EB Garamond"/>
                <a:sym typeface="EB Garamond"/>
              </a:rPr>
              <a:t>The studies used multiple public and private hospital datasets.</a:t>
            </a:r>
          </a:p>
          <a:p>
            <a:pPr algn="l">
              <a:lnSpc>
                <a:spcPts val="4199"/>
              </a:lnSpc>
            </a:pPr>
            <a:endParaRPr lang="en-US" sz="2799" spc="-27">
              <a:solidFill>
                <a:srgbClr val="000000"/>
              </a:solidFill>
              <a:latin typeface="EB Garamond"/>
              <a:ea typeface="EB Garamond"/>
              <a:cs typeface="EB Garamond"/>
              <a:sym typeface="EB Garamond"/>
            </a:endParaRPr>
          </a:p>
        </p:txBody>
      </p:sp>
      <p:sp>
        <p:nvSpPr>
          <p:cNvPr id="5" name="TextBox 5"/>
          <p:cNvSpPr txBox="1"/>
          <p:nvPr/>
        </p:nvSpPr>
        <p:spPr>
          <a:xfrm>
            <a:off x="6690584" y="2394070"/>
            <a:ext cx="5211632" cy="417195"/>
          </a:xfrm>
          <a:prstGeom prst="rect">
            <a:avLst/>
          </a:prstGeom>
        </p:spPr>
        <p:txBody>
          <a:bodyPr lIns="0" tIns="0" rIns="0" bIns="0" rtlCol="0" anchor="t">
            <a:spAutoFit/>
          </a:bodyPr>
          <a:lstStyle/>
          <a:p>
            <a:pPr algn="l">
              <a:lnSpc>
                <a:spcPts val="3450"/>
              </a:lnSpc>
            </a:pPr>
            <a:r>
              <a:rPr lang="en-US" sz="2300" b="1" spc="-23">
                <a:solidFill>
                  <a:srgbClr val="000000"/>
                </a:solidFill>
                <a:latin typeface="EB Garamond Semi-Bold"/>
                <a:ea typeface="EB Garamond Semi-Bold"/>
                <a:cs typeface="EB Garamond Semi-Bold"/>
                <a:sym typeface="EB Garamond Semi-Bold"/>
              </a:rPr>
              <a:t>METHODOLOGY</a:t>
            </a:r>
          </a:p>
        </p:txBody>
      </p:sp>
      <p:sp>
        <p:nvSpPr>
          <p:cNvPr id="6" name="TextBox 6"/>
          <p:cNvSpPr txBox="1"/>
          <p:nvPr/>
        </p:nvSpPr>
        <p:spPr>
          <a:xfrm>
            <a:off x="6690584" y="3024187"/>
            <a:ext cx="5211632" cy="4171950"/>
          </a:xfrm>
          <a:prstGeom prst="rect">
            <a:avLst/>
          </a:prstGeom>
        </p:spPr>
        <p:txBody>
          <a:bodyPr lIns="0" tIns="0" rIns="0" bIns="0" rtlCol="0" anchor="t">
            <a:spAutoFit/>
          </a:bodyPr>
          <a:lstStyle/>
          <a:p>
            <a:pPr algn="ctr">
              <a:lnSpc>
                <a:spcPts val="3749"/>
              </a:lnSpc>
            </a:pPr>
            <a:r>
              <a:rPr lang="en-US" sz="2499" spc="-24">
                <a:solidFill>
                  <a:srgbClr val="000000"/>
                </a:solidFill>
                <a:latin typeface="EB Garamond"/>
                <a:ea typeface="EB Garamond"/>
                <a:cs typeface="EB Garamond"/>
                <a:sym typeface="EB Garamond"/>
              </a:rPr>
              <a:t>Research Database Search</a:t>
            </a:r>
          </a:p>
          <a:p>
            <a:pPr algn="ctr">
              <a:lnSpc>
                <a:spcPts val="3749"/>
              </a:lnSpc>
            </a:pPr>
            <a:r>
              <a:rPr lang="en-US" sz="2499" spc="-24">
                <a:solidFill>
                  <a:srgbClr val="000000"/>
                </a:solidFill>
                <a:latin typeface="EB Garamond"/>
                <a:ea typeface="EB Garamond"/>
                <a:cs typeface="EB Garamond"/>
                <a:sym typeface="EB Garamond"/>
              </a:rPr>
              <a:t>          </a:t>
            </a:r>
          </a:p>
          <a:p>
            <a:pPr algn="ctr">
              <a:lnSpc>
                <a:spcPts val="3749"/>
              </a:lnSpc>
            </a:pPr>
            <a:r>
              <a:rPr lang="en-US" sz="2499" spc="-24">
                <a:solidFill>
                  <a:srgbClr val="000000"/>
                </a:solidFill>
                <a:latin typeface="EB Garamond"/>
                <a:ea typeface="EB Garamond"/>
                <a:cs typeface="EB Garamond"/>
                <a:sym typeface="EB Garamond"/>
              </a:rPr>
              <a:t> Study Selection (28 Studies)</a:t>
            </a:r>
          </a:p>
          <a:p>
            <a:pPr algn="ctr">
              <a:lnSpc>
                <a:spcPts val="3749"/>
              </a:lnSpc>
            </a:pPr>
            <a:r>
              <a:rPr lang="en-US" sz="2499" spc="-24">
                <a:solidFill>
                  <a:srgbClr val="000000"/>
                </a:solidFill>
                <a:latin typeface="EB Garamond"/>
                <a:ea typeface="EB Garamond"/>
                <a:cs typeface="EB Garamond"/>
                <a:sym typeface="EB Garamond"/>
              </a:rPr>
              <a:t>          </a:t>
            </a:r>
          </a:p>
          <a:p>
            <a:pPr algn="ctr">
              <a:lnSpc>
                <a:spcPts val="3749"/>
              </a:lnSpc>
            </a:pPr>
            <a:r>
              <a:rPr lang="en-US" sz="2499" spc="-24">
                <a:solidFill>
                  <a:srgbClr val="000000"/>
                </a:solidFill>
                <a:latin typeface="EB Garamond"/>
                <a:ea typeface="EB Garamond"/>
                <a:cs typeface="EB Garamond"/>
                <a:sym typeface="EB Garamond"/>
              </a:rPr>
              <a:t> Data Extraction</a:t>
            </a:r>
          </a:p>
          <a:p>
            <a:pPr algn="ctr">
              <a:lnSpc>
                <a:spcPts val="3749"/>
              </a:lnSpc>
            </a:pPr>
            <a:r>
              <a:rPr lang="en-US" sz="2499" spc="-24">
                <a:solidFill>
                  <a:srgbClr val="000000"/>
                </a:solidFill>
                <a:latin typeface="EB Garamond"/>
                <a:ea typeface="EB Garamond"/>
                <a:cs typeface="EB Garamond"/>
                <a:sym typeface="EB Garamond"/>
              </a:rPr>
              <a:t>          </a:t>
            </a:r>
          </a:p>
          <a:p>
            <a:pPr algn="ctr">
              <a:lnSpc>
                <a:spcPts val="3749"/>
              </a:lnSpc>
            </a:pPr>
            <a:r>
              <a:rPr lang="en-US" sz="2499" spc="-24">
                <a:solidFill>
                  <a:srgbClr val="000000"/>
                </a:solidFill>
                <a:latin typeface="EB Garamond"/>
                <a:ea typeface="EB Garamond"/>
                <a:cs typeface="EB Garamond"/>
                <a:sym typeface="EB Garamond"/>
              </a:rPr>
              <a:t> Performance Comparison</a:t>
            </a:r>
          </a:p>
          <a:p>
            <a:pPr algn="ctr">
              <a:lnSpc>
                <a:spcPts val="3749"/>
              </a:lnSpc>
            </a:pPr>
            <a:r>
              <a:rPr lang="en-US" sz="2499" spc="-24">
                <a:solidFill>
                  <a:srgbClr val="000000"/>
                </a:solidFill>
                <a:latin typeface="EB Garamond"/>
                <a:ea typeface="EB Garamond"/>
                <a:cs typeface="EB Garamond"/>
                <a:sym typeface="EB Garamond"/>
              </a:rPr>
              <a:t>          </a:t>
            </a:r>
          </a:p>
          <a:p>
            <a:pPr algn="ctr">
              <a:lnSpc>
                <a:spcPts val="3749"/>
              </a:lnSpc>
            </a:pPr>
            <a:r>
              <a:rPr lang="en-US" sz="2499" spc="-24">
                <a:solidFill>
                  <a:srgbClr val="000000"/>
                </a:solidFill>
                <a:latin typeface="EB Garamond"/>
                <a:ea typeface="EB Garamond"/>
                <a:cs typeface="EB Garamond"/>
                <a:sym typeface="EB Garamond"/>
              </a:rPr>
              <a:t> Meta-analysis</a:t>
            </a:r>
          </a:p>
        </p:txBody>
      </p:sp>
      <p:sp>
        <p:nvSpPr>
          <p:cNvPr id="7" name="TextBox 7"/>
          <p:cNvSpPr txBox="1"/>
          <p:nvPr/>
        </p:nvSpPr>
        <p:spPr>
          <a:xfrm>
            <a:off x="12502291" y="2394070"/>
            <a:ext cx="5215692" cy="417195"/>
          </a:xfrm>
          <a:prstGeom prst="rect">
            <a:avLst/>
          </a:prstGeom>
        </p:spPr>
        <p:txBody>
          <a:bodyPr lIns="0" tIns="0" rIns="0" bIns="0" rtlCol="0" anchor="t">
            <a:spAutoFit/>
          </a:bodyPr>
          <a:lstStyle/>
          <a:p>
            <a:pPr algn="l">
              <a:lnSpc>
                <a:spcPts val="3450"/>
              </a:lnSpc>
            </a:pPr>
            <a:r>
              <a:rPr lang="en-US" sz="2300" b="1" spc="-23">
                <a:solidFill>
                  <a:srgbClr val="000000"/>
                </a:solidFill>
                <a:latin typeface="EB Garamond Semi-Bold"/>
                <a:ea typeface="EB Garamond Semi-Bold"/>
                <a:cs typeface="EB Garamond Semi-Bold"/>
                <a:sym typeface="EB Garamond Semi-Bold"/>
              </a:rPr>
              <a:t>NLP MODELS REVIEWED</a:t>
            </a:r>
          </a:p>
        </p:txBody>
      </p:sp>
      <p:sp>
        <p:nvSpPr>
          <p:cNvPr id="8" name="TextBox 8"/>
          <p:cNvSpPr txBox="1"/>
          <p:nvPr/>
        </p:nvSpPr>
        <p:spPr>
          <a:xfrm>
            <a:off x="12502291" y="3024187"/>
            <a:ext cx="5215692" cy="2579370"/>
          </a:xfrm>
          <a:prstGeom prst="rect">
            <a:avLst/>
          </a:prstGeom>
        </p:spPr>
        <p:txBody>
          <a:bodyPr lIns="0" tIns="0" rIns="0" bIns="0" rtlCol="0" anchor="t">
            <a:spAutoFit/>
          </a:bodyPr>
          <a:lstStyle/>
          <a:p>
            <a:pPr marL="604518" lvl="1" indent="-302259" algn="l">
              <a:lnSpc>
                <a:spcPts val="4199"/>
              </a:lnSpc>
              <a:buFont typeface="Arial"/>
              <a:buChar char="•"/>
            </a:pPr>
            <a:r>
              <a:rPr lang="en-US" sz="2799" spc="-27">
                <a:solidFill>
                  <a:srgbClr val="000000"/>
                </a:solidFill>
                <a:latin typeface="EB Garamond"/>
                <a:ea typeface="EB Garamond"/>
                <a:cs typeface="EB Garamond"/>
                <a:sym typeface="EB Garamond"/>
              </a:rPr>
              <a:t>Rule-Based NLP</a:t>
            </a:r>
          </a:p>
          <a:p>
            <a:pPr marL="604518" lvl="1" indent="-302259" algn="l">
              <a:lnSpc>
                <a:spcPts val="4199"/>
              </a:lnSpc>
              <a:buFont typeface="Arial"/>
              <a:buChar char="•"/>
            </a:pPr>
            <a:r>
              <a:rPr lang="en-US" sz="2799" spc="-27">
                <a:solidFill>
                  <a:srgbClr val="000000"/>
                </a:solidFill>
                <a:latin typeface="EB Garamond"/>
                <a:ea typeface="EB Garamond"/>
                <a:cs typeface="EB Garamond"/>
                <a:sym typeface="EB Garamond"/>
              </a:rPr>
              <a:t>Machine Learning Models</a:t>
            </a:r>
          </a:p>
          <a:p>
            <a:pPr marL="604518" lvl="1" indent="-302259" algn="l">
              <a:lnSpc>
                <a:spcPts val="4199"/>
              </a:lnSpc>
              <a:buFont typeface="Arial"/>
              <a:buChar char="•"/>
            </a:pPr>
            <a:r>
              <a:rPr lang="en-US" sz="2799" spc="-27">
                <a:solidFill>
                  <a:srgbClr val="000000"/>
                </a:solidFill>
                <a:latin typeface="EB Garamond"/>
                <a:ea typeface="EB Garamond"/>
                <a:cs typeface="EB Garamond"/>
                <a:sym typeface="EB Garamond"/>
              </a:rPr>
              <a:t>Deep Learning Models</a:t>
            </a:r>
          </a:p>
          <a:p>
            <a:pPr marL="604518" lvl="1" indent="-302259" algn="l">
              <a:lnSpc>
                <a:spcPts val="4199"/>
              </a:lnSpc>
              <a:buFont typeface="Arial"/>
              <a:buChar char="•"/>
            </a:pPr>
            <a:r>
              <a:rPr lang="en-US" sz="2799" spc="-27">
                <a:solidFill>
                  <a:srgbClr val="000000"/>
                </a:solidFill>
                <a:latin typeface="EB Garamond"/>
                <a:ea typeface="EB Garamond"/>
                <a:cs typeface="EB Garamond"/>
                <a:sym typeface="EB Garamond"/>
              </a:rPr>
              <a:t>Large Language Models (LLMs)</a:t>
            </a:r>
          </a:p>
          <a:p>
            <a:pPr algn="l">
              <a:lnSpc>
                <a:spcPts val="4199"/>
              </a:lnSpc>
            </a:pPr>
            <a:endParaRPr lang="en-US" sz="2799" spc="-27">
              <a:solidFill>
                <a:srgbClr val="000000"/>
              </a:solidFill>
              <a:latin typeface="EB Garamond"/>
              <a:ea typeface="EB Garamond"/>
              <a:cs typeface="EB Garamond"/>
              <a:sym typeface="EB Garamond"/>
            </a:endParaRPr>
          </a:p>
        </p:txBody>
      </p:sp>
      <p:sp>
        <p:nvSpPr>
          <p:cNvPr id="9" name="AutoShape 9"/>
          <p:cNvSpPr/>
          <p:nvPr/>
        </p:nvSpPr>
        <p:spPr>
          <a:xfrm>
            <a:off x="9144000" y="3602447"/>
            <a:ext cx="0" cy="361084"/>
          </a:xfrm>
          <a:prstGeom prst="line">
            <a:avLst/>
          </a:prstGeom>
          <a:ln w="38100" cap="flat">
            <a:solidFill>
              <a:srgbClr val="000000"/>
            </a:solidFill>
            <a:prstDash val="solid"/>
            <a:headEnd type="none" w="sm" len="sm"/>
            <a:tailEnd type="triangle" w="lg" len="med"/>
          </a:ln>
        </p:spPr>
      </p:sp>
      <p:sp>
        <p:nvSpPr>
          <p:cNvPr id="10" name="AutoShape 10"/>
          <p:cNvSpPr/>
          <p:nvPr/>
        </p:nvSpPr>
        <p:spPr>
          <a:xfrm>
            <a:off x="9144000" y="4543090"/>
            <a:ext cx="0" cy="380260"/>
          </a:xfrm>
          <a:prstGeom prst="line">
            <a:avLst/>
          </a:prstGeom>
          <a:ln w="38100" cap="flat">
            <a:solidFill>
              <a:srgbClr val="000000"/>
            </a:solidFill>
            <a:prstDash val="solid"/>
            <a:headEnd type="none" w="sm" len="sm"/>
            <a:tailEnd type="triangle" w="lg" len="med"/>
          </a:ln>
        </p:spPr>
      </p:sp>
      <p:sp>
        <p:nvSpPr>
          <p:cNvPr id="11" name="AutoShape 11"/>
          <p:cNvSpPr/>
          <p:nvPr/>
        </p:nvSpPr>
        <p:spPr>
          <a:xfrm flipH="1">
            <a:off x="9144000" y="5394960"/>
            <a:ext cx="0" cy="469032"/>
          </a:xfrm>
          <a:prstGeom prst="line">
            <a:avLst/>
          </a:prstGeom>
          <a:ln w="38100" cap="flat">
            <a:solidFill>
              <a:srgbClr val="000000"/>
            </a:solidFill>
            <a:prstDash val="solid"/>
            <a:headEnd type="none" w="sm" len="sm"/>
            <a:tailEnd type="triangle" w="lg" len="med"/>
          </a:ln>
        </p:spPr>
      </p:sp>
      <p:sp>
        <p:nvSpPr>
          <p:cNvPr id="12" name="AutoShape 12"/>
          <p:cNvSpPr/>
          <p:nvPr/>
        </p:nvSpPr>
        <p:spPr>
          <a:xfrm>
            <a:off x="9144000" y="6404362"/>
            <a:ext cx="0" cy="400274"/>
          </a:xfrm>
          <a:prstGeom prst="line">
            <a:avLst/>
          </a:prstGeom>
          <a:ln w="38100" cap="flat">
            <a:solidFill>
              <a:srgbClr val="000000"/>
            </a:solidFill>
            <a:prstDash val="solid"/>
            <a:headEnd type="none" w="sm" len="sm"/>
            <a:tailEnd type="triangle" w="lg" len="med"/>
          </a:ln>
        </p:spPr>
      </p:sp>
      <p:sp>
        <p:nvSpPr>
          <p:cNvPr id="13" name="TextBox 13"/>
          <p:cNvSpPr txBox="1"/>
          <p:nvPr/>
        </p:nvSpPr>
        <p:spPr>
          <a:xfrm>
            <a:off x="570017" y="8232458"/>
            <a:ext cx="5211632" cy="417195"/>
          </a:xfrm>
          <a:prstGeom prst="rect">
            <a:avLst/>
          </a:prstGeom>
        </p:spPr>
        <p:txBody>
          <a:bodyPr lIns="0" tIns="0" rIns="0" bIns="0" rtlCol="0" anchor="t">
            <a:spAutoFit/>
          </a:bodyPr>
          <a:lstStyle/>
          <a:p>
            <a:pPr algn="l">
              <a:lnSpc>
                <a:spcPts val="3450"/>
              </a:lnSpc>
            </a:pPr>
            <a:r>
              <a:rPr lang="en-US" sz="2300" b="1" spc="-23">
                <a:solidFill>
                  <a:srgbClr val="000000"/>
                </a:solidFill>
                <a:latin typeface="EB Garamond Semi-Bold"/>
                <a:ea typeface="EB Garamond Semi-Bold"/>
                <a:cs typeface="EB Garamond Semi-Bold"/>
                <a:sym typeface="EB Garamond Semi-Bold"/>
              </a:rPr>
              <a:t>MY PLANNED DATASET</a:t>
            </a:r>
          </a:p>
        </p:txBody>
      </p:sp>
      <p:sp>
        <p:nvSpPr>
          <p:cNvPr id="14" name="TextBox 14"/>
          <p:cNvSpPr txBox="1"/>
          <p:nvPr/>
        </p:nvSpPr>
        <p:spPr>
          <a:xfrm>
            <a:off x="320219" y="8830628"/>
            <a:ext cx="9296400" cy="544125"/>
          </a:xfrm>
          <a:prstGeom prst="rect">
            <a:avLst/>
          </a:prstGeom>
        </p:spPr>
        <p:txBody>
          <a:bodyPr lIns="0" tIns="0" rIns="0" bIns="0" rtlCol="0" anchor="t">
            <a:spAutoFit/>
          </a:bodyPr>
          <a:lstStyle/>
          <a:p>
            <a:pPr algn="ctr">
              <a:lnSpc>
                <a:spcPts val="4452"/>
              </a:lnSpc>
              <a:spcBef>
                <a:spcPct val="0"/>
              </a:spcBef>
            </a:pPr>
            <a:r>
              <a:rPr lang="en-US" sz="2968" spc="-29">
                <a:solidFill>
                  <a:srgbClr val="000000"/>
                </a:solidFill>
                <a:latin typeface="EB Garamond"/>
                <a:ea typeface="EB Garamond"/>
                <a:cs typeface="EB Garamond"/>
                <a:sym typeface="EB Garamond"/>
              </a:rPr>
              <a:t>OpenI Chest X-ray Dataset – </a:t>
            </a:r>
            <a:r>
              <a:rPr lang="en-US" sz="2968" i="1" spc="-29">
                <a:solidFill>
                  <a:srgbClr val="000000"/>
                </a:solidFill>
                <a:latin typeface="EB Garamond Italics"/>
                <a:ea typeface="EB Garamond Italics"/>
                <a:cs typeface="EB Garamond Italics"/>
                <a:sym typeface="EB Garamond Italics"/>
              </a:rPr>
              <a:t>Source : Indiana University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1380" y="718118"/>
            <a:ext cx="14538757" cy="961760"/>
          </a:xfrm>
          <a:prstGeom prst="rect">
            <a:avLst/>
          </a:prstGeom>
        </p:spPr>
        <p:txBody>
          <a:bodyPr lIns="0" tIns="0" rIns="0" bIns="0" rtlCol="0" anchor="t">
            <a:spAutoFit/>
          </a:bodyPr>
          <a:lstStyle/>
          <a:p>
            <a:pPr algn="l">
              <a:lnSpc>
                <a:spcPts val="8108"/>
              </a:lnSpc>
            </a:pPr>
            <a:r>
              <a:rPr lang="en-US" sz="5067" spc="-50">
                <a:solidFill>
                  <a:srgbClr val="000000"/>
                </a:solidFill>
                <a:latin typeface="EB Garamond"/>
                <a:ea typeface="EB Garamond"/>
                <a:cs typeface="EB Garamond"/>
                <a:sym typeface="EB Garamond"/>
              </a:rPr>
              <a:t>Results, Limitations &amp; Future Work</a:t>
            </a:r>
          </a:p>
        </p:txBody>
      </p:sp>
      <p:sp>
        <p:nvSpPr>
          <p:cNvPr id="3" name="TextBox 3"/>
          <p:cNvSpPr txBox="1"/>
          <p:nvPr/>
        </p:nvSpPr>
        <p:spPr>
          <a:xfrm>
            <a:off x="570017" y="2394070"/>
            <a:ext cx="5211632" cy="417195"/>
          </a:xfrm>
          <a:prstGeom prst="rect">
            <a:avLst/>
          </a:prstGeom>
        </p:spPr>
        <p:txBody>
          <a:bodyPr lIns="0" tIns="0" rIns="0" bIns="0" rtlCol="0" anchor="t">
            <a:spAutoFit/>
          </a:bodyPr>
          <a:lstStyle/>
          <a:p>
            <a:pPr algn="l">
              <a:lnSpc>
                <a:spcPts val="3450"/>
              </a:lnSpc>
            </a:pPr>
            <a:r>
              <a:rPr lang="en-US" sz="2300" b="1" spc="-23">
                <a:solidFill>
                  <a:srgbClr val="000000"/>
                </a:solidFill>
                <a:latin typeface="EB Garamond Semi-Bold"/>
                <a:ea typeface="EB Garamond Semi-Bold"/>
                <a:cs typeface="EB Garamond Semi-Bold"/>
                <a:sym typeface="EB Garamond Semi-Bold"/>
              </a:rPr>
              <a:t>KEY RESULTS</a:t>
            </a:r>
          </a:p>
        </p:txBody>
      </p:sp>
      <p:sp>
        <p:nvSpPr>
          <p:cNvPr id="4" name="TextBox 4"/>
          <p:cNvSpPr txBox="1"/>
          <p:nvPr/>
        </p:nvSpPr>
        <p:spPr>
          <a:xfrm>
            <a:off x="570017" y="2949966"/>
            <a:ext cx="13657405" cy="1731645"/>
          </a:xfrm>
          <a:prstGeom prst="rect">
            <a:avLst/>
          </a:prstGeom>
        </p:spPr>
        <p:txBody>
          <a:bodyPr lIns="0" tIns="0" rIns="0" bIns="0" rtlCol="0" anchor="t">
            <a:spAutoFit/>
          </a:bodyPr>
          <a:lstStyle/>
          <a:p>
            <a:pPr marL="496571" lvl="1" indent="-248285" algn="l">
              <a:lnSpc>
                <a:spcPts val="3450"/>
              </a:lnSpc>
              <a:buFont typeface="Arial"/>
              <a:buChar char="•"/>
            </a:pPr>
            <a:r>
              <a:rPr lang="en-US" sz="2300" spc="-23" dirty="0">
                <a:solidFill>
                  <a:srgbClr val="000000"/>
                </a:solidFill>
                <a:latin typeface="EB Garamond"/>
                <a:ea typeface="EB Garamond"/>
                <a:cs typeface="EB Garamond"/>
                <a:sym typeface="EB Garamond"/>
              </a:rPr>
              <a:t>NLP models achieved high accuracy in extracting clinical information.</a:t>
            </a:r>
          </a:p>
          <a:p>
            <a:pPr marL="496571" lvl="1" indent="-248285" algn="l">
              <a:lnSpc>
                <a:spcPts val="3450"/>
              </a:lnSpc>
              <a:buFont typeface="Arial"/>
              <a:buChar char="•"/>
            </a:pPr>
            <a:r>
              <a:rPr lang="en-US" sz="2300" spc="-23" dirty="0">
                <a:solidFill>
                  <a:srgbClr val="000000"/>
                </a:solidFill>
                <a:latin typeface="EB Garamond"/>
                <a:ea typeface="EB Garamond"/>
                <a:cs typeface="EB Garamond"/>
                <a:sym typeface="EB Garamond"/>
              </a:rPr>
              <a:t>Deep Learning and Large Language Models (LLMs) showed better performance than traditional methods.</a:t>
            </a:r>
          </a:p>
          <a:p>
            <a:pPr marL="496571" lvl="1" indent="-248285" algn="l">
              <a:lnSpc>
                <a:spcPts val="3450"/>
              </a:lnSpc>
              <a:buFont typeface="Arial"/>
              <a:buChar char="•"/>
            </a:pPr>
            <a:r>
              <a:rPr lang="en-US" sz="2300" spc="-23" dirty="0">
                <a:solidFill>
                  <a:srgbClr val="000000"/>
                </a:solidFill>
                <a:latin typeface="EB Garamond"/>
                <a:ea typeface="EB Garamond"/>
                <a:cs typeface="EB Garamond"/>
                <a:sym typeface="EB Garamond"/>
              </a:rPr>
              <a:t>Performance depended on the dataset quality and evaluation metrics.</a:t>
            </a:r>
          </a:p>
          <a:p>
            <a:pPr algn="l">
              <a:lnSpc>
                <a:spcPts val="3450"/>
              </a:lnSpc>
            </a:pPr>
            <a:endParaRPr lang="en-US" sz="2300" spc="-23" dirty="0">
              <a:solidFill>
                <a:srgbClr val="000000"/>
              </a:solidFill>
              <a:latin typeface="EB Garamond"/>
              <a:ea typeface="EB Garamond"/>
              <a:cs typeface="EB Garamond"/>
              <a:sym typeface="EB Garamond"/>
            </a:endParaRPr>
          </a:p>
        </p:txBody>
      </p:sp>
      <p:sp>
        <p:nvSpPr>
          <p:cNvPr id="6" name="TextBox 6"/>
          <p:cNvSpPr txBox="1"/>
          <p:nvPr/>
        </p:nvSpPr>
        <p:spPr>
          <a:xfrm>
            <a:off x="10058094" y="4899587"/>
            <a:ext cx="7658526" cy="4487832"/>
          </a:xfrm>
          <a:prstGeom prst="rect">
            <a:avLst/>
          </a:prstGeom>
        </p:spPr>
        <p:txBody>
          <a:bodyPr lIns="0" tIns="0" rIns="0" bIns="0" rtlCol="0" anchor="t">
            <a:spAutoFit/>
          </a:bodyPr>
          <a:lstStyle/>
          <a:p>
            <a:pPr>
              <a:lnSpc>
                <a:spcPct val="150000"/>
              </a:lnSpc>
            </a:pPr>
            <a:r>
              <a:rPr lang="en-US" sz="2799" b="1" spc="-27" dirty="0">
                <a:solidFill>
                  <a:srgbClr val="000000"/>
                </a:solidFill>
                <a:latin typeface="EB Garamond Semi-Bold"/>
                <a:ea typeface="EB Garamond Semi-Bold"/>
                <a:cs typeface="EB Garamond Semi-Bold"/>
                <a:sym typeface="EB Garamond Semi-Bold"/>
              </a:rPr>
              <a:t>                                       </a:t>
            </a:r>
            <a:r>
              <a:rPr lang="en-US" sz="2300" b="1" spc="-23" dirty="0">
                <a:solidFill>
                  <a:srgbClr val="000000"/>
                </a:solidFill>
                <a:latin typeface="EB Garamond Semi-Bold"/>
                <a:ea typeface="EB Garamond Semi-Bold"/>
                <a:cs typeface="EB Garamond Semi-Bold"/>
                <a:sym typeface="EB Garamond Semi-Bold"/>
              </a:rPr>
              <a:t>EXAMPLE</a:t>
            </a:r>
            <a:br>
              <a:rPr lang="en-US" sz="2799" b="1" spc="-27" dirty="0">
                <a:solidFill>
                  <a:srgbClr val="000000"/>
                </a:solidFill>
                <a:latin typeface="EB Garamond Semi-Bold"/>
                <a:ea typeface="EB Garamond Semi-Bold"/>
                <a:cs typeface="EB Garamond Semi-Bold"/>
                <a:sym typeface="EB Garamond Semi-Bold"/>
              </a:rPr>
            </a:br>
            <a:r>
              <a:rPr lang="en-US" sz="2799" b="1" spc="-27" dirty="0">
                <a:solidFill>
                  <a:srgbClr val="000000"/>
                </a:solidFill>
                <a:latin typeface="EB Garamond Semi-Bold"/>
                <a:ea typeface="EB Garamond Semi-Bold"/>
                <a:cs typeface="EB Garamond Semi-Bold"/>
                <a:sym typeface="EB Garamond Semi-Bold"/>
              </a:rPr>
              <a:t>Radiology Report (Free Text)</a:t>
            </a:r>
          </a:p>
          <a:p>
            <a:pPr algn="l">
              <a:lnSpc>
                <a:spcPts val="4199"/>
              </a:lnSpc>
            </a:pPr>
            <a:r>
              <a:rPr lang="en-US" sz="2799" spc="-27" dirty="0">
                <a:solidFill>
                  <a:srgbClr val="000000"/>
                </a:solidFill>
                <a:latin typeface="EB Garamond"/>
                <a:ea typeface="EB Garamond"/>
                <a:cs typeface="EB Garamond"/>
                <a:sym typeface="EB Garamond"/>
              </a:rPr>
              <a:t>  </a:t>
            </a:r>
            <a:r>
              <a:rPr lang="en-US" sz="2799" i="1" spc="-27" dirty="0">
                <a:solidFill>
                  <a:srgbClr val="000000"/>
                </a:solidFill>
                <a:latin typeface="EB Garamond Italics"/>
                <a:ea typeface="EB Garamond Italics"/>
                <a:cs typeface="EB Garamond Italics"/>
                <a:sym typeface="EB Garamond Italics"/>
              </a:rPr>
              <a:t>"Mild right lower lobe pneumonia. No pleural effusion."</a:t>
            </a:r>
          </a:p>
          <a:p>
            <a:pPr algn="l">
              <a:lnSpc>
                <a:spcPts val="4199"/>
              </a:lnSpc>
            </a:pPr>
            <a:r>
              <a:rPr lang="en-US" sz="2799" b="1" spc="-27" dirty="0">
                <a:solidFill>
                  <a:srgbClr val="000000"/>
                </a:solidFill>
                <a:latin typeface="EB Garamond Semi-Bold"/>
                <a:ea typeface="EB Garamond Semi-Bold"/>
                <a:cs typeface="EB Garamond Semi-Bold"/>
                <a:sym typeface="EB Garamond Semi-Bold"/>
              </a:rPr>
              <a:t>NLP Output</a:t>
            </a:r>
          </a:p>
          <a:p>
            <a:pPr marL="604518" lvl="1" indent="-302259" algn="l">
              <a:lnSpc>
                <a:spcPts val="4199"/>
              </a:lnSpc>
              <a:buFont typeface="Arial"/>
              <a:buChar char="•"/>
            </a:pPr>
            <a:r>
              <a:rPr lang="en-US" sz="2799" spc="-27" dirty="0">
                <a:solidFill>
                  <a:srgbClr val="000000"/>
                </a:solidFill>
                <a:latin typeface="EB Garamond"/>
                <a:ea typeface="EB Garamond"/>
                <a:cs typeface="EB Garamond"/>
                <a:sym typeface="EB Garamond"/>
              </a:rPr>
              <a:t>Disease: Pneumonia</a:t>
            </a:r>
          </a:p>
          <a:p>
            <a:pPr marL="604518" lvl="1" indent="-302259" algn="l">
              <a:lnSpc>
                <a:spcPts val="4199"/>
              </a:lnSpc>
              <a:buFont typeface="Arial"/>
              <a:buChar char="•"/>
            </a:pPr>
            <a:r>
              <a:rPr lang="en-US" sz="2799" spc="-27" dirty="0">
                <a:solidFill>
                  <a:srgbClr val="000000"/>
                </a:solidFill>
                <a:latin typeface="EB Garamond"/>
                <a:ea typeface="EB Garamond"/>
                <a:cs typeface="EB Garamond"/>
                <a:sym typeface="EB Garamond"/>
              </a:rPr>
              <a:t>Location: Right Lower Lobe</a:t>
            </a:r>
          </a:p>
          <a:p>
            <a:pPr marL="604518" lvl="1" indent="-302259" algn="l">
              <a:lnSpc>
                <a:spcPts val="4199"/>
              </a:lnSpc>
              <a:buFont typeface="Arial"/>
              <a:buChar char="•"/>
            </a:pPr>
            <a:r>
              <a:rPr lang="en-US" sz="2799" spc="-27" dirty="0">
                <a:solidFill>
                  <a:srgbClr val="000000"/>
                </a:solidFill>
                <a:latin typeface="EB Garamond"/>
                <a:ea typeface="EB Garamond"/>
                <a:cs typeface="EB Garamond"/>
                <a:sym typeface="EB Garamond"/>
              </a:rPr>
              <a:t>Pleural Effusion: Absent</a:t>
            </a:r>
          </a:p>
          <a:p>
            <a:pPr algn="l">
              <a:lnSpc>
                <a:spcPts val="4199"/>
              </a:lnSpc>
            </a:pPr>
            <a:endParaRPr lang="en-US" sz="2799" spc="-27" dirty="0">
              <a:solidFill>
                <a:srgbClr val="000000"/>
              </a:solidFill>
              <a:latin typeface="EB Garamond"/>
              <a:ea typeface="EB Garamond"/>
              <a:cs typeface="EB Garamond"/>
              <a:sym typeface="EB Garamond"/>
            </a:endParaRPr>
          </a:p>
        </p:txBody>
      </p:sp>
      <p:sp>
        <p:nvSpPr>
          <p:cNvPr id="7" name="TextBox 7"/>
          <p:cNvSpPr txBox="1"/>
          <p:nvPr/>
        </p:nvSpPr>
        <p:spPr>
          <a:xfrm>
            <a:off x="570017" y="5387413"/>
            <a:ext cx="13657405" cy="1731645"/>
          </a:xfrm>
          <a:prstGeom prst="rect">
            <a:avLst/>
          </a:prstGeom>
        </p:spPr>
        <p:txBody>
          <a:bodyPr lIns="0" tIns="0" rIns="0" bIns="0" rtlCol="0" anchor="t">
            <a:spAutoFit/>
          </a:bodyPr>
          <a:lstStyle/>
          <a:p>
            <a:pPr marL="496571" lvl="1" indent="-248285" algn="l">
              <a:lnSpc>
                <a:spcPts val="3450"/>
              </a:lnSpc>
              <a:buFont typeface="Arial"/>
              <a:buChar char="•"/>
            </a:pPr>
            <a:r>
              <a:rPr lang="en-US" sz="2300" spc="-23">
                <a:solidFill>
                  <a:srgbClr val="000000"/>
                </a:solidFill>
                <a:latin typeface="EB Garamond"/>
                <a:ea typeface="EB Garamond"/>
                <a:cs typeface="EB Garamond"/>
                <a:sym typeface="EB Garamond"/>
              </a:rPr>
              <a:t>Different studies used different datasets.</a:t>
            </a:r>
          </a:p>
          <a:p>
            <a:pPr marL="496571" lvl="1" indent="-248285" algn="l">
              <a:lnSpc>
                <a:spcPts val="3450"/>
              </a:lnSpc>
              <a:buFont typeface="Arial"/>
              <a:buChar char="•"/>
            </a:pPr>
            <a:r>
              <a:rPr lang="en-US" sz="2300" spc="-23">
                <a:solidFill>
                  <a:srgbClr val="000000"/>
                </a:solidFill>
                <a:latin typeface="EB Garamond"/>
                <a:ea typeface="EB Garamond"/>
                <a:cs typeface="EB Garamond"/>
                <a:sym typeface="EB Garamond"/>
              </a:rPr>
              <a:t>Many datasets were private.</a:t>
            </a:r>
          </a:p>
          <a:p>
            <a:pPr marL="496571" lvl="1" indent="-248285" algn="l">
              <a:lnSpc>
                <a:spcPts val="3450"/>
              </a:lnSpc>
              <a:buFont typeface="Arial"/>
              <a:buChar char="•"/>
            </a:pPr>
            <a:r>
              <a:rPr lang="en-US" sz="2300" spc="-23">
                <a:solidFill>
                  <a:srgbClr val="000000"/>
                </a:solidFill>
                <a:latin typeface="EB Garamond"/>
                <a:ea typeface="EB Garamond"/>
                <a:cs typeface="EB Garamond"/>
                <a:sym typeface="EB Garamond"/>
              </a:rPr>
              <a:t>No common evaluation standard.</a:t>
            </a:r>
          </a:p>
          <a:p>
            <a:pPr algn="l">
              <a:lnSpc>
                <a:spcPts val="3450"/>
              </a:lnSpc>
            </a:pPr>
            <a:endParaRPr lang="en-US" sz="2300" spc="-23">
              <a:solidFill>
                <a:srgbClr val="000000"/>
              </a:solidFill>
              <a:latin typeface="EB Garamond"/>
              <a:ea typeface="EB Garamond"/>
              <a:cs typeface="EB Garamond"/>
              <a:sym typeface="EB Garamond"/>
            </a:endParaRPr>
          </a:p>
        </p:txBody>
      </p:sp>
      <p:sp>
        <p:nvSpPr>
          <p:cNvPr id="8" name="TextBox 8"/>
          <p:cNvSpPr txBox="1"/>
          <p:nvPr/>
        </p:nvSpPr>
        <p:spPr>
          <a:xfrm>
            <a:off x="571380" y="4874968"/>
            <a:ext cx="5211632" cy="417195"/>
          </a:xfrm>
          <a:prstGeom prst="rect">
            <a:avLst/>
          </a:prstGeom>
        </p:spPr>
        <p:txBody>
          <a:bodyPr lIns="0" tIns="0" rIns="0" bIns="0" rtlCol="0" anchor="t">
            <a:spAutoFit/>
          </a:bodyPr>
          <a:lstStyle/>
          <a:p>
            <a:pPr algn="l">
              <a:lnSpc>
                <a:spcPts val="3450"/>
              </a:lnSpc>
            </a:pPr>
            <a:r>
              <a:rPr lang="en-US" sz="2300" b="1" spc="-23" dirty="0">
                <a:solidFill>
                  <a:srgbClr val="000000"/>
                </a:solidFill>
                <a:latin typeface="EB Garamond Semi-Bold"/>
                <a:ea typeface="EB Garamond Semi-Bold"/>
                <a:cs typeface="EB Garamond Semi-Bold"/>
                <a:sym typeface="EB Garamond Semi-Bold"/>
              </a:rPr>
              <a:t>LIMITATIONS</a:t>
            </a:r>
          </a:p>
        </p:txBody>
      </p:sp>
      <p:sp>
        <p:nvSpPr>
          <p:cNvPr id="9" name="TextBox 9"/>
          <p:cNvSpPr txBox="1"/>
          <p:nvPr/>
        </p:nvSpPr>
        <p:spPr>
          <a:xfrm>
            <a:off x="570017" y="7223833"/>
            <a:ext cx="5211632" cy="417195"/>
          </a:xfrm>
          <a:prstGeom prst="rect">
            <a:avLst/>
          </a:prstGeom>
        </p:spPr>
        <p:txBody>
          <a:bodyPr lIns="0" tIns="0" rIns="0" bIns="0" rtlCol="0" anchor="t">
            <a:spAutoFit/>
          </a:bodyPr>
          <a:lstStyle/>
          <a:p>
            <a:pPr algn="l">
              <a:lnSpc>
                <a:spcPts val="3450"/>
              </a:lnSpc>
            </a:pPr>
            <a:r>
              <a:rPr lang="en-US" sz="2300" b="1" spc="-23">
                <a:solidFill>
                  <a:srgbClr val="000000"/>
                </a:solidFill>
                <a:latin typeface="EB Garamond Semi-Bold"/>
                <a:ea typeface="EB Garamond Semi-Bold"/>
                <a:cs typeface="EB Garamond Semi-Bold"/>
                <a:sym typeface="EB Garamond Semi-Bold"/>
              </a:rPr>
              <a:t>FUTURE WORK</a:t>
            </a:r>
          </a:p>
        </p:txBody>
      </p:sp>
      <p:sp>
        <p:nvSpPr>
          <p:cNvPr id="10" name="TextBox 10"/>
          <p:cNvSpPr txBox="1"/>
          <p:nvPr/>
        </p:nvSpPr>
        <p:spPr>
          <a:xfrm>
            <a:off x="571380" y="7805810"/>
            <a:ext cx="13657405" cy="1731645"/>
          </a:xfrm>
          <a:prstGeom prst="rect">
            <a:avLst/>
          </a:prstGeom>
        </p:spPr>
        <p:txBody>
          <a:bodyPr lIns="0" tIns="0" rIns="0" bIns="0" rtlCol="0" anchor="t">
            <a:spAutoFit/>
          </a:bodyPr>
          <a:lstStyle/>
          <a:p>
            <a:pPr marL="496571" lvl="1" indent="-248285" algn="l">
              <a:lnSpc>
                <a:spcPts val="3450"/>
              </a:lnSpc>
              <a:buFont typeface="Arial"/>
              <a:buChar char="•"/>
            </a:pPr>
            <a:r>
              <a:rPr lang="en-US" sz="2300" spc="-23">
                <a:solidFill>
                  <a:srgbClr val="000000"/>
                </a:solidFill>
                <a:latin typeface="EB Garamond"/>
                <a:ea typeface="EB Garamond"/>
                <a:cs typeface="EB Garamond"/>
                <a:sym typeface="EB Garamond"/>
              </a:rPr>
              <a:t>Develop larger public radiology-report datasets.</a:t>
            </a:r>
          </a:p>
          <a:p>
            <a:pPr marL="496571" lvl="1" indent="-248285" algn="l">
              <a:lnSpc>
                <a:spcPts val="3450"/>
              </a:lnSpc>
              <a:buFont typeface="Arial"/>
              <a:buChar char="•"/>
            </a:pPr>
            <a:r>
              <a:rPr lang="en-US" sz="2300" spc="-23">
                <a:solidFill>
                  <a:srgbClr val="000000"/>
                </a:solidFill>
                <a:latin typeface="EB Garamond"/>
                <a:ea typeface="EB Garamond"/>
                <a:cs typeface="EB Garamond"/>
                <a:sym typeface="EB Garamond"/>
              </a:rPr>
              <a:t>Improve information extraction using advanced LLMs.</a:t>
            </a:r>
          </a:p>
          <a:p>
            <a:pPr marL="496571" lvl="1" indent="-248285" algn="l">
              <a:lnSpc>
                <a:spcPts val="3450"/>
              </a:lnSpc>
              <a:buFont typeface="Arial"/>
              <a:buChar char="•"/>
            </a:pPr>
            <a:r>
              <a:rPr lang="en-US" sz="2300" spc="-23">
                <a:solidFill>
                  <a:srgbClr val="000000"/>
                </a:solidFill>
                <a:latin typeface="EB Garamond"/>
                <a:ea typeface="EB Garamond"/>
                <a:cs typeface="EB Garamond"/>
                <a:sym typeface="EB Garamond"/>
              </a:rPr>
              <a:t>Validate NLP models in real clinical settings.</a:t>
            </a:r>
          </a:p>
          <a:p>
            <a:pPr algn="l">
              <a:lnSpc>
                <a:spcPts val="3450"/>
              </a:lnSpc>
            </a:pPr>
            <a:endParaRPr lang="en-US" sz="2300" spc="-23">
              <a:solidFill>
                <a:srgbClr val="000000"/>
              </a:solidFill>
              <a:latin typeface="EB Garamond"/>
              <a:ea typeface="EB Garamond"/>
              <a:cs typeface="EB Garamond"/>
              <a:sym typeface="EB Garamond"/>
            </a:endParaRPr>
          </a:p>
        </p:txBody>
      </p:sp>
    </p:spTree>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502920"/>
            <a:ext cx="17154144" cy="822960"/>
          </a:xfrm>
          <a:prstGeom prst="rect">
            <a:avLst/>
          </a:prstGeom>
          <a:noFill/>
        </p:spPr>
        <p:txBody>
          <a:bodyPr wrap="square" lIns="0" tIns="0" rIns="0" bIns="0">
            <a:spAutoFit/>
          </a:bodyPr>
          <a:lstStyle/>
          <a:p>
            <a:pPr>
              <a:spcAft>
                <a:spcPts val="600"/>
              </a:spcAft>
            </a:pPr>
            <a:r>
              <a:rPr sz="3800" b="0" dirty="0">
                <a:solidFill>
                  <a:srgbClr val="000000"/>
                </a:solidFill>
                <a:latin typeface="EB Garamond"/>
              </a:rPr>
              <a:t>Phase 2 – Feature Selection</a:t>
            </a:r>
          </a:p>
        </p:txBody>
      </p:sp>
      <p:sp>
        <p:nvSpPr>
          <p:cNvPr id="3" name="TextBox 2"/>
          <p:cNvSpPr txBox="1"/>
          <p:nvPr/>
        </p:nvSpPr>
        <p:spPr>
          <a:xfrm>
            <a:off x="566928" y="1600200"/>
            <a:ext cx="5394960" cy="320040"/>
          </a:xfrm>
          <a:prstGeom prst="rect">
            <a:avLst/>
          </a:prstGeom>
          <a:noFill/>
        </p:spPr>
        <p:txBody>
          <a:bodyPr wrap="square" lIns="0" tIns="0" rIns="0" bIns="0">
            <a:spAutoFit/>
          </a:bodyPr>
          <a:lstStyle/>
          <a:p>
            <a:pPr>
              <a:spcAft>
                <a:spcPts val="600"/>
              </a:spcAft>
            </a:pPr>
            <a:r>
              <a:rPr sz="2200" b="1" dirty="0">
                <a:solidFill>
                  <a:srgbClr val="000000"/>
                </a:solidFill>
                <a:latin typeface="EB Garamond"/>
              </a:rPr>
              <a:t>DATA SOURCE</a:t>
            </a:r>
          </a:p>
        </p:txBody>
      </p:sp>
      <p:sp>
        <p:nvSpPr>
          <p:cNvPr id="4" name="TextBox 3"/>
          <p:cNvSpPr txBox="1"/>
          <p:nvPr/>
        </p:nvSpPr>
        <p:spPr>
          <a:xfrm>
            <a:off x="566928" y="2057400"/>
            <a:ext cx="5394960" cy="3454792"/>
          </a:xfrm>
          <a:prstGeom prst="rect">
            <a:avLst/>
          </a:prstGeom>
          <a:noFill/>
        </p:spPr>
        <p:txBody>
          <a:bodyPr wrap="square" lIns="0" tIns="0" rIns="0" bIns="0">
            <a:spAutoFit/>
          </a:bodyPr>
          <a:lstStyle/>
          <a:p>
            <a:pPr>
              <a:spcAft>
                <a:spcPts val="1300"/>
              </a:spcAft>
            </a:pPr>
            <a:r>
              <a:rPr sz="2400" b="0" dirty="0" err="1">
                <a:solidFill>
                  <a:srgbClr val="000000"/>
                </a:solidFill>
                <a:latin typeface="EB Garamond"/>
              </a:rPr>
              <a:t>OpenI</a:t>
            </a:r>
            <a:r>
              <a:rPr sz="2400" b="0" dirty="0">
                <a:solidFill>
                  <a:srgbClr val="000000"/>
                </a:solidFill>
                <a:latin typeface="EB Garamond"/>
              </a:rPr>
              <a:t> Chest X-ray Collection, Indiana University — public and de-identified</a:t>
            </a:r>
          </a:p>
          <a:p>
            <a:pPr>
              <a:spcAft>
                <a:spcPts val="1300"/>
              </a:spcAft>
            </a:pPr>
            <a:r>
              <a:rPr sz="2400" b="0" dirty="0">
                <a:solidFill>
                  <a:srgbClr val="000000"/>
                </a:solidFill>
                <a:latin typeface="EB Garamond"/>
              </a:rPr>
              <a:t>3,955 radiology reports paired with 7,470 images</a:t>
            </a:r>
          </a:p>
          <a:p>
            <a:pPr>
              <a:spcAft>
                <a:spcPts val="1300"/>
              </a:spcAft>
            </a:pPr>
            <a:r>
              <a:rPr sz="2400" b="0" dirty="0">
                <a:solidFill>
                  <a:srgbClr val="000000"/>
                </a:solidFill>
                <a:latin typeface="EB Garamond"/>
              </a:rPr>
              <a:t>Sections per report: Comparison, Indication, Findings, Impression</a:t>
            </a:r>
          </a:p>
          <a:p>
            <a:pPr>
              <a:spcAft>
                <a:spcPts val="1300"/>
              </a:spcAft>
            </a:pPr>
            <a:r>
              <a:rPr sz="2400" b="0" dirty="0" err="1">
                <a:solidFill>
                  <a:srgbClr val="000000"/>
                </a:solidFill>
                <a:latin typeface="EB Garamond"/>
              </a:rPr>
              <a:t>MeSH</a:t>
            </a:r>
            <a:r>
              <a:rPr sz="2400" b="0" dirty="0">
                <a:solidFill>
                  <a:srgbClr val="000000"/>
                </a:solidFill>
                <a:latin typeface="EB Garamond"/>
              </a:rPr>
              <a:t> and </a:t>
            </a:r>
            <a:r>
              <a:rPr sz="2400" b="0" dirty="0" err="1">
                <a:solidFill>
                  <a:srgbClr val="000000"/>
                </a:solidFill>
                <a:latin typeface="EB Garamond"/>
              </a:rPr>
              <a:t>RadLex</a:t>
            </a:r>
            <a:r>
              <a:rPr sz="2400" b="0" dirty="0">
                <a:solidFill>
                  <a:srgbClr val="000000"/>
                </a:solidFill>
                <a:latin typeface="EB Garamond"/>
              </a:rPr>
              <a:t> annotations available per report</a:t>
            </a:r>
          </a:p>
        </p:txBody>
      </p:sp>
      <p:sp>
        <p:nvSpPr>
          <p:cNvPr id="5" name="TextBox 4"/>
          <p:cNvSpPr txBox="1"/>
          <p:nvPr/>
        </p:nvSpPr>
        <p:spPr>
          <a:xfrm>
            <a:off x="566928" y="6057900"/>
            <a:ext cx="5394960" cy="320040"/>
          </a:xfrm>
          <a:prstGeom prst="rect">
            <a:avLst/>
          </a:prstGeom>
          <a:noFill/>
        </p:spPr>
        <p:txBody>
          <a:bodyPr wrap="square" lIns="0" tIns="0" rIns="0" bIns="0">
            <a:spAutoFit/>
          </a:bodyPr>
          <a:lstStyle/>
          <a:p>
            <a:pPr>
              <a:spcAft>
                <a:spcPts val="600"/>
              </a:spcAft>
            </a:pPr>
            <a:r>
              <a:rPr sz="2200" b="1" dirty="0">
                <a:solidFill>
                  <a:srgbClr val="000000"/>
                </a:solidFill>
                <a:latin typeface="EB Garamond"/>
              </a:rPr>
              <a:t>TARGET LABELS (OUTPUT)</a:t>
            </a:r>
          </a:p>
        </p:txBody>
      </p:sp>
      <p:sp>
        <p:nvSpPr>
          <p:cNvPr id="6" name="TextBox 5"/>
          <p:cNvSpPr txBox="1"/>
          <p:nvPr/>
        </p:nvSpPr>
        <p:spPr>
          <a:xfrm>
            <a:off x="566928" y="6697980"/>
            <a:ext cx="5394960" cy="854080"/>
          </a:xfrm>
          <a:prstGeom prst="rect">
            <a:avLst/>
          </a:prstGeom>
          <a:noFill/>
        </p:spPr>
        <p:txBody>
          <a:bodyPr wrap="square" lIns="0" tIns="0" rIns="0" bIns="0">
            <a:spAutoFit/>
          </a:bodyPr>
          <a:lstStyle/>
          <a:p>
            <a:pPr>
              <a:spcAft>
                <a:spcPts val="900"/>
              </a:spcAft>
            </a:pPr>
            <a:r>
              <a:rPr sz="2400" b="0" dirty="0">
                <a:solidFill>
                  <a:srgbClr val="000000"/>
                </a:solidFill>
                <a:latin typeface="EB Garamond"/>
              </a:rPr>
              <a:t>14 chest findings, </a:t>
            </a:r>
            <a:r>
              <a:rPr sz="2400" b="0" dirty="0" err="1">
                <a:solidFill>
                  <a:srgbClr val="000000"/>
                </a:solidFill>
                <a:latin typeface="EB Garamond"/>
              </a:rPr>
              <a:t>CheXpert</a:t>
            </a:r>
            <a:r>
              <a:rPr sz="2400" b="0" dirty="0">
                <a:solidFill>
                  <a:srgbClr val="000000"/>
                </a:solidFill>
                <a:latin typeface="EB Garamond"/>
              </a:rPr>
              <a:t> label schema</a:t>
            </a:r>
          </a:p>
          <a:p>
            <a:pPr>
              <a:spcAft>
                <a:spcPts val="900"/>
              </a:spcAft>
            </a:pPr>
            <a:r>
              <a:rPr sz="2400" b="0" dirty="0">
                <a:solidFill>
                  <a:srgbClr val="000000"/>
                </a:solidFill>
                <a:latin typeface="EB Garamond"/>
              </a:rPr>
              <a:t>Each label: Positive / Negative / Uncertain</a:t>
            </a:r>
          </a:p>
        </p:txBody>
      </p:sp>
      <p:sp>
        <p:nvSpPr>
          <p:cNvPr id="9" name="TextBox 8"/>
          <p:cNvSpPr txBox="1"/>
          <p:nvPr/>
        </p:nvSpPr>
        <p:spPr>
          <a:xfrm>
            <a:off x="6446520" y="1600200"/>
            <a:ext cx="5394960" cy="320040"/>
          </a:xfrm>
          <a:prstGeom prst="rect">
            <a:avLst/>
          </a:prstGeom>
          <a:noFill/>
        </p:spPr>
        <p:txBody>
          <a:bodyPr wrap="square" lIns="0" tIns="0" rIns="0" bIns="0">
            <a:spAutoFit/>
          </a:bodyPr>
          <a:lstStyle/>
          <a:p>
            <a:pPr>
              <a:spcAft>
                <a:spcPts val="600"/>
              </a:spcAft>
            </a:pPr>
            <a:r>
              <a:rPr sz="2200" b="1" dirty="0">
                <a:solidFill>
                  <a:srgbClr val="000000"/>
                </a:solidFill>
                <a:latin typeface="EB Garamond"/>
              </a:rPr>
              <a:t>FEATURES SELECTED (INPUT)</a:t>
            </a:r>
          </a:p>
        </p:txBody>
      </p:sp>
      <p:sp>
        <p:nvSpPr>
          <p:cNvPr id="10" name="TextBox 9"/>
          <p:cNvSpPr txBox="1"/>
          <p:nvPr/>
        </p:nvSpPr>
        <p:spPr>
          <a:xfrm>
            <a:off x="6446520" y="2057400"/>
            <a:ext cx="5394960" cy="5457904"/>
          </a:xfrm>
          <a:prstGeom prst="rect">
            <a:avLst/>
          </a:prstGeom>
          <a:noFill/>
        </p:spPr>
        <p:txBody>
          <a:bodyPr wrap="square" lIns="0" tIns="0" rIns="0" bIns="0">
            <a:spAutoFit/>
          </a:bodyPr>
          <a:lstStyle/>
          <a:p>
            <a:pPr>
              <a:spcAft>
                <a:spcPts val="1600"/>
              </a:spcAft>
            </a:pPr>
            <a:r>
              <a:rPr sz="2400" b="0" dirty="0">
                <a:solidFill>
                  <a:srgbClr val="000000"/>
                </a:solidFill>
                <a:latin typeface="EB Garamond"/>
              </a:rPr>
              <a:t>Findings section text — the radiologist’s observations</a:t>
            </a:r>
          </a:p>
          <a:p>
            <a:pPr>
              <a:spcAft>
                <a:spcPts val="1600"/>
              </a:spcAft>
            </a:pPr>
            <a:r>
              <a:rPr sz="2400" b="0" dirty="0">
                <a:solidFill>
                  <a:srgbClr val="000000"/>
                </a:solidFill>
                <a:latin typeface="EB Garamond"/>
              </a:rPr>
              <a:t>Impression section text — the diagnostic conclusion</a:t>
            </a:r>
          </a:p>
          <a:p>
            <a:pPr>
              <a:spcAft>
                <a:spcPts val="1600"/>
              </a:spcAft>
            </a:pPr>
            <a:r>
              <a:rPr sz="2400" b="0" dirty="0" err="1">
                <a:solidFill>
                  <a:srgbClr val="000000"/>
                </a:solidFill>
                <a:latin typeface="EB Garamond"/>
              </a:rPr>
              <a:t>WordPiece</a:t>
            </a:r>
            <a:r>
              <a:rPr sz="2400" b="0" dirty="0">
                <a:solidFill>
                  <a:srgbClr val="000000"/>
                </a:solidFill>
                <a:latin typeface="EB Garamond"/>
              </a:rPr>
              <a:t> token sequence, maximum 128 tokens (mean report ≈ 30 tokens)</a:t>
            </a:r>
          </a:p>
          <a:p>
            <a:pPr>
              <a:spcAft>
                <a:spcPts val="1600"/>
              </a:spcAft>
            </a:pPr>
            <a:r>
              <a:rPr sz="2400" b="0" dirty="0">
                <a:solidFill>
                  <a:srgbClr val="000000"/>
                </a:solidFill>
                <a:latin typeface="EB Garamond"/>
              </a:rPr>
              <a:t>Contextual [CLS] embedding produced by </a:t>
            </a:r>
            <a:r>
              <a:rPr sz="2400" b="0" dirty="0" err="1">
                <a:solidFill>
                  <a:srgbClr val="000000"/>
                </a:solidFill>
                <a:latin typeface="EB Garamond"/>
              </a:rPr>
              <a:t>ClinicalBERT</a:t>
            </a:r>
            <a:endParaRPr sz="2400" b="0" dirty="0">
              <a:solidFill>
                <a:srgbClr val="000000"/>
              </a:solidFill>
              <a:latin typeface="EB Garamond"/>
            </a:endParaRPr>
          </a:p>
          <a:p>
            <a:pPr>
              <a:spcAft>
                <a:spcPts val="1600"/>
              </a:spcAft>
            </a:pPr>
            <a:r>
              <a:rPr sz="2400" b="0" dirty="0">
                <a:solidFill>
                  <a:srgbClr val="000000"/>
                </a:solidFill>
                <a:latin typeface="EB Garamond"/>
              </a:rPr>
              <a:t>Negation and uncertainty cues: “no”, “without”, “cannot exclude”</a:t>
            </a:r>
          </a:p>
          <a:p>
            <a:pPr>
              <a:spcAft>
                <a:spcPts val="1600"/>
              </a:spcAft>
            </a:pPr>
            <a:r>
              <a:rPr sz="2400" b="0" dirty="0" err="1">
                <a:solidFill>
                  <a:srgbClr val="000000"/>
                </a:solidFill>
                <a:latin typeface="EB Garamond"/>
              </a:rPr>
              <a:t>MeSH</a:t>
            </a:r>
            <a:r>
              <a:rPr sz="2400" b="0" dirty="0">
                <a:solidFill>
                  <a:srgbClr val="000000"/>
                </a:solidFill>
                <a:latin typeface="EB Garamond"/>
              </a:rPr>
              <a:t> / </a:t>
            </a:r>
            <a:r>
              <a:rPr sz="2400" b="0" dirty="0" err="1">
                <a:solidFill>
                  <a:srgbClr val="000000"/>
                </a:solidFill>
                <a:latin typeface="EB Garamond"/>
              </a:rPr>
              <a:t>RadLex</a:t>
            </a:r>
            <a:r>
              <a:rPr sz="2400" b="0" dirty="0">
                <a:solidFill>
                  <a:srgbClr val="000000"/>
                </a:solidFill>
                <a:latin typeface="EB Garamond"/>
              </a:rPr>
              <a:t> terms, used to supervise label generation</a:t>
            </a:r>
          </a:p>
        </p:txBody>
      </p:sp>
      <p:sp>
        <p:nvSpPr>
          <p:cNvPr id="11" name="TextBox 10"/>
          <p:cNvSpPr txBox="1"/>
          <p:nvPr/>
        </p:nvSpPr>
        <p:spPr>
          <a:xfrm>
            <a:off x="12326112" y="1600200"/>
            <a:ext cx="5394960" cy="320040"/>
          </a:xfrm>
          <a:prstGeom prst="rect">
            <a:avLst/>
          </a:prstGeom>
          <a:noFill/>
        </p:spPr>
        <p:txBody>
          <a:bodyPr wrap="square" lIns="0" tIns="0" rIns="0" bIns="0">
            <a:spAutoFit/>
          </a:bodyPr>
          <a:lstStyle/>
          <a:p>
            <a:pPr>
              <a:spcAft>
                <a:spcPts val="600"/>
              </a:spcAft>
            </a:pPr>
            <a:r>
              <a:rPr sz="2200" b="1">
                <a:solidFill>
                  <a:srgbClr val="000000"/>
                </a:solidFill>
                <a:latin typeface="EB Garamond"/>
              </a:rPr>
              <a:t>FEATURES EXCLUDED — AND WHY</a:t>
            </a:r>
          </a:p>
        </p:txBody>
      </p:sp>
      <p:sp>
        <p:nvSpPr>
          <p:cNvPr id="12" name="TextBox 11"/>
          <p:cNvSpPr txBox="1"/>
          <p:nvPr/>
        </p:nvSpPr>
        <p:spPr>
          <a:xfrm>
            <a:off x="12326112" y="2057400"/>
            <a:ext cx="5394960" cy="4883388"/>
          </a:xfrm>
          <a:prstGeom prst="rect">
            <a:avLst/>
          </a:prstGeom>
          <a:noFill/>
        </p:spPr>
        <p:txBody>
          <a:bodyPr wrap="square" lIns="0" tIns="0" rIns="0" bIns="0">
            <a:spAutoFit/>
          </a:bodyPr>
          <a:lstStyle/>
          <a:p>
            <a:pPr>
              <a:spcAft>
                <a:spcPts val="1600"/>
              </a:spcAft>
            </a:pPr>
            <a:r>
              <a:rPr sz="2400" b="0" dirty="0">
                <a:solidFill>
                  <a:srgbClr val="000000"/>
                </a:solidFill>
                <a:latin typeface="EB Garamond"/>
              </a:rPr>
              <a:t>X-ray images — this is a text information-extraction task, not image classification</a:t>
            </a:r>
          </a:p>
          <a:p>
            <a:pPr>
              <a:spcAft>
                <a:spcPts val="1600"/>
              </a:spcAft>
            </a:pPr>
            <a:r>
              <a:rPr sz="2400" b="0" dirty="0">
                <a:solidFill>
                  <a:srgbClr val="000000"/>
                </a:solidFill>
                <a:latin typeface="EB Garamond"/>
              </a:rPr>
              <a:t>Comparison section — refers to prior studies, not the current examination</a:t>
            </a:r>
          </a:p>
          <a:p>
            <a:pPr>
              <a:spcAft>
                <a:spcPts val="1600"/>
              </a:spcAft>
            </a:pPr>
            <a:r>
              <a:rPr sz="2400" b="0" dirty="0">
                <a:solidFill>
                  <a:srgbClr val="000000"/>
                </a:solidFill>
                <a:latin typeface="EB Garamond"/>
              </a:rPr>
              <a:t>Indication section — states the referral symptom and would leak the answer into the label</a:t>
            </a:r>
          </a:p>
          <a:p>
            <a:pPr>
              <a:spcAft>
                <a:spcPts val="1600"/>
              </a:spcAft>
            </a:pPr>
            <a:r>
              <a:rPr sz="2400" b="0" dirty="0">
                <a:solidFill>
                  <a:srgbClr val="000000"/>
                </a:solidFill>
                <a:latin typeface="EB Garamond"/>
              </a:rPr>
              <a:t>Patient identifiers — already removed during de-identification</a:t>
            </a:r>
          </a:p>
          <a:p>
            <a:pPr>
              <a:spcAft>
                <a:spcPts val="1600"/>
              </a:spcAft>
            </a:pPr>
            <a:r>
              <a:rPr sz="2400" b="0" dirty="0">
                <a:solidFill>
                  <a:srgbClr val="000000"/>
                </a:solidFill>
                <a:latin typeface="EB Garamond"/>
              </a:rPr>
              <a:t>Reports with no Findings section — incomplete records, discarded</a:t>
            </a:r>
          </a:p>
        </p:txBody>
      </p:sp>
      <p:sp>
        <p:nvSpPr>
          <p:cNvPr id="13" name="TextBox 12"/>
          <p:cNvSpPr txBox="1"/>
          <p:nvPr/>
        </p:nvSpPr>
        <p:spPr>
          <a:xfrm>
            <a:off x="566928" y="8496300"/>
            <a:ext cx="17154144" cy="738664"/>
          </a:xfrm>
          <a:prstGeom prst="rect">
            <a:avLst/>
          </a:prstGeom>
          <a:noFill/>
        </p:spPr>
        <p:txBody>
          <a:bodyPr wrap="square" lIns="0" tIns="0" rIns="0" bIns="0">
            <a:spAutoFit/>
          </a:bodyPr>
          <a:lstStyle/>
          <a:p>
            <a:pPr>
              <a:spcAft>
                <a:spcPts val="500"/>
              </a:spcAft>
            </a:pPr>
            <a:r>
              <a:rPr sz="2400" b="1" dirty="0">
                <a:solidFill>
                  <a:srgbClr val="000000"/>
                </a:solidFill>
                <a:latin typeface="EB Garamond"/>
              </a:rPr>
              <a:t>JUSTIFICATION — LINK TO THE BASE PAPER:  </a:t>
            </a:r>
            <a:r>
              <a:rPr sz="2400" b="0" dirty="0">
                <a:solidFill>
                  <a:srgbClr val="000000"/>
                </a:solidFill>
                <a:latin typeface="EB Garamond"/>
              </a:rPr>
              <a:t>AUC 0.99 for single-anatomical-site extraction vs 0.95 for multiple sites, with anatomical scope the only significant driver of heterogeneity. Restricting features to chest-only diagnostic text </a:t>
            </a:r>
            <a:r>
              <a:rPr sz="2400" b="0" dirty="0" err="1">
                <a:solidFill>
                  <a:srgbClr val="000000"/>
                </a:solidFill>
                <a:latin typeface="EB Garamond"/>
              </a:rPr>
              <a:t>minimises</a:t>
            </a:r>
            <a:r>
              <a:rPr sz="2400" b="0" dirty="0">
                <a:solidFill>
                  <a:srgbClr val="000000"/>
                </a:solidFill>
                <a:latin typeface="EB Garamond"/>
              </a:rPr>
              <a:t> terminology variability.</a:t>
            </a:r>
          </a:p>
        </p:txBody>
      </p:sp>
      <p:cxnSp>
        <p:nvCxnSpPr>
          <p:cNvPr id="14" name="Straight Connector 13">
            <a:extLst>
              <a:ext uri="{FF2B5EF4-FFF2-40B4-BE49-F238E27FC236}">
                <a16:creationId xmlns:a16="http://schemas.microsoft.com/office/drawing/2014/main" id="{40173BA2-9781-921B-F4C6-C092FC9DCD88}"/>
              </a:ext>
            </a:extLst>
          </p:cNvPr>
          <p:cNvCxnSpPr>
            <a:cxnSpLocks/>
          </p:cNvCxnSpPr>
          <p:nvPr/>
        </p:nvCxnSpPr>
        <p:spPr>
          <a:xfrm>
            <a:off x="6096000" y="1325880"/>
            <a:ext cx="0" cy="648462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7A1EAC1D-7FEE-3E88-AEFA-898621DD239A}"/>
              </a:ext>
            </a:extLst>
          </p:cNvPr>
          <p:cNvCxnSpPr>
            <a:cxnSpLocks/>
          </p:cNvCxnSpPr>
          <p:nvPr/>
        </p:nvCxnSpPr>
        <p:spPr>
          <a:xfrm>
            <a:off x="12039600" y="1333500"/>
            <a:ext cx="0" cy="6484620"/>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A5D650DA-E8D9-AAD8-2295-4C6E352A4866}"/>
              </a:ext>
            </a:extLst>
          </p:cNvPr>
          <p:cNvCxnSpPr>
            <a:cxnSpLocks/>
          </p:cNvCxnSpPr>
          <p:nvPr/>
        </p:nvCxnSpPr>
        <p:spPr>
          <a:xfrm>
            <a:off x="457200" y="8115300"/>
            <a:ext cx="17263872" cy="0"/>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5849B6FA-3E7B-5711-74D4-6F6BD4080F7A}"/>
              </a:ext>
            </a:extLst>
          </p:cNvPr>
          <p:cNvCxnSpPr>
            <a:cxnSpLocks/>
          </p:cNvCxnSpPr>
          <p:nvPr/>
        </p:nvCxnSpPr>
        <p:spPr>
          <a:xfrm>
            <a:off x="381000" y="5753100"/>
            <a:ext cx="5410200"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502920"/>
            <a:ext cx="17154144" cy="584775"/>
          </a:xfrm>
          <a:prstGeom prst="rect">
            <a:avLst/>
          </a:prstGeom>
          <a:noFill/>
        </p:spPr>
        <p:txBody>
          <a:bodyPr wrap="square" lIns="0" tIns="0" rIns="0" bIns="0">
            <a:spAutoFit/>
          </a:bodyPr>
          <a:lstStyle/>
          <a:p>
            <a:pPr>
              <a:spcAft>
                <a:spcPts val="600"/>
              </a:spcAft>
            </a:pPr>
            <a:r>
              <a:rPr sz="3800" b="0" dirty="0">
                <a:solidFill>
                  <a:srgbClr val="000000"/>
                </a:solidFill>
                <a:latin typeface="EB Garamond"/>
              </a:rPr>
              <a:t>Existing Algorithms – Literature Survey </a:t>
            </a:r>
          </a:p>
        </p:txBody>
      </p:sp>
      <p:sp>
        <p:nvSpPr>
          <p:cNvPr id="3" name="TextBox 2"/>
          <p:cNvSpPr txBox="1"/>
          <p:nvPr/>
        </p:nvSpPr>
        <p:spPr>
          <a:xfrm>
            <a:off x="566928" y="1257300"/>
            <a:ext cx="17154144" cy="365760"/>
          </a:xfrm>
          <a:prstGeom prst="rect">
            <a:avLst/>
          </a:prstGeom>
          <a:noFill/>
        </p:spPr>
        <p:txBody>
          <a:bodyPr wrap="square" lIns="0" tIns="0" rIns="0" bIns="0">
            <a:spAutoFit/>
          </a:bodyPr>
          <a:lstStyle/>
          <a:p>
            <a:pPr>
              <a:spcAft>
                <a:spcPts val="600"/>
              </a:spcAft>
            </a:pPr>
            <a:r>
              <a:rPr sz="2400" b="0" dirty="0">
                <a:solidFill>
                  <a:srgbClr val="000000"/>
                </a:solidFill>
                <a:latin typeface="EB Garamond"/>
              </a:rPr>
              <a:t>Evolution of methods: rule-based → classical ML → deep learning, tracked chronologically</a:t>
            </a:r>
          </a:p>
        </p:txBody>
      </p:sp>
      <p:graphicFrame>
        <p:nvGraphicFramePr>
          <p:cNvPr id="4" name="Table 3"/>
          <p:cNvGraphicFramePr>
            <a:graphicFrameLocks noGrp="1"/>
          </p:cNvGraphicFramePr>
          <p:nvPr>
            <p:extLst>
              <p:ext uri="{D42A27DB-BD31-4B8C-83A1-F6EECF244321}">
                <p14:modId xmlns:p14="http://schemas.microsoft.com/office/powerpoint/2010/main" val="2002925331"/>
              </p:ext>
            </p:extLst>
          </p:nvPr>
        </p:nvGraphicFramePr>
        <p:xfrm>
          <a:off x="566928" y="1790700"/>
          <a:ext cx="17154143" cy="6035040"/>
        </p:xfrm>
        <a:graphic>
          <a:graphicData uri="http://schemas.openxmlformats.org/drawingml/2006/table">
            <a:tbl>
              <a:tblPr firstRow="1">
                <a:tableStyleId>{5940675A-B579-460E-94D1-54222C63F5DA}</a:tableStyleId>
              </a:tblPr>
              <a:tblGrid>
                <a:gridCol w="21031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749039">
                  <a:extLst>
                    <a:ext uri="{9D8B030D-6E8A-4147-A177-3AD203B41FA5}">
                      <a16:colId xmlns:a16="http://schemas.microsoft.com/office/drawing/2014/main" val="20003"/>
                    </a:ext>
                  </a:extLst>
                </a:gridCol>
                <a:gridCol w="3895344">
                  <a:extLst>
                    <a:ext uri="{9D8B030D-6E8A-4147-A177-3AD203B41FA5}">
                      <a16:colId xmlns:a16="http://schemas.microsoft.com/office/drawing/2014/main" val="20004"/>
                    </a:ext>
                  </a:extLst>
                </a:gridCol>
              </a:tblGrid>
              <a:tr h="457200">
                <a:tc>
                  <a:txBody>
                    <a:bodyPr/>
                    <a:lstStyle/>
                    <a:p>
                      <a:r>
                        <a:rPr sz="2400" b="1">
                          <a:solidFill>
                            <a:srgbClr val="000000"/>
                          </a:solidFill>
                          <a:latin typeface="EB Garamond"/>
                        </a:rPr>
                        <a:t>Author and Year</a:t>
                      </a:r>
                    </a:p>
                  </a:txBody>
                  <a:tcPr marL="73152" marR="73152">
                    <a:solidFill>
                      <a:srgbClr val="FFFFFF"/>
                    </a:solidFill>
                  </a:tcPr>
                </a:tc>
                <a:tc>
                  <a:txBody>
                    <a:bodyPr/>
                    <a:lstStyle/>
                    <a:p>
                      <a:r>
                        <a:rPr sz="2400" b="1">
                          <a:solidFill>
                            <a:srgbClr val="000000"/>
                          </a:solidFill>
                          <a:latin typeface="EB Garamond"/>
                        </a:rPr>
                        <a:t>Title</a:t>
                      </a:r>
                    </a:p>
                  </a:txBody>
                  <a:tcPr marL="73152" marR="73152">
                    <a:solidFill>
                      <a:srgbClr val="FFFFFF"/>
                    </a:solidFill>
                  </a:tcPr>
                </a:tc>
                <a:tc>
                  <a:txBody>
                    <a:bodyPr/>
                    <a:lstStyle/>
                    <a:p>
                      <a:r>
                        <a:rPr sz="2400" b="1">
                          <a:solidFill>
                            <a:srgbClr val="000000"/>
                          </a:solidFill>
                          <a:latin typeface="EB Garamond"/>
                        </a:rPr>
                        <a:t>Objective of the Work</a:t>
                      </a:r>
                    </a:p>
                  </a:txBody>
                  <a:tcPr marL="73152" marR="73152">
                    <a:solidFill>
                      <a:srgbClr val="FFFFFF"/>
                    </a:solidFill>
                  </a:tcPr>
                </a:tc>
                <a:tc>
                  <a:txBody>
                    <a:bodyPr/>
                    <a:lstStyle/>
                    <a:p>
                      <a:r>
                        <a:rPr sz="2400" b="1">
                          <a:solidFill>
                            <a:srgbClr val="000000"/>
                          </a:solidFill>
                          <a:latin typeface="EB Garamond"/>
                        </a:rPr>
                        <a:t>Achievements of the Work</a:t>
                      </a:r>
                    </a:p>
                  </a:txBody>
                  <a:tcPr marL="73152" marR="73152">
                    <a:solidFill>
                      <a:srgbClr val="FFFFFF"/>
                    </a:solidFill>
                  </a:tcPr>
                </a:tc>
                <a:tc>
                  <a:txBody>
                    <a:bodyPr/>
                    <a:lstStyle/>
                    <a:p>
                      <a:r>
                        <a:rPr sz="2400" b="1">
                          <a:solidFill>
                            <a:srgbClr val="000000"/>
                          </a:solidFill>
                          <a:latin typeface="EB Garamond"/>
                        </a:rPr>
                        <a:t>Gaps from the Work</a:t>
                      </a:r>
                    </a:p>
                  </a:txBody>
                  <a:tcPr marL="73152" marR="73152">
                    <a:solidFill>
                      <a:srgbClr val="FFFFFF"/>
                    </a:solidFill>
                  </a:tcPr>
                </a:tc>
                <a:extLst>
                  <a:ext uri="{0D108BD9-81ED-4DB2-BD59-A6C34878D82A}">
                    <a16:rowId xmlns:a16="http://schemas.microsoft.com/office/drawing/2014/main" val="10000"/>
                  </a:ext>
                </a:extLst>
              </a:tr>
              <a:tr h="1737360">
                <a:tc>
                  <a:txBody>
                    <a:bodyPr/>
                    <a:lstStyle/>
                    <a:p>
                      <a:r>
                        <a:rPr sz="2400" b="0">
                          <a:solidFill>
                            <a:srgbClr val="000000"/>
                          </a:solidFill>
                          <a:latin typeface="EB Garamond"/>
                        </a:rPr>
                        <a:t>Cotik et al., 2015</a:t>
                      </a:r>
                    </a:p>
                  </a:txBody>
                  <a:tcPr marL="73152" marR="73152">
                    <a:solidFill>
                      <a:srgbClr val="FFFFFF"/>
                    </a:solidFill>
                  </a:tcPr>
                </a:tc>
                <a:tc>
                  <a:txBody>
                    <a:bodyPr/>
                    <a:lstStyle/>
                    <a:p>
                      <a:r>
                        <a:rPr sz="2400" b="0">
                          <a:solidFill>
                            <a:srgbClr val="000000"/>
                          </a:solidFill>
                          <a:latin typeface="EB Garamond"/>
                        </a:rPr>
                        <a:t>An Approach for Automatic Classification of Radiology Reports in Spanish</a:t>
                      </a:r>
                    </a:p>
                  </a:txBody>
                  <a:tcPr marL="73152" marR="73152">
                    <a:solidFill>
                      <a:srgbClr val="FFFFFF"/>
                    </a:solidFill>
                  </a:tcPr>
                </a:tc>
                <a:tc>
                  <a:txBody>
                    <a:bodyPr/>
                    <a:lstStyle/>
                    <a:p>
                      <a:r>
                        <a:rPr sz="2400" b="0">
                          <a:solidFill>
                            <a:srgbClr val="000000"/>
                          </a:solidFill>
                          <a:latin typeface="EB Garamond"/>
                        </a:rPr>
                        <a:t>Rule- and lexicon-based classification of reports, with negation handling</a:t>
                      </a:r>
                    </a:p>
                  </a:txBody>
                  <a:tcPr marL="73152" marR="73152">
                    <a:solidFill>
                      <a:srgbClr val="FFFFFF"/>
                    </a:solidFill>
                  </a:tcPr>
                </a:tc>
                <a:tc>
                  <a:txBody>
                    <a:bodyPr/>
                    <a:lstStyle/>
                    <a:p>
                      <a:r>
                        <a:rPr sz="2400" b="0">
                          <a:solidFill>
                            <a:srgbClr val="000000"/>
                          </a:solidFill>
                          <a:latin typeface="EB Garamond"/>
                        </a:rPr>
                        <a:t>Showed extraction is feasible in a non-English language with no training data</a:t>
                      </a:r>
                    </a:p>
                  </a:txBody>
                  <a:tcPr marL="73152" marR="73152">
                    <a:solidFill>
                      <a:srgbClr val="FFFFFF"/>
                    </a:solidFill>
                  </a:tcPr>
                </a:tc>
                <a:tc>
                  <a:txBody>
                    <a:bodyPr/>
                    <a:lstStyle/>
                    <a:p>
                      <a:r>
                        <a:rPr sz="2400" b="0">
                          <a:solidFill>
                            <a:srgbClr val="000000"/>
                          </a:solidFill>
                          <a:latin typeface="EB Garamond"/>
                        </a:rPr>
                        <a:t>Hand-crafted rules; only 248 reports; multi-site; low specificity; does not generalise</a:t>
                      </a:r>
                    </a:p>
                  </a:txBody>
                  <a:tcPr marL="73152" marR="73152">
                    <a:solidFill>
                      <a:srgbClr val="FFFFFF"/>
                    </a:solidFill>
                  </a:tcPr>
                </a:tc>
                <a:extLst>
                  <a:ext uri="{0D108BD9-81ED-4DB2-BD59-A6C34878D82A}">
                    <a16:rowId xmlns:a16="http://schemas.microsoft.com/office/drawing/2014/main" val="10001"/>
                  </a:ext>
                </a:extLst>
              </a:tr>
              <a:tr h="1737360">
                <a:tc>
                  <a:txBody>
                    <a:bodyPr/>
                    <a:lstStyle/>
                    <a:p>
                      <a:r>
                        <a:rPr sz="2400" b="0">
                          <a:solidFill>
                            <a:srgbClr val="000000"/>
                          </a:solidFill>
                          <a:latin typeface="EB Garamond"/>
                        </a:rPr>
                        <a:t>Hassanpour &amp; Langlotz, 2016</a:t>
                      </a:r>
                    </a:p>
                  </a:txBody>
                  <a:tcPr marL="73152" marR="73152">
                    <a:solidFill>
                      <a:srgbClr val="FFFFFF"/>
                    </a:solidFill>
                  </a:tcPr>
                </a:tc>
                <a:tc>
                  <a:txBody>
                    <a:bodyPr/>
                    <a:lstStyle/>
                    <a:p>
                      <a:r>
                        <a:rPr sz="2400" b="0">
                          <a:solidFill>
                            <a:srgbClr val="000000"/>
                          </a:solidFill>
                          <a:latin typeface="EB Garamond"/>
                        </a:rPr>
                        <a:t>Information Extraction from Multi-Institutional Radiology Reports</a:t>
                      </a:r>
                    </a:p>
                  </a:txBody>
                  <a:tcPr marL="73152" marR="73152">
                    <a:solidFill>
                      <a:srgbClr val="FFFFFF"/>
                    </a:solidFill>
                  </a:tcPr>
                </a:tc>
                <a:tc>
                  <a:txBody>
                    <a:bodyPr/>
                    <a:lstStyle/>
                    <a:p>
                      <a:r>
                        <a:rPr sz="2400" b="0">
                          <a:solidFill>
                            <a:srgbClr val="000000"/>
                          </a:solidFill>
                          <a:latin typeface="EB Garamond"/>
                        </a:rPr>
                        <a:t>Machine learning (CRF / MaxEnt) extraction of clinical entities across hospitals</a:t>
                      </a:r>
                    </a:p>
                  </a:txBody>
                  <a:tcPr marL="73152" marR="73152">
                    <a:solidFill>
                      <a:srgbClr val="FFFFFF"/>
                    </a:solidFill>
                  </a:tcPr>
                </a:tc>
                <a:tc>
                  <a:txBody>
                    <a:bodyPr/>
                    <a:lstStyle/>
                    <a:p>
                      <a:r>
                        <a:rPr sz="2400" b="0">
                          <a:solidFill>
                            <a:srgbClr val="000000"/>
                          </a:solidFill>
                          <a:latin typeface="EB Garamond"/>
                        </a:rPr>
                        <a:t>Multi-centre with external validation; 69,400 entities; high accuracy</a:t>
                      </a:r>
                    </a:p>
                  </a:txBody>
                  <a:tcPr marL="73152" marR="73152">
                    <a:solidFill>
                      <a:srgbClr val="FFFFFF"/>
                    </a:solidFill>
                  </a:tcPr>
                </a:tc>
                <a:tc>
                  <a:txBody>
                    <a:bodyPr/>
                    <a:lstStyle/>
                    <a:p>
                      <a:r>
                        <a:rPr sz="2400" b="0">
                          <a:solidFill>
                            <a:srgbClr val="000000"/>
                          </a:solidFill>
                          <a:latin typeface="EB Garamond"/>
                        </a:rPr>
                        <a:t>Needs large manual annotation and hand-engineered features; private data</a:t>
                      </a:r>
                    </a:p>
                  </a:txBody>
                  <a:tcPr marL="73152" marR="73152">
                    <a:solidFill>
                      <a:srgbClr val="FFFFFF"/>
                    </a:solidFill>
                  </a:tcPr>
                </a:tc>
                <a:extLst>
                  <a:ext uri="{0D108BD9-81ED-4DB2-BD59-A6C34878D82A}">
                    <a16:rowId xmlns:a16="http://schemas.microsoft.com/office/drawing/2014/main" val="10002"/>
                  </a:ext>
                </a:extLst>
              </a:tr>
              <a:tr h="1737360">
                <a:tc>
                  <a:txBody>
                    <a:bodyPr/>
                    <a:lstStyle/>
                    <a:p>
                      <a:r>
                        <a:rPr sz="2400" b="0">
                          <a:solidFill>
                            <a:srgbClr val="000000"/>
                          </a:solidFill>
                          <a:latin typeface="EB Garamond"/>
                        </a:rPr>
                        <a:t>Chapman et al., 2017</a:t>
                      </a:r>
                    </a:p>
                  </a:txBody>
                  <a:tcPr marL="73152" marR="73152">
                    <a:solidFill>
                      <a:srgbClr val="FFFFFF"/>
                    </a:solidFill>
                  </a:tcPr>
                </a:tc>
                <a:tc>
                  <a:txBody>
                    <a:bodyPr/>
                    <a:lstStyle/>
                    <a:p>
                      <a:r>
                        <a:rPr sz="2400" b="0">
                          <a:solidFill>
                            <a:srgbClr val="000000"/>
                          </a:solidFill>
                          <a:latin typeface="EB Garamond"/>
                        </a:rPr>
                        <a:t>Detecting Evidence of Intra-abdominal Surgical Site Infections from Radiology Reports Using NLP</a:t>
                      </a:r>
                    </a:p>
                  </a:txBody>
                  <a:tcPr marL="73152" marR="73152">
                    <a:solidFill>
                      <a:srgbClr val="FFFFFF"/>
                    </a:solidFill>
                  </a:tcPr>
                </a:tc>
                <a:tc>
                  <a:txBody>
                    <a:bodyPr/>
                    <a:lstStyle/>
                    <a:p>
                      <a:r>
                        <a:rPr sz="2400" b="0" dirty="0">
                          <a:solidFill>
                            <a:srgbClr val="000000"/>
                          </a:solidFill>
                          <a:latin typeface="EB Garamond"/>
                        </a:rPr>
                        <a:t>Detect evidence of post-surgical infection from free-text reports</a:t>
                      </a:r>
                    </a:p>
                  </a:txBody>
                  <a:tcPr marL="73152" marR="73152">
                    <a:solidFill>
                      <a:srgbClr val="FFFFFF"/>
                    </a:solidFill>
                  </a:tcPr>
                </a:tc>
                <a:tc>
                  <a:txBody>
                    <a:bodyPr/>
                    <a:lstStyle/>
                    <a:p>
                      <a:r>
                        <a:rPr sz="2400" b="0">
                          <a:solidFill>
                            <a:srgbClr val="000000"/>
                          </a:solidFill>
                          <a:latin typeface="EB Garamond"/>
                        </a:rPr>
                        <a:t>One of the few studies built on a public, multi-centre dataset</a:t>
                      </a:r>
                    </a:p>
                  </a:txBody>
                  <a:tcPr marL="73152" marR="73152">
                    <a:solidFill>
                      <a:srgbClr val="FFFFFF"/>
                    </a:solidFill>
                  </a:tcPr>
                </a:tc>
                <a:tc>
                  <a:txBody>
                    <a:bodyPr/>
                    <a:lstStyle/>
                    <a:p>
                      <a:r>
                        <a:rPr sz="2400" b="0" dirty="0">
                          <a:solidFill>
                            <a:srgbClr val="000000"/>
                          </a:solidFill>
                          <a:latin typeface="EB Garamond"/>
                        </a:rPr>
                        <a:t>Keyword / rule pipeline; multiple anatomical sites; high false-negative rate</a:t>
                      </a:r>
                    </a:p>
                  </a:txBody>
                  <a:tcPr marL="73152" marR="73152">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66928" y="8191500"/>
            <a:ext cx="17154144" cy="738664"/>
          </a:xfrm>
          <a:prstGeom prst="rect">
            <a:avLst/>
          </a:prstGeom>
          <a:noFill/>
        </p:spPr>
        <p:txBody>
          <a:bodyPr wrap="square" lIns="0" tIns="0" rIns="0" bIns="0">
            <a:spAutoFit/>
          </a:bodyPr>
          <a:lstStyle/>
          <a:p>
            <a:pPr>
              <a:spcAft>
                <a:spcPts val="500"/>
              </a:spcAft>
            </a:pPr>
            <a:r>
              <a:rPr sz="2400" b="1" dirty="0">
                <a:solidFill>
                  <a:srgbClr val="000000"/>
                </a:solidFill>
                <a:latin typeface="EB Garamond"/>
              </a:rPr>
              <a:t>WHY THESE METHODS WERE CHOSEN:  </a:t>
            </a:r>
            <a:r>
              <a:rPr sz="2400" b="0" dirty="0">
                <a:solidFill>
                  <a:srgbClr val="000000"/>
                </a:solidFill>
                <a:latin typeface="EB Garamond"/>
              </a:rPr>
              <a:t>Early work (2015–17) </a:t>
            </a:r>
            <a:r>
              <a:rPr sz="2400" b="0" dirty="0" err="1">
                <a:solidFill>
                  <a:srgbClr val="000000"/>
                </a:solidFill>
                <a:latin typeface="EB Garamond"/>
              </a:rPr>
              <a:t>favoured</a:t>
            </a:r>
            <a:r>
              <a:rPr sz="2400" b="0" dirty="0">
                <a:solidFill>
                  <a:srgbClr val="000000"/>
                </a:solidFill>
                <a:latin typeface="EB Garamond"/>
              </a:rPr>
              <a:t> rule-based and classical-ML pipelines because annotated clinical corpora were scarce and hand-crafted rules or CRFs need little training data, at the cost of </a:t>
            </a:r>
            <a:r>
              <a:rPr sz="2400" b="0" dirty="0" err="1">
                <a:solidFill>
                  <a:srgbClr val="000000"/>
                </a:solidFill>
                <a:latin typeface="EB Garamond"/>
              </a:rPr>
              <a:t>generalising</a:t>
            </a:r>
            <a:r>
              <a:rPr sz="2400" b="0" dirty="0">
                <a:solidFill>
                  <a:srgbClr val="000000"/>
                </a:solidFill>
                <a:latin typeface="EB Garamond"/>
              </a:rPr>
              <a:t> poorly beyond one institution or vocabulary.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502920"/>
            <a:ext cx="17154144" cy="584775"/>
          </a:xfrm>
          <a:prstGeom prst="rect">
            <a:avLst/>
          </a:prstGeom>
          <a:noFill/>
        </p:spPr>
        <p:txBody>
          <a:bodyPr wrap="square" lIns="0" tIns="0" rIns="0" bIns="0">
            <a:spAutoFit/>
          </a:bodyPr>
          <a:lstStyle/>
          <a:p>
            <a:pPr>
              <a:spcAft>
                <a:spcPts val="600"/>
              </a:spcAft>
            </a:pPr>
            <a:r>
              <a:rPr sz="3800" b="0" dirty="0">
                <a:solidFill>
                  <a:srgbClr val="000000"/>
                </a:solidFill>
                <a:latin typeface="EB Garamond"/>
              </a:rPr>
              <a:t>Existing Algorithms – Literature Survey</a:t>
            </a:r>
          </a:p>
        </p:txBody>
      </p:sp>
      <p:sp>
        <p:nvSpPr>
          <p:cNvPr id="3" name="TextBox 2"/>
          <p:cNvSpPr txBox="1"/>
          <p:nvPr/>
        </p:nvSpPr>
        <p:spPr>
          <a:xfrm>
            <a:off x="566928" y="1257300"/>
            <a:ext cx="17154144" cy="365760"/>
          </a:xfrm>
          <a:prstGeom prst="rect">
            <a:avLst/>
          </a:prstGeom>
          <a:noFill/>
        </p:spPr>
        <p:txBody>
          <a:bodyPr wrap="square" lIns="0" tIns="0" rIns="0" bIns="0">
            <a:spAutoFit/>
          </a:bodyPr>
          <a:lstStyle/>
          <a:p>
            <a:pPr>
              <a:spcAft>
                <a:spcPts val="600"/>
              </a:spcAft>
            </a:pPr>
            <a:r>
              <a:rPr sz="2400" b="0" dirty="0">
                <a:solidFill>
                  <a:srgbClr val="000000"/>
                </a:solidFill>
                <a:latin typeface="EB Garamond"/>
              </a:rPr>
              <a:t>Evolution continued: deep learning → large language models</a:t>
            </a:r>
          </a:p>
        </p:txBody>
      </p:sp>
      <p:graphicFrame>
        <p:nvGraphicFramePr>
          <p:cNvPr id="4" name="Table 3"/>
          <p:cNvGraphicFramePr>
            <a:graphicFrameLocks noGrp="1"/>
          </p:cNvGraphicFramePr>
          <p:nvPr>
            <p:extLst>
              <p:ext uri="{D42A27DB-BD31-4B8C-83A1-F6EECF244321}">
                <p14:modId xmlns:p14="http://schemas.microsoft.com/office/powerpoint/2010/main" val="3887303853"/>
              </p:ext>
            </p:extLst>
          </p:nvPr>
        </p:nvGraphicFramePr>
        <p:xfrm>
          <a:off x="566928" y="1790700"/>
          <a:ext cx="17154143" cy="6035040"/>
        </p:xfrm>
        <a:graphic>
          <a:graphicData uri="http://schemas.openxmlformats.org/drawingml/2006/table">
            <a:tbl>
              <a:tblPr firstRow="1">
                <a:tableStyleId>{5940675A-B579-460E-94D1-54222C63F5DA}</a:tableStyleId>
              </a:tblPr>
              <a:tblGrid>
                <a:gridCol w="21031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749039">
                  <a:extLst>
                    <a:ext uri="{9D8B030D-6E8A-4147-A177-3AD203B41FA5}">
                      <a16:colId xmlns:a16="http://schemas.microsoft.com/office/drawing/2014/main" val="20003"/>
                    </a:ext>
                  </a:extLst>
                </a:gridCol>
                <a:gridCol w="3895344">
                  <a:extLst>
                    <a:ext uri="{9D8B030D-6E8A-4147-A177-3AD203B41FA5}">
                      <a16:colId xmlns:a16="http://schemas.microsoft.com/office/drawing/2014/main" val="20004"/>
                    </a:ext>
                  </a:extLst>
                </a:gridCol>
              </a:tblGrid>
              <a:tr h="457200">
                <a:tc>
                  <a:txBody>
                    <a:bodyPr/>
                    <a:lstStyle/>
                    <a:p>
                      <a:r>
                        <a:rPr sz="2400" b="1">
                          <a:solidFill>
                            <a:srgbClr val="000000"/>
                          </a:solidFill>
                          <a:latin typeface="EB Garamond"/>
                        </a:rPr>
                        <a:t>Author and Year</a:t>
                      </a:r>
                    </a:p>
                  </a:txBody>
                  <a:tcPr marL="73152" marR="73152">
                    <a:solidFill>
                      <a:srgbClr val="FFFFFF"/>
                    </a:solidFill>
                  </a:tcPr>
                </a:tc>
                <a:tc>
                  <a:txBody>
                    <a:bodyPr/>
                    <a:lstStyle/>
                    <a:p>
                      <a:r>
                        <a:rPr sz="2400" b="1">
                          <a:solidFill>
                            <a:srgbClr val="000000"/>
                          </a:solidFill>
                          <a:latin typeface="EB Garamond"/>
                        </a:rPr>
                        <a:t>Title</a:t>
                      </a:r>
                    </a:p>
                  </a:txBody>
                  <a:tcPr marL="73152" marR="73152">
                    <a:solidFill>
                      <a:srgbClr val="FFFFFF"/>
                    </a:solidFill>
                  </a:tcPr>
                </a:tc>
                <a:tc>
                  <a:txBody>
                    <a:bodyPr/>
                    <a:lstStyle/>
                    <a:p>
                      <a:r>
                        <a:rPr sz="2400" b="1">
                          <a:solidFill>
                            <a:srgbClr val="000000"/>
                          </a:solidFill>
                          <a:latin typeface="EB Garamond"/>
                        </a:rPr>
                        <a:t>Objective of the Work</a:t>
                      </a:r>
                    </a:p>
                  </a:txBody>
                  <a:tcPr marL="73152" marR="73152">
                    <a:solidFill>
                      <a:srgbClr val="FFFFFF"/>
                    </a:solidFill>
                  </a:tcPr>
                </a:tc>
                <a:tc>
                  <a:txBody>
                    <a:bodyPr/>
                    <a:lstStyle/>
                    <a:p>
                      <a:r>
                        <a:rPr sz="2400" b="1">
                          <a:solidFill>
                            <a:srgbClr val="000000"/>
                          </a:solidFill>
                          <a:latin typeface="EB Garamond"/>
                        </a:rPr>
                        <a:t>Achievements of the Work</a:t>
                      </a:r>
                    </a:p>
                  </a:txBody>
                  <a:tcPr marL="73152" marR="73152">
                    <a:solidFill>
                      <a:srgbClr val="FFFFFF"/>
                    </a:solidFill>
                  </a:tcPr>
                </a:tc>
                <a:tc>
                  <a:txBody>
                    <a:bodyPr/>
                    <a:lstStyle/>
                    <a:p>
                      <a:r>
                        <a:rPr sz="2400" b="1">
                          <a:solidFill>
                            <a:srgbClr val="000000"/>
                          </a:solidFill>
                          <a:latin typeface="EB Garamond"/>
                        </a:rPr>
                        <a:t>Gaps from the Work</a:t>
                      </a:r>
                    </a:p>
                  </a:txBody>
                  <a:tcPr marL="73152" marR="73152">
                    <a:solidFill>
                      <a:srgbClr val="FFFFFF"/>
                    </a:solidFill>
                  </a:tcPr>
                </a:tc>
                <a:extLst>
                  <a:ext uri="{0D108BD9-81ED-4DB2-BD59-A6C34878D82A}">
                    <a16:rowId xmlns:a16="http://schemas.microsoft.com/office/drawing/2014/main" val="10000"/>
                  </a:ext>
                </a:extLst>
              </a:tr>
              <a:tr h="1737360">
                <a:tc>
                  <a:txBody>
                    <a:bodyPr/>
                    <a:lstStyle/>
                    <a:p>
                      <a:r>
                        <a:rPr sz="2400" b="0">
                          <a:solidFill>
                            <a:srgbClr val="000000"/>
                          </a:solidFill>
                          <a:latin typeface="EB Garamond"/>
                        </a:rPr>
                        <a:t>Park et al., 2022</a:t>
                      </a:r>
                    </a:p>
                  </a:txBody>
                  <a:tcPr marL="73152" marR="73152">
                    <a:solidFill>
                      <a:srgbClr val="FFFFFF"/>
                    </a:solidFill>
                  </a:tcPr>
                </a:tc>
                <a:tc>
                  <a:txBody>
                    <a:bodyPr/>
                    <a:lstStyle/>
                    <a:p>
                      <a:r>
                        <a:rPr sz="2400" b="0">
                          <a:solidFill>
                            <a:srgbClr val="000000"/>
                          </a:solidFill>
                          <a:latin typeface="EB Garamond"/>
                        </a:rPr>
                        <a:t>Automated Extraction of Lung Cancer Staging from Unstructured Reports of PET-CT Interpretation</a:t>
                      </a:r>
                    </a:p>
                  </a:txBody>
                  <a:tcPr marL="73152" marR="73152">
                    <a:solidFill>
                      <a:srgbClr val="FFFFFF"/>
                    </a:solidFill>
                  </a:tcPr>
                </a:tc>
                <a:tc>
                  <a:txBody>
                    <a:bodyPr/>
                    <a:lstStyle/>
                    <a:p>
                      <a:r>
                        <a:rPr sz="2400" b="0">
                          <a:solidFill>
                            <a:srgbClr val="000000"/>
                          </a:solidFill>
                          <a:latin typeface="EB Garamond"/>
                        </a:rPr>
                        <a:t>Deep-learning extraction of lung-cancer staging information</a:t>
                      </a:r>
                    </a:p>
                  </a:txBody>
                  <a:tcPr marL="73152" marR="73152">
                    <a:solidFill>
                      <a:srgbClr val="FFFFFF"/>
                    </a:solidFill>
                  </a:tcPr>
                </a:tc>
                <a:tc>
                  <a:txBody>
                    <a:bodyPr/>
                    <a:lstStyle/>
                    <a:p>
                      <a:r>
                        <a:rPr sz="2400" b="0">
                          <a:solidFill>
                            <a:srgbClr val="000000"/>
                          </a:solidFill>
                          <a:latin typeface="EB Garamond"/>
                        </a:rPr>
                        <a:t>Large corpus (53,792 entities); clearly outperforms rule-based baselines</a:t>
                      </a:r>
                    </a:p>
                  </a:txBody>
                  <a:tcPr marL="73152" marR="73152">
                    <a:solidFill>
                      <a:srgbClr val="FFFFFF"/>
                    </a:solidFill>
                  </a:tcPr>
                </a:tc>
                <a:tc>
                  <a:txBody>
                    <a:bodyPr/>
                    <a:lstStyle/>
                    <a:p>
                      <a:r>
                        <a:rPr sz="2400" b="0">
                          <a:solidFill>
                            <a:srgbClr val="000000"/>
                          </a:solidFill>
                          <a:latin typeface="EB Garamond"/>
                        </a:rPr>
                        <a:t>Single-centre, private data, no external validation; model is task-specific</a:t>
                      </a:r>
                    </a:p>
                  </a:txBody>
                  <a:tcPr marL="73152" marR="73152">
                    <a:solidFill>
                      <a:srgbClr val="FFFFFF"/>
                    </a:solidFill>
                  </a:tcPr>
                </a:tc>
                <a:extLst>
                  <a:ext uri="{0D108BD9-81ED-4DB2-BD59-A6C34878D82A}">
                    <a16:rowId xmlns:a16="http://schemas.microsoft.com/office/drawing/2014/main" val="10001"/>
                  </a:ext>
                </a:extLst>
              </a:tr>
              <a:tr h="1737360">
                <a:tc>
                  <a:txBody>
                    <a:bodyPr/>
                    <a:lstStyle/>
                    <a:p>
                      <a:r>
                        <a:rPr sz="2400" b="0">
                          <a:solidFill>
                            <a:srgbClr val="000000"/>
                          </a:solidFill>
                          <a:latin typeface="EB Garamond"/>
                        </a:rPr>
                        <a:t>Hu et al., 2024</a:t>
                      </a:r>
                    </a:p>
                  </a:txBody>
                  <a:tcPr marL="73152" marR="73152">
                    <a:solidFill>
                      <a:srgbClr val="FFFFFF"/>
                    </a:solidFill>
                  </a:tcPr>
                </a:tc>
                <a:tc>
                  <a:txBody>
                    <a:bodyPr/>
                    <a:lstStyle/>
                    <a:p>
                      <a:r>
                        <a:rPr sz="2400" b="0">
                          <a:solidFill>
                            <a:srgbClr val="000000"/>
                          </a:solidFill>
                          <a:latin typeface="EB Garamond"/>
                        </a:rPr>
                        <a:t>Zero-shot Information Extraction from Radiological Reports using ChatGPT</a:t>
                      </a:r>
                    </a:p>
                  </a:txBody>
                  <a:tcPr marL="73152" marR="73152">
                    <a:solidFill>
                      <a:srgbClr val="FFFFFF"/>
                    </a:solidFill>
                  </a:tcPr>
                </a:tc>
                <a:tc>
                  <a:txBody>
                    <a:bodyPr/>
                    <a:lstStyle/>
                    <a:p>
                      <a:r>
                        <a:rPr sz="2400" b="0">
                          <a:solidFill>
                            <a:srgbClr val="000000"/>
                          </a:solidFill>
                          <a:latin typeface="EB Garamond"/>
                        </a:rPr>
                        <a:t>Extract information with a general LLM by prompting, without task-specific training</a:t>
                      </a:r>
                    </a:p>
                  </a:txBody>
                  <a:tcPr marL="73152" marR="73152">
                    <a:solidFill>
                      <a:srgbClr val="FFFFFF"/>
                    </a:solidFill>
                  </a:tcPr>
                </a:tc>
                <a:tc>
                  <a:txBody>
                    <a:bodyPr/>
                    <a:lstStyle/>
                    <a:p>
                      <a:r>
                        <a:rPr sz="2400" b="0">
                          <a:solidFill>
                            <a:srgbClr val="000000"/>
                          </a:solidFill>
                          <a:latin typeface="EB Garamond"/>
                        </a:rPr>
                        <a:t>Removes the manual-annotation bottleneck; strong zero-shot accuracy</a:t>
                      </a:r>
                    </a:p>
                  </a:txBody>
                  <a:tcPr marL="73152" marR="73152">
                    <a:solidFill>
                      <a:srgbClr val="FFFFFF"/>
                    </a:solidFill>
                  </a:tcPr>
                </a:tc>
                <a:tc>
                  <a:txBody>
                    <a:bodyPr/>
                    <a:lstStyle/>
                    <a:p>
                      <a:r>
                        <a:rPr sz="2400" b="0">
                          <a:solidFill>
                            <a:srgbClr val="000000"/>
                          </a:solidFill>
                          <a:latin typeface="EB Garamond"/>
                        </a:rPr>
                        <a:t>Closed-source API; privacy and cost concerns with patient data; prompt-sensitive</a:t>
                      </a:r>
                    </a:p>
                  </a:txBody>
                  <a:tcPr marL="73152" marR="73152">
                    <a:solidFill>
                      <a:srgbClr val="FFFFFF"/>
                    </a:solidFill>
                  </a:tcPr>
                </a:tc>
                <a:extLst>
                  <a:ext uri="{0D108BD9-81ED-4DB2-BD59-A6C34878D82A}">
                    <a16:rowId xmlns:a16="http://schemas.microsoft.com/office/drawing/2014/main" val="10002"/>
                  </a:ext>
                </a:extLst>
              </a:tr>
              <a:tr h="1737360">
                <a:tc>
                  <a:txBody>
                    <a:bodyPr/>
                    <a:lstStyle/>
                    <a:p>
                      <a:r>
                        <a:rPr sz="2400" b="0">
                          <a:solidFill>
                            <a:srgbClr val="000000"/>
                          </a:solidFill>
                          <a:latin typeface="EB Garamond"/>
                        </a:rPr>
                        <a:t>Le Guellec et al., 2024</a:t>
                      </a:r>
                    </a:p>
                  </a:txBody>
                  <a:tcPr marL="73152" marR="73152">
                    <a:solidFill>
                      <a:srgbClr val="FFFFFF"/>
                    </a:solidFill>
                  </a:tcPr>
                </a:tc>
                <a:tc>
                  <a:txBody>
                    <a:bodyPr/>
                    <a:lstStyle/>
                    <a:p>
                      <a:r>
                        <a:rPr sz="2400" b="0" dirty="0">
                          <a:solidFill>
                            <a:srgbClr val="000000"/>
                          </a:solidFill>
                          <a:latin typeface="EB Garamond"/>
                        </a:rPr>
                        <a:t>Performance of an Open-Source Large Language Model in Extracting Information from Free-Text Radiology Reports</a:t>
                      </a:r>
                    </a:p>
                  </a:txBody>
                  <a:tcPr marL="73152" marR="73152">
                    <a:solidFill>
                      <a:srgbClr val="FFFFFF"/>
                    </a:solidFill>
                  </a:tcPr>
                </a:tc>
                <a:tc>
                  <a:txBody>
                    <a:bodyPr/>
                    <a:lstStyle/>
                    <a:p>
                      <a:r>
                        <a:rPr sz="2400" b="0">
                          <a:solidFill>
                            <a:srgbClr val="000000"/>
                          </a:solidFill>
                          <a:latin typeface="EB Garamond"/>
                        </a:rPr>
                        <a:t>Evaluate a locally deployable open-source LLM for report information extraction</a:t>
                      </a:r>
                    </a:p>
                  </a:txBody>
                  <a:tcPr marL="73152" marR="73152">
                    <a:solidFill>
                      <a:srgbClr val="FFFFFF"/>
                    </a:solidFill>
                  </a:tcPr>
                </a:tc>
                <a:tc>
                  <a:txBody>
                    <a:bodyPr/>
                    <a:lstStyle/>
                    <a:p>
                      <a:r>
                        <a:rPr sz="2400" b="0">
                          <a:solidFill>
                            <a:srgbClr val="000000"/>
                          </a:solidFill>
                          <a:latin typeface="EB Garamond"/>
                        </a:rPr>
                        <a:t>Local deployment protects privacy; sensitivity comparable to commercial LLMs</a:t>
                      </a:r>
                    </a:p>
                  </a:txBody>
                  <a:tcPr marL="73152" marR="73152">
                    <a:solidFill>
                      <a:srgbClr val="FFFFFF"/>
                    </a:solidFill>
                  </a:tcPr>
                </a:tc>
                <a:tc>
                  <a:txBody>
                    <a:bodyPr/>
                    <a:lstStyle/>
                    <a:p>
                      <a:r>
                        <a:rPr sz="2400" b="0" dirty="0">
                          <a:solidFill>
                            <a:srgbClr val="000000"/>
                          </a:solidFill>
                          <a:latin typeface="EB Garamond"/>
                        </a:rPr>
                        <a:t>Single-</a:t>
                      </a:r>
                      <a:r>
                        <a:rPr sz="2400" b="0" dirty="0" err="1">
                          <a:solidFill>
                            <a:srgbClr val="000000"/>
                          </a:solidFill>
                          <a:latin typeface="EB Garamond"/>
                        </a:rPr>
                        <a:t>centre</a:t>
                      </a:r>
                      <a:r>
                        <a:rPr sz="2400" b="0" dirty="0">
                          <a:solidFill>
                            <a:srgbClr val="000000"/>
                          </a:solidFill>
                          <a:latin typeface="EB Garamond"/>
                        </a:rPr>
                        <a:t>, English only, no external validation; heavy GPU requirement</a:t>
                      </a:r>
                    </a:p>
                  </a:txBody>
                  <a:tcPr marL="73152" marR="73152">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66928" y="8191500"/>
            <a:ext cx="17154144" cy="1515800"/>
          </a:xfrm>
          <a:prstGeom prst="rect">
            <a:avLst/>
          </a:prstGeom>
          <a:noFill/>
        </p:spPr>
        <p:txBody>
          <a:bodyPr wrap="square" lIns="0" tIns="0" rIns="0" bIns="0">
            <a:spAutoFit/>
          </a:bodyPr>
          <a:lstStyle/>
          <a:p>
            <a:pPr>
              <a:spcAft>
                <a:spcPts val="300"/>
              </a:spcAft>
            </a:pPr>
            <a:r>
              <a:rPr sz="2400" b="1" dirty="0">
                <a:solidFill>
                  <a:srgbClr val="000000"/>
                </a:solidFill>
                <a:latin typeface="EB Garamond"/>
              </a:rPr>
              <a:t>WHY THESE METHODS WERE CHOSEN:  </a:t>
            </a:r>
            <a:r>
              <a:rPr sz="2400" b="0" dirty="0">
                <a:solidFill>
                  <a:srgbClr val="000000"/>
                </a:solidFill>
                <a:latin typeface="EB Garamond"/>
              </a:rPr>
              <a:t>By 2022–24, larger datasets and pretrained transformers made deep learning and LLMs viable; ChatGPT removed the annotation bottleneck entirely, and Le Guellec’s open-source model answered the resulting privacy concern.</a:t>
            </a:r>
          </a:p>
          <a:p>
            <a:pPr>
              <a:spcAft>
                <a:spcPts val="500"/>
              </a:spcAft>
            </a:pPr>
            <a:r>
              <a:rPr sz="2400" b="1" dirty="0">
                <a:solidFill>
                  <a:srgbClr val="000000"/>
                </a:solidFill>
                <a:latin typeface="EB Garamond"/>
              </a:rPr>
              <a:t>COMMON GAP ACROSS ALL SIX PAPERS:  </a:t>
            </a:r>
            <a:r>
              <a:rPr sz="2400" b="0" dirty="0">
                <a:solidFill>
                  <a:srgbClr val="000000"/>
                </a:solidFill>
                <a:latin typeface="EB Garamond"/>
              </a:rPr>
              <a:t>Single-</a:t>
            </a:r>
            <a:r>
              <a:rPr sz="2400" b="0" dirty="0" err="1">
                <a:solidFill>
                  <a:srgbClr val="000000"/>
                </a:solidFill>
                <a:latin typeface="EB Garamond"/>
              </a:rPr>
              <a:t>centre</a:t>
            </a:r>
            <a:r>
              <a:rPr sz="2400" b="0" dirty="0">
                <a:solidFill>
                  <a:srgbClr val="000000"/>
                </a:solidFill>
                <a:latin typeface="EB Garamond"/>
              </a:rPr>
              <a:t> and mostly private datasets, heavy reliance on manual annotation, almost no external validation, and no statistical comparison of traditional NLP against LLMs — the exact gap the base paper closes.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502920"/>
            <a:ext cx="17154144" cy="822960"/>
          </a:xfrm>
          <a:prstGeom prst="rect">
            <a:avLst/>
          </a:prstGeom>
          <a:noFill/>
        </p:spPr>
        <p:txBody>
          <a:bodyPr wrap="square" lIns="0" tIns="0" rIns="0" bIns="0">
            <a:spAutoFit/>
          </a:bodyPr>
          <a:lstStyle/>
          <a:p>
            <a:pPr>
              <a:spcAft>
                <a:spcPts val="600"/>
              </a:spcAft>
            </a:pPr>
            <a:r>
              <a:rPr sz="3800" b="0" dirty="0">
                <a:solidFill>
                  <a:srgbClr val="000000"/>
                </a:solidFill>
                <a:latin typeface="EB Garamond"/>
              </a:rPr>
              <a:t>Identification of Learning Algorithm / Technique</a:t>
            </a:r>
          </a:p>
        </p:txBody>
      </p:sp>
      <p:sp>
        <p:nvSpPr>
          <p:cNvPr id="3" name="TextBox 2"/>
          <p:cNvSpPr txBox="1"/>
          <p:nvPr/>
        </p:nvSpPr>
        <p:spPr>
          <a:xfrm>
            <a:off x="566928" y="1600200"/>
            <a:ext cx="5760720" cy="320040"/>
          </a:xfrm>
          <a:prstGeom prst="rect">
            <a:avLst/>
          </a:prstGeom>
          <a:noFill/>
        </p:spPr>
        <p:txBody>
          <a:bodyPr wrap="square" lIns="0" tIns="0" rIns="0" bIns="0">
            <a:spAutoFit/>
          </a:bodyPr>
          <a:lstStyle/>
          <a:p>
            <a:pPr>
              <a:spcAft>
                <a:spcPts val="600"/>
              </a:spcAft>
            </a:pPr>
            <a:r>
              <a:rPr sz="2200" b="1">
                <a:solidFill>
                  <a:srgbClr val="000000"/>
                </a:solidFill>
                <a:latin typeface="EB Garamond"/>
              </a:rPr>
              <a:t>APPROACH USED IN THE BASE PAPER</a:t>
            </a:r>
          </a:p>
        </p:txBody>
      </p:sp>
      <p:sp>
        <p:nvSpPr>
          <p:cNvPr id="4" name="TextBox 3"/>
          <p:cNvSpPr txBox="1"/>
          <p:nvPr/>
        </p:nvSpPr>
        <p:spPr>
          <a:xfrm>
            <a:off x="566928" y="2423160"/>
            <a:ext cx="5394960" cy="6678751"/>
          </a:xfrm>
          <a:prstGeom prst="rect">
            <a:avLst/>
          </a:prstGeom>
          <a:noFill/>
        </p:spPr>
        <p:txBody>
          <a:bodyPr wrap="square" lIns="0" tIns="0" rIns="0" bIns="0">
            <a:spAutoFit/>
          </a:bodyPr>
          <a:lstStyle/>
          <a:p>
            <a:pPr>
              <a:spcAft>
                <a:spcPts val="1500"/>
              </a:spcAft>
            </a:pPr>
            <a:r>
              <a:rPr sz="2400" b="0" dirty="0">
                <a:solidFill>
                  <a:srgbClr val="000000"/>
                </a:solidFill>
                <a:latin typeface="EB Garamond"/>
              </a:rPr>
              <a:t>PRISMA-DTA systematic review, pre-registered on PROSPERO</a:t>
            </a:r>
          </a:p>
          <a:p>
            <a:pPr>
              <a:spcAft>
                <a:spcPts val="1500"/>
              </a:spcAft>
            </a:pPr>
            <a:r>
              <a:rPr sz="2400" b="0" dirty="0">
                <a:solidFill>
                  <a:srgbClr val="000000"/>
                </a:solidFill>
                <a:latin typeface="EB Garamond"/>
              </a:rPr>
              <a:t>Bivariate random-effects meta-analysis (MIDAS, Stata/SE 18) — standard for diagnostic accuracy, pools sensitivity and specificity jointly</a:t>
            </a:r>
          </a:p>
          <a:p>
            <a:pPr>
              <a:spcAft>
                <a:spcPts val="1500"/>
              </a:spcAft>
            </a:pPr>
            <a:r>
              <a:rPr sz="2400" b="0" dirty="0">
                <a:solidFill>
                  <a:srgbClr val="000000"/>
                </a:solidFill>
                <a:latin typeface="EB Garamond"/>
              </a:rPr>
              <a:t>Chosen because every individual study was single-</a:t>
            </a:r>
            <a:r>
              <a:rPr sz="2400" b="0" dirty="0" err="1">
                <a:solidFill>
                  <a:srgbClr val="000000"/>
                </a:solidFill>
                <a:latin typeface="EB Garamond"/>
              </a:rPr>
              <a:t>centre</a:t>
            </a:r>
            <a:r>
              <a:rPr sz="2400" b="0" dirty="0">
                <a:solidFill>
                  <a:srgbClr val="000000"/>
                </a:solidFill>
                <a:latin typeface="EB Garamond"/>
              </a:rPr>
              <a:t> and descriptive; no prior work gave a pooled accuracy figure</a:t>
            </a:r>
          </a:p>
          <a:p>
            <a:pPr>
              <a:spcAft>
                <a:spcPts val="1500"/>
              </a:spcAft>
            </a:pPr>
            <a:r>
              <a:rPr sz="2400" b="0" dirty="0">
                <a:solidFill>
                  <a:srgbClr val="000000"/>
                </a:solidFill>
                <a:latin typeface="EB Garamond"/>
              </a:rPr>
              <a:t>Filled the gap: first pooled estimates (sensitivity 91%, AUC 0.98) and first statistical LLM-vs-traditional-NLP comparison</a:t>
            </a:r>
          </a:p>
          <a:p>
            <a:pPr>
              <a:spcAft>
                <a:spcPts val="1500"/>
              </a:spcAft>
            </a:pPr>
            <a:r>
              <a:rPr sz="2400" b="0" dirty="0">
                <a:solidFill>
                  <a:srgbClr val="000000"/>
                </a:solidFill>
                <a:latin typeface="EB Garamond"/>
              </a:rPr>
              <a:t>Gap it left open: no external validation on a public dataset (only 8 of 28 studies externally validated)</a:t>
            </a:r>
          </a:p>
        </p:txBody>
      </p:sp>
      <p:sp>
        <p:nvSpPr>
          <p:cNvPr id="5" name="TextBox 4"/>
          <p:cNvSpPr txBox="1"/>
          <p:nvPr/>
        </p:nvSpPr>
        <p:spPr>
          <a:xfrm>
            <a:off x="6446520" y="1600200"/>
            <a:ext cx="5394960" cy="338554"/>
          </a:xfrm>
          <a:prstGeom prst="rect">
            <a:avLst/>
          </a:prstGeom>
          <a:noFill/>
        </p:spPr>
        <p:txBody>
          <a:bodyPr wrap="square" lIns="0" tIns="0" rIns="0" bIns="0">
            <a:spAutoFit/>
          </a:bodyPr>
          <a:lstStyle/>
          <a:p>
            <a:pPr>
              <a:spcAft>
                <a:spcPts val="600"/>
              </a:spcAft>
            </a:pPr>
            <a:r>
              <a:rPr lang="en-IN" sz="2200" b="1" dirty="0">
                <a:solidFill>
                  <a:srgbClr val="000000"/>
                </a:solidFill>
                <a:latin typeface="EB Garamond"/>
              </a:rPr>
              <a:t>OBSERVED </a:t>
            </a:r>
            <a:r>
              <a:rPr sz="2200" b="1" dirty="0">
                <a:solidFill>
                  <a:srgbClr val="000000"/>
                </a:solidFill>
                <a:latin typeface="EB Garamond"/>
              </a:rPr>
              <a:t>TECHNIQUE</a:t>
            </a:r>
          </a:p>
        </p:txBody>
      </p:sp>
      <p:sp>
        <p:nvSpPr>
          <p:cNvPr id="6" name="TextBox 5"/>
          <p:cNvSpPr txBox="1"/>
          <p:nvPr/>
        </p:nvSpPr>
        <p:spPr>
          <a:xfrm>
            <a:off x="6446520" y="2057400"/>
            <a:ext cx="5394960" cy="3760004"/>
          </a:xfrm>
          <a:prstGeom prst="rect">
            <a:avLst/>
          </a:prstGeom>
          <a:noFill/>
        </p:spPr>
        <p:txBody>
          <a:bodyPr wrap="square" lIns="0" tIns="0" rIns="0" bIns="0">
            <a:spAutoFit/>
          </a:bodyPr>
          <a:lstStyle/>
          <a:p>
            <a:pPr>
              <a:spcAft>
                <a:spcPts val="1700"/>
              </a:spcAft>
            </a:pPr>
            <a:r>
              <a:rPr sz="2400" b="0" dirty="0">
                <a:solidFill>
                  <a:srgbClr val="000000"/>
                </a:solidFill>
                <a:latin typeface="EB Garamond"/>
              </a:rPr>
              <a:t>Fine-tune </a:t>
            </a:r>
            <a:r>
              <a:rPr sz="2400" b="0" dirty="0" err="1">
                <a:solidFill>
                  <a:srgbClr val="000000"/>
                </a:solidFill>
                <a:latin typeface="EB Garamond"/>
              </a:rPr>
              <a:t>ClinicalBERT</a:t>
            </a:r>
            <a:r>
              <a:rPr sz="2400" b="0" dirty="0">
                <a:solidFill>
                  <a:srgbClr val="000000"/>
                </a:solidFill>
                <a:latin typeface="EB Garamond"/>
              </a:rPr>
              <a:t> (Bio + Clinical BERT) for multi-label classification of chest findings from Findings/Impression text</a:t>
            </a:r>
          </a:p>
          <a:p>
            <a:pPr>
              <a:spcAft>
                <a:spcPts val="1700"/>
              </a:spcAft>
            </a:pPr>
            <a:r>
              <a:rPr sz="2400" b="0" dirty="0">
                <a:solidFill>
                  <a:srgbClr val="000000"/>
                </a:solidFill>
                <a:latin typeface="EB Garamond"/>
              </a:rPr>
              <a:t>Baselines: TF-IDF + Logistic Regression (traditional NLP) and </a:t>
            </a:r>
            <a:r>
              <a:rPr sz="2400" b="0" dirty="0" err="1">
                <a:solidFill>
                  <a:srgbClr val="000000"/>
                </a:solidFill>
                <a:latin typeface="EB Garamond"/>
              </a:rPr>
              <a:t>BioBERT</a:t>
            </a:r>
            <a:r>
              <a:rPr sz="2400" b="0" dirty="0">
                <a:solidFill>
                  <a:srgbClr val="000000"/>
                </a:solidFill>
                <a:latin typeface="EB Garamond"/>
              </a:rPr>
              <a:t> (transformer, no clinical pretraining)</a:t>
            </a:r>
          </a:p>
          <a:p>
            <a:pPr>
              <a:spcAft>
                <a:spcPts val="1700"/>
              </a:spcAft>
            </a:pPr>
            <a:r>
              <a:rPr sz="2400" b="0" dirty="0">
                <a:solidFill>
                  <a:srgbClr val="000000"/>
                </a:solidFill>
                <a:latin typeface="EB Garamond"/>
              </a:rPr>
              <a:t>Baselines isolate whether clinical-domain pretraining is what actually drives performance</a:t>
            </a:r>
          </a:p>
        </p:txBody>
      </p:sp>
      <p:sp>
        <p:nvSpPr>
          <p:cNvPr id="7" name="TextBox 6"/>
          <p:cNvSpPr txBox="1"/>
          <p:nvPr/>
        </p:nvSpPr>
        <p:spPr>
          <a:xfrm>
            <a:off x="6446520" y="6210300"/>
            <a:ext cx="5394960" cy="320040"/>
          </a:xfrm>
          <a:prstGeom prst="rect">
            <a:avLst/>
          </a:prstGeom>
          <a:noFill/>
        </p:spPr>
        <p:txBody>
          <a:bodyPr wrap="square" lIns="0" tIns="0" rIns="0" bIns="0">
            <a:spAutoFit/>
          </a:bodyPr>
          <a:lstStyle/>
          <a:p>
            <a:pPr>
              <a:spcAft>
                <a:spcPts val="600"/>
              </a:spcAft>
            </a:pPr>
            <a:r>
              <a:rPr sz="2200" b="1">
                <a:solidFill>
                  <a:srgbClr val="000000"/>
                </a:solidFill>
                <a:latin typeface="EB Garamond"/>
              </a:rPr>
              <a:t>WORKFLOW</a:t>
            </a:r>
          </a:p>
        </p:txBody>
      </p:sp>
      <p:sp>
        <p:nvSpPr>
          <p:cNvPr id="8" name="TextBox 7"/>
          <p:cNvSpPr txBox="1"/>
          <p:nvPr/>
        </p:nvSpPr>
        <p:spPr>
          <a:xfrm>
            <a:off x="6446520" y="6667500"/>
            <a:ext cx="5394960" cy="2485296"/>
          </a:xfrm>
          <a:prstGeom prst="rect">
            <a:avLst/>
          </a:prstGeom>
          <a:noFill/>
        </p:spPr>
        <p:txBody>
          <a:bodyPr wrap="square" lIns="0" tIns="0" rIns="0" bIns="0">
            <a:spAutoFit/>
          </a:bodyPr>
          <a:lstStyle/>
          <a:p>
            <a:pPr>
              <a:spcAft>
                <a:spcPts val="700"/>
              </a:spcAft>
            </a:pPr>
            <a:r>
              <a:rPr sz="2400" b="0" dirty="0">
                <a:solidFill>
                  <a:srgbClr val="000000"/>
                </a:solidFill>
                <a:latin typeface="EB Garamond"/>
              </a:rPr>
              <a:t>1. Preprocess &amp; label with </a:t>
            </a:r>
            <a:r>
              <a:rPr sz="2400" b="0" dirty="0" err="1">
                <a:solidFill>
                  <a:srgbClr val="000000"/>
                </a:solidFill>
                <a:latin typeface="EB Garamond"/>
              </a:rPr>
              <a:t>CheXpert</a:t>
            </a:r>
            <a:r>
              <a:rPr sz="2400" b="0" dirty="0">
                <a:solidFill>
                  <a:srgbClr val="000000"/>
                </a:solidFill>
                <a:latin typeface="EB Garamond"/>
              </a:rPr>
              <a:t> labeler</a:t>
            </a:r>
          </a:p>
          <a:p>
            <a:pPr>
              <a:spcAft>
                <a:spcPts val="700"/>
              </a:spcAft>
            </a:pPr>
            <a:r>
              <a:rPr sz="2400" b="0" dirty="0">
                <a:solidFill>
                  <a:srgbClr val="000000"/>
                </a:solidFill>
                <a:latin typeface="EB Garamond"/>
              </a:rPr>
              <a:t>2. Stratified 70/10/20 split</a:t>
            </a:r>
          </a:p>
          <a:p>
            <a:pPr>
              <a:spcAft>
                <a:spcPts val="700"/>
              </a:spcAft>
            </a:pPr>
            <a:r>
              <a:rPr sz="2400" b="0" dirty="0">
                <a:solidFill>
                  <a:srgbClr val="000000"/>
                </a:solidFill>
                <a:latin typeface="EB Garamond"/>
              </a:rPr>
              <a:t>3. Fine-tune </a:t>
            </a:r>
            <a:r>
              <a:rPr sz="2400" b="0" dirty="0" err="1">
                <a:solidFill>
                  <a:srgbClr val="000000"/>
                </a:solidFill>
                <a:latin typeface="EB Garamond"/>
              </a:rPr>
              <a:t>ClinicalBERT</a:t>
            </a:r>
            <a:r>
              <a:rPr sz="2400" b="0" dirty="0">
                <a:solidFill>
                  <a:srgbClr val="000000"/>
                </a:solidFill>
                <a:latin typeface="EB Garamond"/>
              </a:rPr>
              <a:t>; compare both baselines</a:t>
            </a:r>
          </a:p>
          <a:p>
            <a:pPr>
              <a:spcAft>
                <a:spcPts val="700"/>
              </a:spcAft>
            </a:pPr>
            <a:r>
              <a:rPr sz="2400" b="0" dirty="0">
                <a:solidFill>
                  <a:srgbClr val="000000"/>
                </a:solidFill>
                <a:latin typeface="EB Garamond"/>
              </a:rPr>
              <a:t>4. Evaluate on sensitivity, specificity, DOR, AUC</a:t>
            </a:r>
          </a:p>
        </p:txBody>
      </p:sp>
      <p:sp>
        <p:nvSpPr>
          <p:cNvPr id="9" name="TextBox 8"/>
          <p:cNvSpPr txBox="1"/>
          <p:nvPr/>
        </p:nvSpPr>
        <p:spPr>
          <a:xfrm>
            <a:off x="12326112" y="1600200"/>
            <a:ext cx="5394960" cy="320040"/>
          </a:xfrm>
          <a:prstGeom prst="rect">
            <a:avLst/>
          </a:prstGeom>
          <a:noFill/>
        </p:spPr>
        <p:txBody>
          <a:bodyPr wrap="square" lIns="0" tIns="0" rIns="0" bIns="0">
            <a:spAutoFit/>
          </a:bodyPr>
          <a:lstStyle/>
          <a:p>
            <a:pPr>
              <a:spcAft>
                <a:spcPts val="600"/>
              </a:spcAft>
            </a:pPr>
            <a:r>
              <a:rPr sz="2200" b="1">
                <a:solidFill>
                  <a:srgbClr val="000000"/>
                </a:solidFill>
                <a:latin typeface="EB Garamond"/>
              </a:rPr>
              <a:t>JUSTIFICATION FOR THE CHOICE</a:t>
            </a:r>
          </a:p>
        </p:txBody>
      </p:sp>
      <p:sp>
        <p:nvSpPr>
          <p:cNvPr id="10" name="TextBox 9"/>
          <p:cNvSpPr txBox="1"/>
          <p:nvPr/>
        </p:nvSpPr>
        <p:spPr>
          <a:xfrm>
            <a:off x="12326112" y="2057400"/>
            <a:ext cx="5394960" cy="6678751"/>
          </a:xfrm>
          <a:prstGeom prst="rect">
            <a:avLst/>
          </a:prstGeom>
          <a:noFill/>
        </p:spPr>
        <p:txBody>
          <a:bodyPr wrap="square" lIns="0" tIns="0" rIns="0" bIns="0">
            <a:spAutoFit/>
          </a:bodyPr>
          <a:lstStyle/>
          <a:p>
            <a:pPr>
              <a:spcAft>
                <a:spcPts val="1500"/>
              </a:spcAft>
            </a:pPr>
            <a:r>
              <a:rPr sz="2400" b="0" dirty="0">
                <a:solidFill>
                  <a:srgbClr val="000000"/>
                </a:solidFill>
                <a:latin typeface="EB Garamond"/>
              </a:rPr>
              <a:t>Base paper’s transformer/LLM group reached AUC 0.98 vs 0.96 for traditional NLP — </a:t>
            </a:r>
            <a:r>
              <a:rPr sz="2400" b="0" dirty="0" err="1">
                <a:solidFill>
                  <a:srgbClr val="000000"/>
                </a:solidFill>
                <a:latin typeface="EB Garamond"/>
              </a:rPr>
              <a:t>favours</a:t>
            </a:r>
            <a:r>
              <a:rPr sz="2400" b="0" dirty="0">
                <a:solidFill>
                  <a:srgbClr val="000000"/>
                </a:solidFill>
                <a:latin typeface="EB Garamond"/>
              </a:rPr>
              <a:t> a transformer</a:t>
            </a:r>
          </a:p>
          <a:p>
            <a:pPr>
              <a:spcAft>
                <a:spcPts val="1500"/>
              </a:spcAft>
            </a:pPr>
            <a:r>
              <a:rPr sz="2400" b="0" dirty="0" err="1">
                <a:solidFill>
                  <a:srgbClr val="000000"/>
                </a:solidFill>
                <a:latin typeface="EB Garamond"/>
              </a:rPr>
              <a:t>ClinicalBERT</a:t>
            </a:r>
            <a:r>
              <a:rPr sz="2400" b="0" dirty="0">
                <a:solidFill>
                  <a:srgbClr val="000000"/>
                </a:solidFill>
                <a:latin typeface="EB Garamond"/>
              </a:rPr>
              <a:t> is pretrained on clinical notes, so it already handles radiology abbreviations and negation</a:t>
            </a:r>
          </a:p>
          <a:p>
            <a:pPr>
              <a:spcAft>
                <a:spcPts val="1500"/>
              </a:spcAft>
            </a:pPr>
            <a:r>
              <a:rPr sz="2400" b="0" dirty="0">
                <a:solidFill>
                  <a:srgbClr val="000000"/>
                </a:solidFill>
                <a:latin typeface="EB Garamond"/>
              </a:rPr>
              <a:t>Chest imaging is a single anatomical site — the paper’s best-performing subgroup (AUC 0.99)</a:t>
            </a:r>
          </a:p>
          <a:p>
            <a:pPr>
              <a:spcAft>
                <a:spcPts val="1500"/>
              </a:spcAft>
            </a:pPr>
            <a:r>
              <a:rPr sz="2400" b="0" dirty="0">
                <a:solidFill>
                  <a:srgbClr val="000000"/>
                </a:solidFill>
                <a:latin typeface="EB Garamond"/>
              </a:rPr>
              <a:t>Chosen over GPT-4: no patient data leaves the machine, results are reproducible (not prompt-dependent), no API cost, trains on one </a:t>
            </a:r>
            <a:r>
              <a:rPr sz="2400" b="0" dirty="0" err="1">
                <a:solidFill>
                  <a:srgbClr val="000000"/>
                </a:solidFill>
                <a:latin typeface="EB Garamond"/>
              </a:rPr>
              <a:t>Colab</a:t>
            </a:r>
            <a:r>
              <a:rPr sz="2400" b="0" dirty="0">
                <a:solidFill>
                  <a:srgbClr val="000000"/>
                </a:solidFill>
                <a:latin typeface="EB Garamond"/>
              </a:rPr>
              <a:t> GPU</a:t>
            </a:r>
          </a:p>
          <a:p>
            <a:pPr>
              <a:spcAft>
                <a:spcPts val="1500"/>
              </a:spcAft>
            </a:pPr>
            <a:r>
              <a:rPr sz="2400" b="0" dirty="0">
                <a:solidFill>
                  <a:srgbClr val="000000"/>
                </a:solidFill>
                <a:latin typeface="EB Garamond"/>
              </a:rPr>
              <a:t>Target: sensitivity ≥ 90%, AUC ≥ 0.95 — supplies the external validation the base paper is missing</a:t>
            </a:r>
          </a:p>
        </p:txBody>
      </p:sp>
      <p:cxnSp>
        <p:nvCxnSpPr>
          <p:cNvPr id="12" name="Straight Connector 11">
            <a:extLst>
              <a:ext uri="{FF2B5EF4-FFF2-40B4-BE49-F238E27FC236}">
                <a16:creationId xmlns:a16="http://schemas.microsoft.com/office/drawing/2014/main" id="{25A603F3-F840-2D2A-F578-13243EAD8D75}"/>
              </a:ext>
            </a:extLst>
          </p:cNvPr>
          <p:cNvCxnSpPr>
            <a:cxnSpLocks/>
          </p:cNvCxnSpPr>
          <p:nvPr/>
        </p:nvCxnSpPr>
        <p:spPr>
          <a:xfrm>
            <a:off x="6096000" y="1325880"/>
            <a:ext cx="0" cy="8465820"/>
          </a:xfrm>
          <a:prstGeom prst="line">
            <a:avLst/>
          </a:prstGeom>
        </p:spPr>
        <p:style>
          <a:lnRef idx="2">
            <a:schemeClr val="dk1"/>
          </a:lnRef>
          <a:fillRef idx="0">
            <a:schemeClr val="dk1"/>
          </a:fillRef>
          <a:effectRef idx="1">
            <a:schemeClr val="dk1"/>
          </a:effectRef>
          <a:fontRef idx="minor">
            <a:schemeClr val="tx1"/>
          </a:fontRef>
        </p:style>
      </p:cxnSp>
      <p:cxnSp>
        <p:nvCxnSpPr>
          <p:cNvPr id="16" name="Straight Connector 15">
            <a:extLst>
              <a:ext uri="{FF2B5EF4-FFF2-40B4-BE49-F238E27FC236}">
                <a16:creationId xmlns:a16="http://schemas.microsoft.com/office/drawing/2014/main" id="{33780468-4151-D85B-514D-A63B100861AB}"/>
              </a:ext>
            </a:extLst>
          </p:cNvPr>
          <p:cNvCxnSpPr>
            <a:cxnSpLocks/>
          </p:cNvCxnSpPr>
          <p:nvPr/>
        </p:nvCxnSpPr>
        <p:spPr>
          <a:xfrm>
            <a:off x="11963400" y="1333500"/>
            <a:ext cx="0" cy="846582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945E99FD-2FB6-8CC6-754F-534DA44AEF18}"/>
              </a:ext>
            </a:extLst>
          </p:cNvPr>
          <p:cNvCxnSpPr>
            <a:cxnSpLocks/>
          </p:cNvCxnSpPr>
          <p:nvPr/>
        </p:nvCxnSpPr>
        <p:spPr>
          <a:xfrm>
            <a:off x="6324601" y="5981700"/>
            <a:ext cx="5410199"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00000"/>
            <a:ext cx="17154144" cy="461665"/>
          </a:xfrm>
          <a:prstGeom prst="rect">
            <a:avLst/>
          </a:prstGeom>
          <a:noFill/>
        </p:spPr>
        <p:txBody>
          <a:bodyPr wrap="square">
            <a:spAutoFit/>
          </a:bodyPr>
          <a:lstStyle/>
          <a:p>
            <a:pPr>
              <a:defRPr sz="1100" b="1">
                <a:solidFill>
                  <a:srgbClr val="35598F"/>
                </a:solidFill>
              </a:defRPr>
            </a:pPr>
            <a:r>
              <a:rPr lang="en-IN" sz="2400" dirty="0">
                <a:solidFill>
                  <a:schemeClr val="tx1">
                    <a:lumMod val="95000"/>
                    <a:lumOff val="5000"/>
                  </a:schemeClr>
                </a:solidFill>
                <a:latin typeface="EB Garamond" panose="00000500000000000000" pitchFamily="2" charset="0"/>
                <a:ea typeface="EB Garamond" panose="00000500000000000000" pitchFamily="2" charset="0"/>
              </a:rPr>
              <a:t>PHASE - 3 </a:t>
            </a:r>
          </a:p>
        </p:txBody>
      </p:sp>
      <p:sp>
        <p:nvSpPr>
          <p:cNvPr id="5" name="TextBox 4">
            <a:extLst>
              <a:ext uri="{FF2B5EF4-FFF2-40B4-BE49-F238E27FC236}">
                <a16:creationId xmlns:a16="http://schemas.microsoft.com/office/drawing/2014/main" id="{7315182D-4CDA-82FA-12D7-7295454F844D}"/>
              </a:ext>
            </a:extLst>
          </p:cNvPr>
          <p:cNvSpPr txBox="1"/>
          <p:nvPr/>
        </p:nvSpPr>
        <p:spPr>
          <a:xfrm>
            <a:off x="566928" y="746111"/>
            <a:ext cx="10134600" cy="646331"/>
          </a:xfrm>
          <a:prstGeom prst="rect">
            <a:avLst/>
          </a:prstGeom>
          <a:noFill/>
        </p:spPr>
        <p:txBody>
          <a:bodyPr wrap="square" rtlCol="0">
            <a:spAutoFit/>
          </a:bodyPr>
          <a:lstStyle/>
          <a:p>
            <a:r>
              <a:rPr lang="en-IN" sz="3600" dirty="0">
                <a:latin typeface="EB Garamond" panose="00000500000000000000" pitchFamily="2" charset="0"/>
                <a:ea typeface="EB Garamond" panose="00000500000000000000" pitchFamily="2" charset="0"/>
              </a:rPr>
              <a:t>Problem Identification and Literature survey</a:t>
            </a:r>
          </a:p>
        </p:txBody>
      </p:sp>
      <p:sp>
        <p:nvSpPr>
          <p:cNvPr id="11" name="TextBox 10">
            <a:extLst>
              <a:ext uri="{FF2B5EF4-FFF2-40B4-BE49-F238E27FC236}">
                <a16:creationId xmlns:a16="http://schemas.microsoft.com/office/drawing/2014/main" id="{AA640103-0D9E-38B1-8785-B67642BB7A60}"/>
              </a:ext>
            </a:extLst>
          </p:cNvPr>
          <p:cNvSpPr txBox="1"/>
          <p:nvPr/>
        </p:nvSpPr>
        <p:spPr>
          <a:xfrm>
            <a:off x="609600" y="1533183"/>
            <a:ext cx="8577072" cy="4893647"/>
          </a:xfrm>
          <a:prstGeom prst="rect">
            <a:avLst/>
          </a:prstGeom>
          <a:noFill/>
        </p:spPr>
        <p:txBody>
          <a:bodyPr wrap="square">
            <a:spAutoFit/>
          </a:bodyPr>
          <a:lstStyle/>
          <a:p>
            <a:pPr>
              <a:lnSpc>
                <a:spcPct val="150000"/>
              </a:lnSpc>
              <a:buNone/>
            </a:pPr>
            <a:r>
              <a:rPr lang="en-IN" sz="3200" b="1" dirty="0">
                <a:latin typeface="EB Garamond" panose="00000500000000000000" pitchFamily="2" charset="0"/>
                <a:ea typeface="EB Garamond" panose="00000500000000000000" pitchFamily="2" charset="0"/>
              </a:rPr>
              <a:t>The Clinical Bottleneck</a:t>
            </a:r>
          </a:p>
          <a:p>
            <a:pPr>
              <a:buNone/>
            </a:pPr>
            <a:r>
              <a:rPr lang="en-IN" sz="2400" dirty="0">
                <a:latin typeface="EB Garamond" panose="00000500000000000000" pitchFamily="2" charset="0"/>
                <a:ea typeface="EB Garamond" panose="00000500000000000000" pitchFamily="2" charset="0"/>
              </a:rPr>
              <a:t>Radiology reports contain important medical findings, but extracting useful information from large amounts of free-text reports takes time.</a:t>
            </a:r>
          </a:p>
          <a:p>
            <a:pPr marL="342900" lvl="0" indent="-342900">
              <a:buFont typeface="Arial" panose="020B0604020202020204" pitchFamily="34" charset="0"/>
              <a:buChar char="•"/>
            </a:pPr>
            <a:r>
              <a:rPr lang="en-IN" sz="2400" dirty="0">
                <a:latin typeface="EB Garamond" panose="00000500000000000000" pitchFamily="2" charset="0"/>
                <a:ea typeface="EB Garamond" panose="00000500000000000000" pitchFamily="2" charset="0"/>
              </a:rPr>
              <a:t>Unstructured Narrative Overload: Most radiology reports contain free-text descriptions instead of standardized, machine-readable clinical information.</a:t>
            </a:r>
          </a:p>
          <a:p>
            <a:pPr marL="342900" lvl="0" indent="-342900">
              <a:buFont typeface="Arial" panose="020B0604020202020204" pitchFamily="34" charset="0"/>
              <a:buChar char="•"/>
            </a:pPr>
            <a:r>
              <a:rPr lang="en-IN" sz="2400" dirty="0">
                <a:latin typeface="EB Garamond" panose="00000500000000000000" pitchFamily="2" charset="0"/>
                <a:ea typeface="EB Garamond" panose="00000500000000000000" pitchFamily="2" charset="0"/>
              </a:rPr>
              <a:t>Radiologist Cognitive Fatigue: A large number of reports can increase workload and make it harder to identify critical abnormalities quickly.</a:t>
            </a:r>
          </a:p>
          <a:p>
            <a:pPr marL="342900" lvl="0" indent="-342900">
              <a:buFont typeface="Arial" panose="020B0604020202020204" pitchFamily="34" charset="0"/>
              <a:buChar char="•"/>
            </a:pPr>
            <a:r>
              <a:rPr lang="en-IN" sz="2400" dirty="0">
                <a:latin typeface="EB Garamond" panose="00000500000000000000" pitchFamily="2" charset="0"/>
                <a:ea typeface="EB Garamond" panose="00000500000000000000" pitchFamily="2" charset="0"/>
              </a:rPr>
              <a:t>Emergency Triage Delay: Without automated text analysis, emergency departments may struggle to prioritize reports mentioning urgent conditions such as pneumothorax or acute pulmonary </a:t>
            </a:r>
            <a:r>
              <a:rPr lang="en-IN" sz="2400" dirty="0" err="1">
                <a:latin typeface="EB Garamond" panose="00000500000000000000" pitchFamily="2" charset="0"/>
                <a:ea typeface="EB Garamond" panose="00000500000000000000" pitchFamily="2" charset="0"/>
              </a:rPr>
              <a:t>edema</a:t>
            </a:r>
            <a:r>
              <a:rPr lang="en-IN" sz="2400" dirty="0">
                <a:latin typeface="EB Garamond" panose="00000500000000000000" pitchFamily="2" charset="0"/>
                <a:ea typeface="EB Garamond" panose="00000500000000000000" pitchFamily="2" charset="0"/>
              </a:rPr>
              <a:t>.</a:t>
            </a:r>
          </a:p>
        </p:txBody>
      </p:sp>
      <p:sp>
        <p:nvSpPr>
          <p:cNvPr id="13" name="TextBox 12">
            <a:extLst>
              <a:ext uri="{FF2B5EF4-FFF2-40B4-BE49-F238E27FC236}">
                <a16:creationId xmlns:a16="http://schemas.microsoft.com/office/drawing/2014/main" id="{896BE3C4-B017-30F4-C3EF-B4DBB2F519C3}"/>
              </a:ext>
            </a:extLst>
          </p:cNvPr>
          <p:cNvSpPr txBox="1"/>
          <p:nvPr/>
        </p:nvSpPr>
        <p:spPr>
          <a:xfrm>
            <a:off x="9406128" y="1562100"/>
            <a:ext cx="8577072" cy="1938992"/>
          </a:xfrm>
          <a:prstGeom prst="rect">
            <a:avLst/>
          </a:prstGeom>
          <a:noFill/>
        </p:spPr>
        <p:txBody>
          <a:bodyPr wrap="square">
            <a:spAutoFit/>
          </a:bodyPr>
          <a:lstStyle/>
          <a:p>
            <a:pPr>
              <a:lnSpc>
                <a:spcPct val="150000"/>
              </a:lnSpc>
              <a:buNone/>
            </a:pPr>
            <a:r>
              <a:rPr lang="en-IN" sz="3200" b="1" dirty="0">
                <a:latin typeface="EB Garamond" panose="00000500000000000000" pitchFamily="2" charset="0"/>
                <a:ea typeface="EB Garamond" panose="00000500000000000000" pitchFamily="2" charset="0"/>
              </a:rPr>
              <a:t>Base Paper Implication</a:t>
            </a:r>
          </a:p>
          <a:p>
            <a:pPr>
              <a:buNone/>
            </a:pPr>
            <a:endParaRPr lang="en-IN" sz="2400" dirty="0"/>
          </a:p>
          <a:p>
            <a:pPr>
              <a:buNone/>
            </a:pPr>
            <a:endParaRPr lang="en-IN" sz="2400" dirty="0"/>
          </a:p>
          <a:p>
            <a:pPr>
              <a:buNone/>
            </a:pPr>
            <a:endParaRPr lang="en-IN" sz="2400" dirty="0">
              <a:latin typeface="EB Garamond" panose="00000500000000000000" pitchFamily="2" charset="0"/>
              <a:ea typeface="EB Garamond" panose="00000500000000000000" pitchFamily="2" charset="0"/>
            </a:endParaRPr>
          </a:p>
        </p:txBody>
      </p:sp>
      <p:graphicFrame>
        <p:nvGraphicFramePr>
          <p:cNvPr id="14" name="Table 13">
            <a:extLst>
              <a:ext uri="{FF2B5EF4-FFF2-40B4-BE49-F238E27FC236}">
                <a16:creationId xmlns:a16="http://schemas.microsoft.com/office/drawing/2014/main" id="{AAF69F8E-52CC-858C-BEE7-3320CAACC70E}"/>
              </a:ext>
            </a:extLst>
          </p:cNvPr>
          <p:cNvGraphicFramePr>
            <a:graphicFrameLocks noGrp="1"/>
          </p:cNvGraphicFramePr>
          <p:nvPr>
            <p:extLst>
              <p:ext uri="{D42A27DB-BD31-4B8C-83A1-F6EECF244321}">
                <p14:modId xmlns:p14="http://schemas.microsoft.com/office/powerpoint/2010/main" val="2884417706"/>
              </p:ext>
            </p:extLst>
          </p:nvPr>
        </p:nvGraphicFramePr>
        <p:xfrm>
          <a:off x="9601200" y="2504398"/>
          <a:ext cx="7848600" cy="3901440"/>
        </p:xfrm>
        <a:graphic>
          <a:graphicData uri="http://schemas.openxmlformats.org/drawingml/2006/table">
            <a:tbl>
              <a:tblPr>
                <a:tableStyleId>{5C22544A-7EE6-4342-B048-85BDC9FD1C3A}</a:tableStyleId>
              </a:tblPr>
              <a:tblGrid>
                <a:gridCol w="2616200">
                  <a:extLst>
                    <a:ext uri="{9D8B030D-6E8A-4147-A177-3AD203B41FA5}">
                      <a16:colId xmlns:a16="http://schemas.microsoft.com/office/drawing/2014/main" val="2719778477"/>
                    </a:ext>
                  </a:extLst>
                </a:gridCol>
                <a:gridCol w="2616200">
                  <a:extLst>
                    <a:ext uri="{9D8B030D-6E8A-4147-A177-3AD203B41FA5}">
                      <a16:colId xmlns:a16="http://schemas.microsoft.com/office/drawing/2014/main" val="2206033991"/>
                    </a:ext>
                  </a:extLst>
                </a:gridCol>
                <a:gridCol w="2616200">
                  <a:extLst>
                    <a:ext uri="{9D8B030D-6E8A-4147-A177-3AD203B41FA5}">
                      <a16:colId xmlns:a16="http://schemas.microsoft.com/office/drawing/2014/main" val="2749833672"/>
                    </a:ext>
                  </a:extLst>
                </a:gridCol>
              </a:tblGrid>
              <a:tr h="277223">
                <a:tc>
                  <a:txBody>
                    <a:bodyPr/>
                    <a:lstStyle/>
                    <a:p>
                      <a:pPr algn="ctr">
                        <a:buNone/>
                      </a:pPr>
                      <a:r>
                        <a:rPr lang="en-IN" sz="2200" b="1" dirty="0">
                          <a:solidFill>
                            <a:schemeClr val="tx1">
                              <a:lumMod val="95000"/>
                              <a:lumOff val="5000"/>
                            </a:schemeClr>
                          </a:solidFill>
                          <a:latin typeface="EB Garamond" panose="00000500000000000000" pitchFamily="2" charset="0"/>
                          <a:ea typeface="EB Garamond" panose="00000500000000000000" pitchFamily="2" charset="0"/>
                        </a:rPr>
                        <a:t>Metric</a:t>
                      </a:r>
                    </a:p>
                  </a:txBody>
                  <a:tcPr anchor="ctr"/>
                </a:tc>
                <a:tc>
                  <a:txBody>
                    <a:bodyPr/>
                    <a:lstStyle/>
                    <a:p>
                      <a:pPr algn="ctr">
                        <a:buNone/>
                      </a:pPr>
                      <a:r>
                        <a:rPr lang="en-IN" sz="2200" b="1" dirty="0">
                          <a:solidFill>
                            <a:schemeClr val="tx1">
                              <a:lumMod val="95000"/>
                              <a:lumOff val="5000"/>
                            </a:schemeClr>
                          </a:solidFill>
                          <a:latin typeface="EB Garamond" panose="00000500000000000000" pitchFamily="2" charset="0"/>
                          <a:ea typeface="EB Garamond" panose="00000500000000000000" pitchFamily="2" charset="0"/>
                        </a:rPr>
                        <a:t>Reported value</a:t>
                      </a:r>
                    </a:p>
                  </a:txBody>
                  <a:tcPr anchor="ctr"/>
                </a:tc>
                <a:tc>
                  <a:txBody>
                    <a:bodyPr/>
                    <a:lstStyle/>
                    <a:p>
                      <a:pPr algn="ctr">
                        <a:buNone/>
                      </a:pPr>
                      <a:r>
                        <a:rPr lang="en-IN" sz="2200" b="1" dirty="0">
                          <a:solidFill>
                            <a:schemeClr val="tx1">
                              <a:lumMod val="95000"/>
                              <a:lumOff val="5000"/>
                            </a:schemeClr>
                          </a:solidFill>
                          <a:latin typeface="EB Garamond" panose="00000500000000000000" pitchFamily="2" charset="0"/>
                          <a:ea typeface="EB Garamond" panose="00000500000000000000" pitchFamily="2" charset="0"/>
                        </a:rPr>
                        <a:t>Meaning</a:t>
                      </a:r>
                    </a:p>
                  </a:txBody>
                  <a:tcPr anchor="ctr"/>
                </a:tc>
                <a:extLst>
                  <a:ext uri="{0D108BD9-81ED-4DB2-BD59-A6C34878D82A}">
                    <a16:rowId xmlns:a16="http://schemas.microsoft.com/office/drawing/2014/main" val="2956656811"/>
                  </a:ext>
                </a:extLst>
              </a:tr>
              <a:tr h="485140">
                <a:tc>
                  <a:txBody>
                    <a:bodyPr/>
                    <a:lstStyle/>
                    <a:p>
                      <a:pPr algn="ctr">
                        <a:buNone/>
                      </a:pPr>
                      <a:r>
                        <a:rPr lang="en-IN">
                          <a:solidFill>
                            <a:schemeClr val="tx1">
                              <a:lumMod val="95000"/>
                              <a:lumOff val="5000"/>
                            </a:schemeClr>
                          </a:solidFill>
                          <a:latin typeface="EB Garamond" panose="00000500000000000000" pitchFamily="2" charset="0"/>
                          <a:ea typeface="EB Garamond" panose="00000500000000000000" pitchFamily="2" charset="0"/>
                        </a:rPr>
                        <a:t>Sensitivity</a:t>
                      </a:r>
                    </a:p>
                  </a:txBody>
                  <a:tcPr anchor="ctr"/>
                </a:tc>
                <a:tc>
                  <a:txBody>
                    <a:bodyPr/>
                    <a:lstStyle/>
                    <a:p>
                      <a:pPr algn="ctr">
                        <a:buNone/>
                      </a:pPr>
                      <a:r>
                        <a:rPr lang="en-IN" dirty="0">
                          <a:solidFill>
                            <a:schemeClr val="tx1">
                              <a:lumMod val="95000"/>
                              <a:lumOff val="5000"/>
                            </a:schemeClr>
                          </a:solidFill>
                          <a:latin typeface="EB Garamond" panose="00000500000000000000" pitchFamily="2" charset="0"/>
                          <a:ea typeface="EB Garamond" panose="00000500000000000000" pitchFamily="2" charset="0"/>
                        </a:rPr>
                        <a:t>91%</a:t>
                      </a:r>
                    </a:p>
                  </a:txBody>
                  <a:tcPr anchor="ctr"/>
                </a:tc>
                <a:tc>
                  <a:txBody>
                    <a:bodyPr/>
                    <a:lstStyle/>
                    <a:p>
                      <a:pPr algn="ctr">
                        <a:buNone/>
                      </a:pPr>
                      <a:r>
                        <a:rPr lang="en-IN">
                          <a:solidFill>
                            <a:schemeClr val="tx1">
                              <a:lumMod val="95000"/>
                              <a:lumOff val="5000"/>
                            </a:schemeClr>
                          </a:solidFill>
                          <a:latin typeface="EB Garamond" panose="00000500000000000000" pitchFamily="2" charset="0"/>
                          <a:ea typeface="EB Garamond" panose="00000500000000000000" pitchFamily="2" charset="0"/>
                        </a:rPr>
                        <a:t>Ability to identify actual positive cases</a:t>
                      </a:r>
                    </a:p>
                  </a:txBody>
                  <a:tcPr anchor="ctr"/>
                </a:tc>
                <a:extLst>
                  <a:ext uri="{0D108BD9-81ED-4DB2-BD59-A6C34878D82A}">
                    <a16:rowId xmlns:a16="http://schemas.microsoft.com/office/drawing/2014/main" val="3670829260"/>
                  </a:ext>
                </a:extLst>
              </a:tr>
              <a:tr h="485140">
                <a:tc>
                  <a:txBody>
                    <a:bodyPr/>
                    <a:lstStyle/>
                    <a:p>
                      <a:pPr algn="ctr">
                        <a:buNone/>
                      </a:pPr>
                      <a:r>
                        <a:rPr lang="en-IN">
                          <a:solidFill>
                            <a:schemeClr val="tx1">
                              <a:lumMod val="95000"/>
                              <a:lumOff val="5000"/>
                            </a:schemeClr>
                          </a:solidFill>
                          <a:latin typeface="EB Garamond" panose="00000500000000000000" pitchFamily="2" charset="0"/>
                          <a:ea typeface="EB Garamond" panose="00000500000000000000" pitchFamily="2" charset="0"/>
                        </a:rPr>
                        <a:t>Specificity</a:t>
                      </a:r>
                    </a:p>
                  </a:txBody>
                  <a:tcPr anchor="ctr"/>
                </a:tc>
                <a:tc>
                  <a:txBody>
                    <a:bodyPr/>
                    <a:lstStyle/>
                    <a:p>
                      <a:pPr algn="ctr">
                        <a:buNone/>
                      </a:pPr>
                      <a:r>
                        <a:rPr lang="en-IN">
                          <a:solidFill>
                            <a:schemeClr val="tx1">
                              <a:lumMod val="95000"/>
                              <a:lumOff val="5000"/>
                            </a:schemeClr>
                          </a:solidFill>
                          <a:latin typeface="EB Garamond" panose="00000500000000000000" pitchFamily="2" charset="0"/>
                          <a:ea typeface="EB Garamond" panose="00000500000000000000" pitchFamily="2" charset="0"/>
                        </a:rPr>
                        <a:t>96%</a:t>
                      </a:r>
                    </a:p>
                  </a:txBody>
                  <a:tcPr anchor="ctr"/>
                </a:tc>
                <a:tc>
                  <a:txBody>
                    <a:bodyPr/>
                    <a:lstStyle/>
                    <a:p>
                      <a:pPr algn="ctr">
                        <a:buNone/>
                      </a:pPr>
                      <a:r>
                        <a:rPr lang="en-IN">
                          <a:solidFill>
                            <a:schemeClr val="tx1">
                              <a:lumMod val="95000"/>
                              <a:lumOff val="5000"/>
                            </a:schemeClr>
                          </a:solidFill>
                          <a:latin typeface="EB Garamond" panose="00000500000000000000" pitchFamily="2" charset="0"/>
                          <a:ea typeface="EB Garamond" panose="00000500000000000000" pitchFamily="2" charset="0"/>
                        </a:rPr>
                        <a:t>Ability to identify actual negative cases</a:t>
                      </a:r>
                    </a:p>
                  </a:txBody>
                  <a:tcPr anchor="ctr"/>
                </a:tc>
                <a:extLst>
                  <a:ext uri="{0D108BD9-81ED-4DB2-BD59-A6C34878D82A}">
                    <a16:rowId xmlns:a16="http://schemas.microsoft.com/office/drawing/2014/main" val="2804894540"/>
                  </a:ext>
                </a:extLst>
              </a:tr>
              <a:tr h="693057">
                <a:tc>
                  <a:txBody>
                    <a:bodyPr/>
                    <a:lstStyle/>
                    <a:p>
                      <a:pPr algn="ctr">
                        <a:buNone/>
                      </a:pPr>
                      <a:r>
                        <a:rPr lang="en-IN" dirty="0">
                          <a:solidFill>
                            <a:schemeClr val="tx1">
                              <a:lumMod val="95000"/>
                              <a:lumOff val="5000"/>
                            </a:schemeClr>
                          </a:solidFill>
                          <a:latin typeface="EB Garamond" panose="00000500000000000000" pitchFamily="2" charset="0"/>
                          <a:ea typeface="EB Garamond" panose="00000500000000000000" pitchFamily="2" charset="0"/>
                        </a:rPr>
                        <a:t>AUROC</a:t>
                      </a:r>
                    </a:p>
                  </a:txBody>
                  <a:tcPr anchor="ctr"/>
                </a:tc>
                <a:tc>
                  <a:txBody>
                    <a:bodyPr/>
                    <a:lstStyle/>
                    <a:p>
                      <a:pPr algn="ctr">
                        <a:buNone/>
                      </a:pPr>
                      <a:r>
                        <a:rPr lang="en-IN" dirty="0">
                          <a:solidFill>
                            <a:schemeClr val="tx1">
                              <a:lumMod val="95000"/>
                              <a:lumOff val="5000"/>
                            </a:schemeClr>
                          </a:solidFill>
                          <a:latin typeface="EB Garamond" panose="00000500000000000000" pitchFamily="2" charset="0"/>
                          <a:ea typeface="EB Garamond" panose="00000500000000000000" pitchFamily="2" charset="0"/>
                        </a:rPr>
                        <a:t>0.980</a:t>
                      </a:r>
                    </a:p>
                  </a:txBody>
                  <a:tcPr anchor="ctr"/>
                </a:tc>
                <a:tc>
                  <a:txBody>
                    <a:bodyPr/>
                    <a:lstStyle/>
                    <a:p>
                      <a:pPr algn="ctr">
                        <a:buNone/>
                      </a:pPr>
                      <a:r>
                        <a:rPr lang="en-IN">
                          <a:solidFill>
                            <a:schemeClr val="tx1">
                              <a:lumMod val="95000"/>
                              <a:lumOff val="5000"/>
                            </a:schemeClr>
                          </a:solidFill>
                          <a:latin typeface="EB Garamond" panose="00000500000000000000" pitchFamily="2" charset="0"/>
                          <a:ea typeface="EB Garamond" panose="00000500000000000000" pitchFamily="2" charset="0"/>
                        </a:rPr>
                        <a:t>Ability to distinguish positive cases from negative cases</a:t>
                      </a:r>
                    </a:p>
                  </a:txBody>
                  <a:tcPr anchor="ctr"/>
                </a:tc>
                <a:extLst>
                  <a:ext uri="{0D108BD9-81ED-4DB2-BD59-A6C34878D82A}">
                    <a16:rowId xmlns:a16="http://schemas.microsoft.com/office/drawing/2014/main" val="1293496232"/>
                  </a:ext>
                </a:extLst>
              </a:tr>
              <a:tr h="424180">
                <a:tc>
                  <a:txBody>
                    <a:bodyPr/>
                    <a:lstStyle/>
                    <a:p>
                      <a:pPr algn="ctr">
                        <a:buNone/>
                      </a:pPr>
                      <a:r>
                        <a:rPr lang="en-IN">
                          <a:solidFill>
                            <a:schemeClr val="tx1">
                              <a:lumMod val="95000"/>
                              <a:lumOff val="5000"/>
                            </a:schemeClr>
                          </a:solidFill>
                          <a:latin typeface="EB Garamond" panose="00000500000000000000" pitchFamily="2" charset="0"/>
                          <a:ea typeface="EB Garamond" panose="00000500000000000000" pitchFamily="2" charset="0"/>
                        </a:rPr>
                        <a:t>Studies reviewed</a:t>
                      </a:r>
                    </a:p>
                  </a:txBody>
                  <a:tcPr anchor="ctr"/>
                </a:tc>
                <a:tc>
                  <a:txBody>
                    <a:bodyPr/>
                    <a:lstStyle/>
                    <a:p>
                      <a:pPr algn="ctr">
                        <a:buNone/>
                      </a:pPr>
                      <a:r>
                        <a:rPr lang="en-IN">
                          <a:solidFill>
                            <a:schemeClr val="tx1">
                              <a:lumMod val="95000"/>
                              <a:lumOff val="5000"/>
                            </a:schemeClr>
                          </a:solidFill>
                          <a:latin typeface="EB Garamond" panose="00000500000000000000" pitchFamily="2" charset="0"/>
                          <a:ea typeface="EB Garamond" panose="00000500000000000000" pitchFamily="2" charset="0"/>
                        </a:rPr>
                        <a:t>28</a:t>
                      </a:r>
                    </a:p>
                  </a:txBody>
                  <a:tcPr anchor="ctr"/>
                </a:tc>
                <a:tc>
                  <a:txBody>
                    <a:bodyPr/>
                    <a:lstStyle/>
                    <a:p>
                      <a:pPr algn="ctr">
                        <a:buNone/>
                      </a:pPr>
                      <a:r>
                        <a:rPr lang="en-IN">
                          <a:solidFill>
                            <a:schemeClr val="tx1">
                              <a:lumMod val="95000"/>
                              <a:lumOff val="5000"/>
                            </a:schemeClr>
                          </a:solidFill>
                          <a:latin typeface="EB Garamond" panose="00000500000000000000" pitchFamily="2" charset="0"/>
                          <a:ea typeface="EB Garamond" panose="00000500000000000000" pitchFamily="2" charset="0"/>
                        </a:rPr>
                        <a:t>Number of studies included</a:t>
                      </a:r>
                    </a:p>
                  </a:txBody>
                  <a:tcPr anchor="ctr"/>
                </a:tc>
                <a:extLst>
                  <a:ext uri="{0D108BD9-81ED-4DB2-BD59-A6C34878D82A}">
                    <a16:rowId xmlns:a16="http://schemas.microsoft.com/office/drawing/2014/main" val="871178200"/>
                  </a:ext>
                </a:extLst>
              </a:tr>
              <a:tr h="485140">
                <a:tc>
                  <a:txBody>
                    <a:bodyPr/>
                    <a:lstStyle/>
                    <a:p>
                      <a:pPr algn="ctr">
                        <a:buNone/>
                      </a:pPr>
                      <a:r>
                        <a:rPr lang="en-IN">
                          <a:solidFill>
                            <a:schemeClr val="tx1">
                              <a:lumMod val="95000"/>
                              <a:lumOff val="5000"/>
                            </a:schemeClr>
                          </a:solidFill>
                          <a:latin typeface="EB Garamond" panose="00000500000000000000" pitchFamily="2" charset="0"/>
                          <a:ea typeface="EB Garamond" panose="00000500000000000000" pitchFamily="2" charset="0"/>
                        </a:rPr>
                        <a:t>Patients</a:t>
                      </a:r>
                    </a:p>
                  </a:txBody>
                  <a:tcPr anchor="ctr"/>
                </a:tc>
                <a:tc>
                  <a:txBody>
                    <a:bodyPr/>
                    <a:lstStyle/>
                    <a:p>
                      <a:pPr algn="ctr">
                        <a:buNone/>
                      </a:pPr>
                      <a:r>
                        <a:rPr lang="en-IN">
                          <a:solidFill>
                            <a:schemeClr val="tx1">
                              <a:lumMod val="95000"/>
                              <a:lumOff val="5000"/>
                            </a:schemeClr>
                          </a:solidFill>
                          <a:latin typeface="EB Garamond" panose="00000500000000000000" pitchFamily="2" charset="0"/>
                          <a:ea typeface="EB Garamond" panose="00000500000000000000" pitchFamily="2" charset="0"/>
                        </a:rPr>
                        <a:t>8,806+</a:t>
                      </a:r>
                    </a:p>
                  </a:txBody>
                  <a:tcPr anchor="ctr"/>
                </a:tc>
                <a:tc>
                  <a:txBody>
                    <a:bodyPr/>
                    <a:lstStyle/>
                    <a:p>
                      <a:pPr algn="ctr">
                        <a:buNone/>
                      </a:pPr>
                      <a:r>
                        <a:rPr lang="en-IN" dirty="0">
                          <a:solidFill>
                            <a:schemeClr val="tx1">
                              <a:lumMod val="95000"/>
                              <a:lumOff val="5000"/>
                            </a:schemeClr>
                          </a:solidFill>
                          <a:latin typeface="EB Garamond" panose="00000500000000000000" pitchFamily="2" charset="0"/>
                          <a:ea typeface="EB Garamond" panose="00000500000000000000" pitchFamily="2" charset="0"/>
                        </a:rPr>
                        <a:t>Reported total patient population</a:t>
                      </a:r>
                    </a:p>
                  </a:txBody>
                  <a:tcPr anchor="ctr"/>
                </a:tc>
                <a:extLst>
                  <a:ext uri="{0D108BD9-81ED-4DB2-BD59-A6C34878D82A}">
                    <a16:rowId xmlns:a16="http://schemas.microsoft.com/office/drawing/2014/main" val="544908059"/>
                  </a:ext>
                </a:extLst>
              </a:tr>
            </a:tbl>
          </a:graphicData>
        </a:graphic>
      </p:graphicFrame>
      <p:sp>
        <p:nvSpPr>
          <p:cNvPr id="17" name="TextBox 16">
            <a:extLst>
              <a:ext uri="{FF2B5EF4-FFF2-40B4-BE49-F238E27FC236}">
                <a16:creationId xmlns:a16="http://schemas.microsoft.com/office/drawing/2014/main" id="{907A3074-CA9A-3DB2-C411-1D22A692F3ED}"/>
              </a:ext>
            </a:extLst>
          </p:cNvPr>
          <p:cNvSpPr txBox="1"/>
          <p:nvPr/>
        </p:nvSpPr>
        <p:spPr>
          <a:xfrm>
            <a:off x="641554" y="6366607"/>
            <a:ext cx="17036846" cy="2985433"/>
          </a:xfrm>
          <a:prstGeom prst="rect">
            <a:avLst/>
          </a:prstGeom>
          <a:noFill/>
        </p:spPr>
        <p:txBody>
          <a:bodyPr wrap="square">
            <a:spAutoFit/>
          </a:bodyPr>
          <a:lstStyle/>
          <a:p>
            <a:pPr>
              <a:lnSpc>
                <a:spcPct val="150000"/>
              </a:lnSpc>
              <a:buNone/>
            </a:pPr>
            <a:r>
              <a:rPr lang="en-IN" sz="3200" b="1" dirty="0">
                <a:latin typeface="EB Garamond" panose="00000500000000000000" pitchFamily="2" charset="0"/>
                <a:ea typeface="EB Garamond" panose="00000500000000000000" pitchFamily="2" charset="0"/>
              </a:rPr>
              <a:t>The Research Implementation</a:t>
            </a:r>
          </a:p>
          <a:p>
            <a:pPr>
              <a:buNone/>
            </a:pPr>
            <a:r>
              <a:rPr lang="en-IN" sz="2800" dirty="0">
                <a:latin typeface="EB Garamond" panose="00000500000000000000" pitchFamily="2" charset="0"/>
                <a:ea typeface="EB Garamond" panose="00000500000000000000" pitchFamily="2" charset="0"/>
              </a:rPr>
              <a:t>Phase 3 focuses on developing an NLP pipeline to process unstructured radiology reports, preprocess the text, and extract important clinical findings. The model will be trained and validated to classify normal and abnormal cases. Its performance will be evaluated using precision, recall, F1-score, and AUROC. The system will help identify critical abnormalities and prioritize high-risk reports for faster clinical review. The results will be compared with established literature benchmarks to assess the model's effectiveness and reliability.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E02CE-94BB-BEA4-902C-4257E4B2C3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94167B4-8520-657E-2B24-36F07762B37E}"/>
              </a:ext>
            </a:extLst>
          </p:cNvPr>
          <p:cNvSpPr txBox="1"/>
          <p:nvPr/>
        </p:nvSpPr>
        <p:spPr>
          <a:xfrm>
            <a:off x="566928" y="300000"/>
            <a:ext cx="17154144" cy="461665"/>
          </a:xfrm>
          <a:prstGeom prst="rect">
            <a:avLst/>
          </a:prstGeom>
          <a:noFill/>
        </p:spPr>
        <p:txBody>
          <a:bodyPr wrap="square">
            <a:spAutoFit/>
          </a:bodyPr>
          <a:lstStyle/>
          <a:p>
            <a:pPr>
              <a:defRPr sz="1100" b="1">
                <a:solidFill>
                  <a:srgbClr val="35598F"/>
                </a:solidFill>
              </a:defRPr>
            </a:pPr>
            <a:r>
              <a:rPr lang="en-IN" sz="2400" dirty="0">
                <a:solidFill>
                  <a:schemeClr val="tx1">
                    <a:lumMod val="95000"/>
                    <a:lumOff val="5000"/>
                  </a:schemeClr>
                </a:solidFill>
                <a:latin typeface="EB Garamond" panose="00000500000000000000" pitchFamily="2" charset="0"/>
                <a:ea typeface="EB Garamond" panose="00000500000000000000" pitchFamily="2" charset="0"/>
              </a:rPr>
              <a:t>PHASE - 3 </a:t>
            </a:r>
          </a:p>
        </p:txBody>
      </p:sp>
      <p:sp>
        <p:nvSpPr>
          <p:cNvPr id="5" name="TextBox 4">
            <a:extLst>
              <a:ext uri="{FF2B5EF4-FFF2-40B4-BE49-F238E27FC236}">
                <a16:creationId xmlns:a16="http://schemas.microsoft.com/office/drawing/2014/main" id="{F8F03D30-EA44-8B57-CA25-6EA588FF37FF}"/>
              </a:ext>
            </a:extLst>
          </p:cNvPr>
          <p:cNvSpPr txBox="1"/>
          <p:nvPr/>
        </p:nvSpPr>
        <p:spPr>
          <a:xfrm>
            <a:off x="566928" y="746111"/>
            <a:ext cx="10134600" cy="646331"/>
          </a:xfrm>
          <a:prstGeom prst="rect">
            <a:avLst/>
          </a:prstGeom>
          <a:noFill/>
        </p:spPr>
        <p:txBody>
          <a:bodyPr wrap="square" rtlCol="0">
            <a:spAutoFit/>
          </a:bodyPr>
          <a:lstStyle/>
          <a:p>
            <a:r>
              <a:rPr lang="en-IN" sz="3600" dirty="0">
                <a:latin typeface="EB Garamond" panose="00000500000000000000" pitchFamily="2" charset="0"/>
                <a:ea typeface="EB Garamond" panose="00000500000000000000" pitchFamily="2" charset="0"/>
              </a:rPr>
              <a:t>Problem Identification and Literature survey</a:t>
            </a:r>
          </a:p>
        </p:txBody>
      </p:sp>
      <p:sp>
        <p:nvSpPr>
          <p:cNvPr id="11" name="TextBox 10">
            <a:extLst>
              <a:ext uri="{FF2B5EF4-FFF2-40B4-BE49-F238E27FC236}">
                <a16:creationId xmlns:a16="http://schemas.microsoft.com/office/drawing/2014/main" id="{872E9F9E-4E92-1D99-4363-041FE1F3F1A8}"/>
              </a:ext>
            </a:extLst>
          </p:cNvPr>
          <p:cNvSpPr txBox="1"/>
          <p:nvPr/>
        </p:nvSpPr>
        <p:spPr>
          <a:xfrm>
            <a:off x="609600" y="1409700"/>
            <a:ext cx="17373600" cy="8725466"/>
          </a:xfrm>
          <a:prstGeom prst="rect">
            <a:avLst/>
          </a:prstGeom>
          <a:noFill/>
        </p:spPr>
        <p:txBody>
          <a:bodyPr wrap="square">
            <a:spAutoFit/>
          </a:bodyPr>
          <a:lstStyle/>
          <a:p>
            <a:pPr>
              <a:lnSpc>
                <a:spcPct val="100000"/>
              </a:lnSpc>
              <a:buNone/>
            </a:pPr>
            <a:r>
              <a:rPr lang="en-IN" sz="3200" b="1" dirty="0">
                <a:latin typeface="EB Garamond" panose="00000500000000000000" pitchFamily="2" charset="0"/>
                <a:ea typeface="EB Garamond" panose="00000500000000000000" pitchFamily="2" charset="0"/>
              </a:rPr>
              <a:t>Critical Gaps in Existing Literature &amp; Proposed Research Formulation</a:t>
            </a:r>
          </a:p>
          <a:p>
            <a:pPr marL="457200" indent="-457200">
              <a:lnSpc>
                <a:spcPct val="200000"/>
              </a:lnSpc>
              <a:buFont typeface="Wingdings" panose="05000000000000000000" pitchFamily="2" charset="2"/>
              <a:buChar char="ü"/>
            </a:pPr>
            <a:r>
              <a:rPr lang="en-IN" sz="3000" b="1" dirty="0">
                <a:latin typeface="EB Garamond" panose="00000500000000000000" pitchFamily="2" charset="0"/>
                <a:ea typeface="EB Garamond" panose="00000500000000000000" pitchFamily="2" charset="0"/>
              </a:rPr>
              <a:t>Gap 1: Unexplained Statistical Heterogeneity</a:t>
            </a:r>
          </a:p>
          <a:p>
            <a:pPr marL="1371600" lvl="2"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Literature Limitation: </a:t>
            </a:r>
            <a:r>
              <a:rPr lang="en-IN" sz="2600" dirty="0">
                <a:latin typeface="EB Garamond" panose="00000500000000000000" pitchFamily="2" charset="0"/>
                <a:ea typeface="EB Garamond" panose="00000500000000000000" pitchFamily="2" charset="0"/>
              </a:rPr>
              <a:t>The base paper reported high variability in model performance (\(I^2 &gt; 90\%\)), with anatomical site identified as a significant factor contributing to this variation. </a:t>
            </a:r>
          </a:p>
          <a:p>
            <a:pPr marL="1371600" lvl="2"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Our Research Solution: </a:t>
            </a:r>
            <a:r>
              <a:rPr lang="en-IN" sz="2600" dirty="0">
                <a:latin typeface="EB Garamond" panose="00000500000000000000" pitchFamily="2" charset="0"/>
                <a:ea typeface="EB Garamond" panose="00000500000000000000" pitchFamily="2" charset="0"/>
              </a:rPr>
              <a:t>Restrict the pipeline to thoracic chest X-ray reports to reduce cross-anatomical vocabulary differences and focus on chest-specific clinical language. The target AUROC of approximately 0.99 is a research objective, not a validated result.</a:t>
            </a:r>
          </a:p>
          <a:p>
            <a:pPr marL="457200" indent="-457200">
              <a:lnSpc>
                <a:spcPct val="150000"/>
              </a:lnSpc>
              <a:buFont typeface="Wingdings" panose="05000000000000000000" pitchFamily="2" charset="2"/>
              <a:buChar char="ü"/>
            </a:pPr>
            <a:r>
              <a:rPr lang="en-IN" sz="3000" b="1" dirty="0">
                <a:latin typeface="EB Garamond" panose="00000500000000000000" pitchFamily="2" charset="0"/>
                <a:ea typeface="EB Garamond" panose="00000500000000000000" pitchFamily="2" charset="0"/>
              </a:rPr>
              <a:t>Gap 2: Inability to Process Scanned Documents</a:t>
            </a:r>
          </a:p>
          <a:p>
            <a:pPr marL="1371600" lvl="2"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Literature Limitation:</a:t>
            </a:r>
            <a:r>
              <a:rPr lang="en-IN" sz="2600" dirty="0">
                <a:latin typeface="EB Garamond" panose="00000500000000000000" pitchFamily="2" charset="0"/>
                <a:ea typeface="EB Garamond" panose="00000500000000000000" pitchFamily="2" charset="0"/>
              </a:rPr>
              <a:t> Systems designed for digital text may fail when reports are available as scanned PDFs or faxed documents containing images instead of selectable text. </a:t>
            </a:r>
          </a:p>
          <a:p>
            <a:pPr marL="1371600" lvl="2"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Our Engineering Solution:</a:t>
            </a:r>
            <a:r>
              <a:rPr lang="en-IN" sz="2600" dirty="0">
                <a:latin typeface="EB Garamond" panose="00000500000000000000" pitchFamily="2" charset="0"/>
                <a:ea typeface="EB Garamond" panose="00000500000000000000" pitchFamily="2" charset="0"/>
              </a:rPr>
              <a:t> Integrate </a:t>
            </a:r>
            <a:r>
              <a:rPr lang="en-IN" sz="2600" dirty="0" err="1">
                <a:latin typeface="EB Garamond" panose="00000500000000000000" pitchFamily="2" charset="0"/>
                <a:ea typeface="EB Garamond" panose="00000500000000000000" pitchFamily="2" charset="0"/>
              </a:rPr>
              <a:t>EasyOCR</a:t>
            </a:r>
            <a:r>
              <a:rPr lang="en-IN" sz="2600" dirty="0">
                <a:latin typeface="EB Garamond" panose="00000500000000000000" pitchFamily="2" charset="0"/>
                <a:ea typeface="EB Garamond" panose="00000500000000000000" pitchFamily="2" charset="0"/>
              </a:rPr>
              <a:t> and </a:t>
            </a:r>
            <a:r>
              <a:rPr lang="en-IN" sz="2600" dirty="0" err="1">
                <a:latin typeface="EB Garamond" panose="00000500000000000000" pitchFamily="2" charset="0"/>
                <a:ea typeface="EB Garamond" panose="00000500000000000000" pitchFamily="2" charset="0"/>
              </a:rPr>
              <a:t>PDFium</a:t>
            </a:r>
            <a:r>
              <a:rPr lang="en-IN" sz="2600" dirty="0">
                <a:latin typeface="EB Garamond" panose="00000500000000000000" pitchFamily="2" charset="0"/>
                <a:ea typeface="EB Garamond" panose="00000500000000000000" pitchFamily="2" charset="0"/>
              </a:rPr>
              <a:t> bitmap rendering to convert scanned report pages into machine-readable text, enabling the NLP pipeline to process both scanned and digital reports.</a:t>
            </a:r>
          </a:p>
          <a:p>
            <a:pPr marL="457200" indent="-457200">
              <a:lnSpc>
                <a:spcPct val="200000"/>
              </a:lnSpc>
              <a:buFont typeface="Wingdings" panose="05000000000000000000" pitchFamily="2" charset="2"/>
              <a:buChar char="ü"/>
            </a:pPr>
            <a:r>
              <a:rPr lang="en-IN" sz="3000" b="1" dirty="0">
                <a:latin typeface="EB Garamond" panose="00000500000000000000" pitchFamily="2" charset="0"/>
                <a:ea typeface="EB Garamond" panose="00000500000000000000" pitchFamily="2" charset="0"/>
              </a:rPr>
              <a:t>Gap 3: Lack of Model Explainability</a:t>
            </a:r>
          </a:p>
          <a:p>
            <a:pPr marL="1371600" lvl="2"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Literature Limitation: </a:t>
            </a:r>
            <a:r>
              <a:rPr lang="en-IN" sz="2600" dirty="0">
                <a:latin typeface="EB Garamond" panose="00000500000000000000" pitchFamily="2" charset="0"/>
                <a:ea typeface="EB Garamond" panose="00000500000000000000" pitchFamily="2" charset="0"/>
              </a:rPr>
              <a:t>Conventional deep learning models may produce predictions without clearly showing which clinical phrases influenced their decisions, limiting interpretability for healthcare professionals. </a:t>
            </a:r>
          </a:p>
          <a:p>
            <a:pPr marL="1371600" lvl="2"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Our Engineering Solution: </a:t>
            </a:r>
            <a:r>
              <a:rPr lang="en-IN" sz="2600" dirty="0">
                <a:latin typeface="EB Garamond" panose="00000500000000000000" pitchFamily="2" charset="0"/>
                <a:ea typeface="EB Garamond" panose="00000500000000000000" pitchFamily="2" charset="0"/>
              </a:rPr>
              <a:t>Implement word-level attention-based evidence highlighting to identify text associated with positive and negative predictions, helping users understand the model's output. Attention scores are explanatory signals, not definitive proof of clinical reasoning.</a:t>
            </a:r>
          </a:p>
        </p:txBody>
      </p:sp>
    </p:spTree>
    <p:extLst>
      <p:ext uri="{BB962C8B-B14F-4D97-AF65-F5344CB8AC3E}">
        <p14:creationId xmlns:p14="http://schemas.microsoft.com/office/powerpoint/2010/main" val="486893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3B1EE-1168-285F-6E4C-10C4FA1F7D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9D37C2-3F28-6076-95DA-A936B5D0D9BB}"/>
              </a:ext>
            </a:extLst>
          </p:cNvPr>
          <p:cNvSpPr txBox="1"/>
          <p:nvPr/>
        </p:nvSpPr>
        <p:spPr>
          <a:xfrm>
            <a:off x="566928" y="300000"/>
            <a:ext cx="17154144" cy="461665"/>
          </a:xfrm>
          <a:prstGeom prst="rect">
            <a:avLst/>
          </a:prstGeom>
          <a:noFill/>
        </p:spPr>
        <p:txBody>
          <a:bodyPr wrap="square">
            <a:spAutoFit/>
          </a:bodyPr>
          <a:lstStyle/>
          <a:p>
            <a:pPr>
              <a:defRPr sz="1100" b="1">
                <a:solidFill>
                  <a:srgbClr val="35598F"/>
                </a:solidFill>
              </a:defRPr>
            </a:pPr>
            <a:r>
              <a:rPr lang="en-IN" sz="2400" dirty="0">
                <a:solidFill>
                  <a:schemeClr val="tx1">
                    <a:lumMod val="95000"/>
                    <a:lumOff val="5000"/>
                  </a:schemeClr>
                </a:solidFill>
                <a:latin typeface="EB Garamond" panose="00000500000000000000" pitchFamily="2" charset="0"/>
                <a:ea typeface="EB Garamond" panose="00000500000000000000" pitchFamily="2" charset="0"/>
              </a:rPr>
              <a:t>PHASE - 3 </a:t>
            </a:r>
          </a:p>
        </p:txBody>
      </p:sp>
      <p:sp>
        <p:nvSpPr>
          <p:cNvPr id="5" name="TextBox 4">
            <a:extLst>
              <a:ext uri="{FF2B5EF4-FFF2-40B4-BE49-F238E27FC236}">
                <a16:creationId xmlns:a16="http://schemas.microsoft.com/office/drawing/2014/main" id="{86D1EC7A-A1A4-67B0-BCE5-BC4DFD009123}"/>
              </a:ext>
            </a:extLst>
          </p:cNvPr>
          <p:cNvSpPr txBox="1"/>
          <p:nvPr/>
        </p:nvSpPr>
        <p:spPr>
          <a:xfrm>
            <a:off x="566928" y="746111"/>
            <a:ext cx="10134600" cy="584775"/>
          </a:xfrm>
          <a:prstGeom prst="rect">
            <a:avLst/>
          </a:prstGeom>
          <a:noFill/>
        </p:spPr>
        <p:txBody>
          <a:bodyPr wrap="square" rtlCol="0">
            <a:spAutoFit/>
          </a:bodyPr>
          <a:lstStyle/>
          <a:p>
            <a:r>
              <a:rPr lang="en-IN" sz="3200" dirty="0">
                <a:latin typeface="EB Garamond" panose="00000500000000000000" pitchFamily="2" charset="0"/>
                <a:ea typeface="EB Garamond" panose="00000500000000000000" pitchFamily="2" charset="0"/>
              </a:rPr>
              <a:t>Handling datasets and Data Preprocessing</a:t>
            </a:r>
          </a:p>
        </p:txBody>
      </p:sp>
      <p:sp>
        <p:nvSpPr>
          <p:cNvPr id="11" name="TextBox 10">
            <a:extLst>
              <a:ext uri="{FF2B5EF4-FFF2-40B4-BE49-F238E27FC236}">
                <a16:creationId xmlns:a16="http://schemas.microsoft.com/office/drawing/2014/main" id="{65F9B050-592D-A428-779C-4741E08C089D}"/>
              </a:ext>
            </a:extLst>
          </p:cNvPr>
          <p:cNvSpPr txBox="1"/>
          <p:nvPr/>
        </p:nvSpPr>
        <p:spPr>
          <a:xfrm>
            <a:off x="609600" y="1398556"/>
            <a:ext cx="17373600" cy="8545544"/>
          </a:xfrm>
          <a:prstGeom prst="rect">
            <a:avLst/>
          </a:prstGeom>
          <a:noFill/>
        </p:spPr>
        <p:txBody>
          <a:bodyPr wrap="square">
            <a:spAutoFit/>
          </a:bodyPr>
          <a:lstStyle/>
          <a:p>
            <a:pPr>
              <a:lnSpc>
                <a:spcPct val="150000"/>
              </a:lnSpc>
              <a:buNone/>
            </a:pPr>
            <a:r>
              <a:rPr lang="en-IN" sz="3200" b="1" dirty="0">
                <a:latin typeface="EB Garamond" panose="00000500000000000000" pitchFamily="2" charset="0"/>
                <a:ea typeface="EB Garamond" panose="00000500000000000000" pitchFamily="2" charset="0"/>
              </a:rPr>
              <a:t>Data Source Identification &amp; Resolving Clinical Inconsistencies –</a:t>
            </a:r>
          </a:p>
          <a:p>
            <a:pPr>
              <a:lnSpc>
                <a:spcPct val="150000"/>
              </a:lnSpc>
              <a:buNone/>
            </a:pPr>
            <a:r>
              <a:rPr lang="en-IN" sz="3200" i="1" dirty="0"/>
              <a:t>Rigorous Curation and Preprocessing of 3,927 Indiana University </a:t>
            </a:r>
            <a:r>
              <a:rPr lang="en-IN" sz="3200" i="1" dirty="0" err="1"/>
              <a:t>OpenI</a:t>
            </a:r>
            <a:r>
              <a:rPr lang="en-IN" sz="3200" i="1" dirty="0"/>
              <a:t> Hospital Reports</a:t>
            </a:r>
          </a:p>
          <a:p>
            <a:pPr marL="914400" lvl="1" indent="-457200">
              <a:lnSpc>
                <a:spcPct val="150000"/>
              </a:lnSpc>
              <a:buFont typeface="Wingdings" panose="05000000000000000000" pitchFamily="2" charset="2"/>
              <a:buChar char="ü"/>
            </a:pPr>
            <a:r>
              <a:rPr lang="en-IN" sz="2800" b="1" dirty="0">
                <a:latin typeface="EB Garamond" panose="00000500000000000000" pitchFamily="2" charset="0"/>
                <a:ea typeface="EB Garamond" panose="00000500000000000000" pitchFamily="2" charset="0"/>
              </a:rPr>
              <a:t>Clearly Identified Clinical Data Source:</a:t>
            </a:r>
            <a:endParaRPr lang="en-IN" sz="2800" dirty="0">
              <a:latin typeface="EB Garamond" panose="00000500000000000000" pitchFamily="2" charset="0"/>
              <a:ea typeface="EB Garamond" panose="00000500000000000000" pitchFamily="2" charset="0"/>
            </a:endParaRPr>
          </a:p>
          <a:p>
            <a:pPr marL="1828800" lvl="3"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Benchmark Repository:</a:t>
            </a:r>
            <a:r>
              <a:rPr lang="en-IN" sz="2600" dirty="0">
                <a:latin typeface="EB Garamond" panose="00000500000000000000" pitchFamily="2" charset="0"/>
                <a:ea typeface="EB Garamond" panose="00000500000000000000" pitchFamily="2" charset="0"/>
              </a:rPr>
              <a:t> Indiana University Chest X-Ray Collection (</a:t>
            </a:r>
            <a:r>
              <a:rPr lang="en-IN" sz="2600" dirty="0" err="1">
                <a:latin typeface="EB Garamond" panose="00000500000000000000" pitchFamily="2" charset="0"/>
                <a:ea typeface="EB Garamond" panose="00000500000000000000" pitchFamily="2" charset="0"/>
              </a:rPr>
              <a:t>OpenI</a:t>
            </a:r>
            <a:r>
              <a:rPr lang="en-IN" sz="2600" dirty="0">
                <a:latin typeface="EB Garamond" panose="00000500000000000000" pitchFamily="2" charset="0"/>
                <a:ea typeface="EB Garamond" panose="00000500000000000000" pitchFamily="2" charset="0"/>
              </a:rPr>
              <a:t> / National Library of Medicine).</a:t>
            </a:r>
          </a:p>
          <a:p>
            <a:pPr marL="1828800" lvl="3"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Dataset Scale:</a:t>
            </a:r>
            <a:r>
              <a:rPr lang="en-IN" sz="2600" dirty="0">
                <a:latin typeface="EB Garamond" panose="00000500000000000000" pitchFamily="2" charset="0"/>
                <a:ea typeface="EB Garamond" panose="00000500000000000000" pitchFamily="2" charset="0"/>
              </a:rPr>
              <a:t> Ingested 3,955 raw hospital XML records, curated and validated into </a:t>
            </a:r>
            <a:r>
              <a:rPr lang="en-IN" sz="2600" b="1" dirty="0">
                <a:latin typeface="EB Garamond" panose="00000500000000000000" pitchFamily="2" charset="0"/>
                <a:ea typeface="EB Garamond" panose="00000500000000000000" pitchFamily="2" charset="0"/>
              </a:rPr>
              <a:t>3,927 clinical patient reports</a:t>
            </a:r>
            <a:r>
              <a:rPr lang="en-IN" sz="2600" dirty="0">
                <a:latin typeface="EB Garamond" panose="00000500000000000000" pitchFamily="2" charset="0"/>
                <a:ea typeface="EB Garamond" panose="00000500000000000000" pitchFamily="2" charset="0"/>
              </a:rPr>
              <a:t>.</a:t>
            </a:r>
          </a:p>
          <a:p>
            <a:pPr marL="1828800" lvl="3"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Ground-Truth </a:t>
            </a:r>
            <a:r>
              <a:rPr lang="en-IN" sz="2600" b="1" dirty="0" err="1">
                <a:latin typeface="EB Garamond" panose="00000500000000000000" pitchFamily="2" charset="0"/>
                <a:ea typeface="EB Garamond" panose="00000500000000000000" pitchFamily="2" charset="0"/>
              </a:rPr>
              <a:t>Labeling</a:t>
            </a:r>
            <a:r>
              <a:rPr lang="en-IN" sz="2600" b="1" dirty="0">
                <a:latin typeface="EB Garamond" panose="00000500000000000000" pitchFamily="2" charset="0"/>
                <a:ea typeface="EB Garamond" panose="00000500000000000000" pitchFamily="2" charset="0"/>
              </a:rPr>
              <a:t>:</a:t>
            </a:r>
            <a:r>
              <a:rPr lang="en-IN" sz="2600" dirty="0">
                <a:latin typeface="EB Garamond" panose="00000500000000000000" pitchFamily="2" charset="0"/>
                <a:ea typeface="EB Garamond" panose="00000500000000000000" pitchFamily="2" charset="0"/>
              </a:rPr>
              <a:t> Multi-label annotations standardized across 8 </a:t>
            </a:r>
            <a:r>
              <a:rPr lang="en-IN" sz="2600" dirty="0" err="1">
                <a:latin typeface="EB Garamond" panose="00000500000000000000" pitchFamily="2" charset="0"/>
                <a:ea typeface="EB Garamond" panose="00000500000000000000" pitchFamily="2" charset="0"/>
              </a:rPr>
              <a:t>CheXpert</a:t>
            </a:r>
            <a:r>
              <a:rPr lang="en-IN" sz="2600" dirty="0">
                <a:latin typeface="EB Garamond" panose="00000500000000000000" pitchFamily="2" charset="0"/>
                <a:ea typeface="EB Garamond" panose="00000500000000000000" pitchFamily="2" charset="0"/>
              </a:rPr>
              <a:t>-aligned thoracic pathologies (</a:t>
            </a:r>
            <a:r>
              <a:rPr lang="en-IN" sz="2600" i="1" dirty="0">
                <a:latin typeface="EB Garamond" panose="00000500000000000000" pitchFamily="2" charset="0"/>
                <a:ea typeface="EB Garamond" panose="00000500000000000000" pitchFamily="2" charset="0"/>
              </a:rPr>
              <a:t>Cardiomegaly, </a:t>
            </a:r>
            <a:r>
              <a:rPr lang="en-IN" sz="2600" i="1" dirty="0" err="1">
                <a:latin typeface="EB Garamond" panose="00000500000000000000" pitchFamily="2" charset="0"/>
                <a:ea typeface="EB Garamond" panose="00000500000000000000" pitchFamily="2" charset="0"/>
              </a:rPr>
              <a:t>Edema</a:t>
            </a:r>
            <a:r>
              <a:rPr lang="en-IN" sz="2600" i="1" dirty="0">
                <a:latin typeface="EB Garamond" panose="00000500000000000000" pitchFamily="2" charset="0"/>
                <a:ea typeface="EB Garamond" panose="00000500000000000000" pitchFamily="2" charset="0"/>
              </a:rPr>
              <a:t>, Atelectasis, Effusion, Pneumonia, Granuloma, Emphysema, and Normal</a:t>
            </a:r>
            <a:r>
              <a:rPr lang="en-IN" sz="2600" dirty="0">
                <a:latin typeface="EB Garamond" panose="00000500000000000000" pitchFamily="2" charset="0"/>
                <a:ea typeface="EB Garamond" panose="00000500000000000000" pitchFamily="2" charset="0"/>
              </a:rPr>
              <a:t>).</a:t>
            </a:r>
          </a:p>
          <a:p>
            <a:pPr lvl="2"/>
            <a:endParaRPr lang="en-IN" sz="2800" dirty="0">
              <a:latin typeface="EB Garamond" panose="00000500000000000000" pitchFamily="2" charset="0"/>
              <a:ea typeface="EB Garamond" panose="00000500000000000000" pitchFamily="2" charset="0"/>
            </a:endParaRPr>
          </a:p>
          <a:p>
            <a:pPr marL="914400" lvl="1" indent="-457200">
              <a:buFont typeface="Wingdings" panose="05000000000000000000" pitchFamily="2" charset="2"/>
              <a:buChar char="ü"/>
            </a:pPr>
            <a:r>
              <a:rPr lang="en-IN" sz="2800" b="1" dirty="0">
                <a:latin typeface="EB Garamond" panose="00000500000000000000" pitchFamily="2" charset="0"/>
                <a:ea typeface="EB Garamond" panose="00000500000000000000" pitchFamily="2" charset="0"/>
              </a:rPr>
              <a:t>Addressing Real-World Data Inconsistencies:</a:t>
            </a:r>
            <a:endParaRPr lang="en-IN" sz="2800" dirty="0">
              <a:latin typeface="EB Garamond" panose="00000500000000000000" pitchFamily="2" charset="0"/>
              <a:ea typeface="EB Garamond" panose="00000500000000000000" pitchFamily="2" charset="0"/>
            </a:endParaRPr>
          </a:p>
          <a:p>
            <a:pPr marL="1828800" lvl="3"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Narrative Section Hierarchy:</a:t>
            </a:r>
            <a:r>
              <a:rPr lang="en-IN" sz="2600" dirty="0">
                <a:latin typeface="EB Garamond" panose="00000500000000000000" pitchFamily="2" charset="0"/>
                <a:ea typeface="EB Garamond" panose="00000500000000000000" pitchFamily="2" charset="0"/>
              </a:rPr>
              <a:t> Radiology reports vary in formatting; engineered section parsers to extract INDICATION, FINDINGS, and prioritize IMPRESSION as the primary diagnostic conclusion.</a:t>
            </a:r>
          </a:p>
          <a:p>
            <a:pPr marL="1828800" lvl="3"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Clinical Negation Ambiguity:</a:t>
            </a:r>
            <a:r>
              <a:rPr lang="en-IN" sz="2600" dirty="0">
                <a:latin typeface="EB Garamond" panose="00000500000000000000" pitchFamily="2" charset="0"/>
                <a:ea typeface="EB Garamond" panose="00000500000000000000" pitchFamily="2" charset="0"/>
              </a:rPr>
              <a:t> Negated phrases like </a:t>
            </a:r>
            <a:r>
              <a:rPr lang="en-IN" sz="2600" i="1" dirty="0">
                <a:latin typeface="EB Garamond" panose="00000500000000000000" pitchFamily="2" charset="0"/>
                <a:ea typeface="EB Garamond" panose="00000500000000000000" pitchFamily="2" charset="0"/>
              </a:rPr>
              <a:t>"no focal consolidation or pneumothorax"</a:t>
            </a:r>
            <a:r>
              <a:rPr lang="en-IN" sz="2600" dirty="0">
                <a:latin typeface="EB Garamond" panose="00000500000000000000" pitchFamily="2" charset="0"/>
                <a:ea typeface="EB Garamond" panose="00000500000000000000" pitchFamily="2" charset="0"/>
              </a:rPr>
              <a:t> confuse standard NLP; built bound negation bi-gram tokenizers to preserve negation context and prevent false positives.</a:t>
            </a:r>
          </a:p>
          <a:p>
            <a:pPr marL="1828800" lvl="3"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HIPAA De-Identification Artifacts:</a:t>
            </a:r>
            <a:r>
              <a:rPr lang="en-IN" sz="2600" dirty="0">
                <a:latin typeface="EB Garamond" panose="00000500000000000000" pitchFamily="2" charset="0"/>
                <a:ea typeface="EB Garamond" panose="00000500000000000000" pitchFamily="2" charset="0"/>
              </a:rPr>
              <a:t> Scrubbed recurring anonymization tags (e.g., XXXX, administrative timestamps) and standardized inconsistent medical abbreviations.</a:t>
            </a:r>
          </a:p>
          <a:p>
            <a:pPr marL="1828800" lvl="3" indent="-457200">
              <a:buFont typeface="Wingdings" panose="05000000000000000000" pitchFamily="2" charset="2"/>
              <a:buChar char="Ø"/>
            </a:pPr>
            <a:r>
              <a:rPr lang="en-IN" sz="2600" b="1" dirty="0">
                <a:latin typeface="EB Garamond" panose="00000500000000000000" pitchFamily="2" charset="0"/>
                <a:ea typeface="EB Garamond" panose="00000500000000000000" pitchFamily="2" charset="0"/>
              </a:rPr>
              <a:t>Document Format Disparities:</a:t>
            </a:r>
            <a:r>
              <a:rPr lang="en-IN" sz="2600" dirty="0">
                <a:latin typeface="EB Garamond" panose="00000500000000000000" pitchFamily="2" charset="0"/>
                <a:ea typeface="EB Garamond" panose="00000500000000000000" pitchFamily="2" charset="0"/>
              </a:rPr>
              <a:t> Developed a multi-format ingestion layer handling raw XML DOM trees, tabular CSVs, plain text, and scanned PDF documents.</a:t>
            </a:r>
          </a:p>
          <a:p>
            <a:pPr>
              <a:lnSpc>
                <a:spcPct val="150000"/>
              </a:lnSpc>
              <a:buNone/>
            </a:pPr>
            <a:endParaRPr lang="en-IN" sz="3200" b="1" dirty="0">
              <a:latin typeface="EB Garamond" panose="00000500000000000000" pitchFamily="2" charset="0"/>
              <a:ea typeface="EB Garamond" panose="00000500000000000000" pitchFamily="2" charset="0"/>
            </a:endParaRPr>
          </a:p>
        </p:txBody>
      </p:sp>
    </p:spTree>
    <p:extLst>
      <p:ext uri="{BB962C8B-B14F-4D97-AF65-F5344CB8AC3E}">
        <p14:creationId xmlns:p14="http://schemas.microsoft.com/office/powerpoint/2010/main" val="404895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68D7B-67E9-A66E-AF32-0C4B70C9E0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770AF4-1437-6A49-0A02-6DBC6262CD9C}"/>
              </a:ext>
            </a:extLst>
          </p:cNvPr>
          <p:cNvSpPr txBox="1"/>
          <p:nvPr/>
        </p:nvSpPr>
        <p:spPr>
          <a:xfrm>
            <a:off x="566928" y="300000"/>
            <a:ext cx="17154144" cy="461665"/>
          </a:xfrm>
          <a:prstGeom prst="rect">
            <a:avLst/>
          </a:prstGeom>
          <a:noFill/>
        </p:spPr>
        <p:txBody>
          <a:bodyPr wrap="square">
            <a:spAutoFit/>
          </a:bodyPr>
          <a:lstStyle/>
          <a:p>
            <a:pPr>
              <a:defRPr sz="1100" b="1">
                <a:solidFill>
                  <a:srgbClr val="35598F"/>
                </a:solidFill>
              </a:defRPr>
            </a:pPr>
            <a:r>
              <a:rPr lang="en-IN" sz="2400" dirty="0">
                <a:solidFill>
                  <a:schemeClr val="tx1">
                    <a:lumMod val="95000"/>
                    <a:lumOff val="5000"/>
                  </a:schemeClr>
                </a:solidFill>
                <a:latin typeface="EB Garamond" panose="00000500000000000000" pitchFamily="2" charset="0"/>
                <a:ea typeface="EB Garamond" panose="00000500000000000000" pitchFamily="2" charset="0"/>
              </a:rPr>
              <a:t>PHASE - 3 </a:t>
            </a:r>
          </a:p>
        </p:txBody>
      </p:sp>
      <p:sp>
        <p:nvSpPr>
          <p:cNvPr id="5" name="TextBox 4">
            <a:extLst>
              <a:ext uri="{FF2B5EF4-FFF2-40B4-BE49-F238E27FC236}">
                <a16:creationId xmlns:a16="http://schemas.microsoft.com/office/drawing/2014/main" id="{5C3FD436-8D1D-D5DA-26B8-54C1942BA371}"/>
              </a:ext>
            </a:extLst>
          </p:cNvPr>
          <p:cNvSpPr txBox="1"/>
          <p:nvPr/>
        </p:nvSpPr>
        <p:spPr>
          <a:xfrm>
            <a:off x="566928" y="746111"/>
            <a:ext cx="10134600" cy="584775"/>
          </a:xfrm>
          <a:prstGeom prst="rect">
            <a:avLst/>
          </a:prstGeom>
          <a:noFill/>
        </p:spPr>
        <p:txBody>
          <a:bodyPr wrap="square" rtlCol="0">
            <a:spAutoFit/>
          </a:bodyPr>
          <a:lstStyle/>
          <a:p>
            <a:r>
              <a:rPr lang="en-IN" sz="3200" dirty="0">
                <a:latin typeface="EB Garamond" panose="00000500000000000000" pitchFamily="2" charset="0"/>
                <a:ea typeface="EB Garamond" panose="00000500000000000000" pitchFamily="2" charset="0"/>
              </a:rPr>
              <a:t>Handling datasets and Data Preprocessing</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F9E4DEA8-CC80-589C-40CE-EC44CFD70651}"/>
                  </a:ext>
                </a:extLst>
              </p:cNvPr>
              <p:cNvSpPr txBox="1"/>
              <p:nvPr/>
            </p:nvSpPr>
            <p:spPr>
              <a:xfrm>
                <a:off x="609600" y="1398556"/>
                <a:ext cx="17373600" cy="8525411"/>
              </a:xfrm>
              <a:prstGeom prst="rect">
                <a:avLst/>
              </a:prstGeom>
              <a:noFill/>
            </p:spPr>
            <p:txBody>
              <a:bodyPr wrap="square">
                <a:spAutoFit/>
              </a:bodyPr>
              <a:lstStyle/>
              <a:p>
                <a:pPr>
                  <a:lnSpc>
                    <a:spcPct val="150000"/>
                  </a:lnSpc>
                  <a:buNone/>
                </a:pPr>
                <a:r>
                  <a:rPr lang="en-IN" sz="3200" b="1" dirty="0">
                    <a:latin typeface="EB Garamond" panose="00000500000000000000" pitchFamily="2" charset="0"/>
                    <a:ea typeface="EB Garamond" panose="00000500000000000000" pitchFamily="2" charset="0"/>
                  </a:rPr>
                  <a:t>Justification for Extraction of Specific Features – </a:t>
                </a:r>
              </a:p>
              <a:p>
                <a:pPr>
                  <a:lnSpc>
                    <a:spcPct val="150000"/>
                  </a:lnSpc>
                  <a:buNone/>
                </a:pPr>
                <a:r>
                  <a:rPr lang="en-IN" sz="3200" i="1" dirty="0"/>
                  <a:t>Dual Feature Engineering: Contextual Transformer Embeddings vs. Calibrated Clinical N-Grams</a:t>
                </a:r>
              </a:p>
              <a:p>
                <a:pPr marL="914400" lvl="1" indent="-457200">
                  <a:buFont typeface="Wingdings" panose="05000000000000000000" pitchFamily="2" charset="2"/>
                  <a:buChar char="ü"/>
                </a:pPr>
                <a:r>
                  <a:rPr lang="en-IN" sz="2800" b="1" dirty="0">
                    <a:latin typeface="EB Garamond" panose="00000500000000000000" pitchFamily="2" charset="0"/>
                    <a:ea typeface="EB Garamond" panose="00000500000000000000" pitchFamily="2" charset="0"/>
                  </a:rPr>
                  <a:t>Justification for Thoracic Feature Selection:</a:t>
                </a:r>
                <a:endParaRPr lang="en-IN" sz="2800" dirty="0">
                  <a:latin typeface="EB Garamond" panose="00000500000000000000" pitchFamily="2" charset="0"/>
                  <a:ea typeface="EB Garamond" panose="00000500000000000000" pitchFamily="2" charset="0"/>
                </a:endParaRPr>
              </a:p>
              <a:p>
                <a:pPr marL="1828800" lvl="3" indent="-457200">
                  <a:buFont typeface="Wingdings" panose="05000000000000000000" pitchFamily="2" charset="2"/>
                  <a:buChar char="Ø"/>
                </a:pPr>
                <a:r>
                  <a:rPr lang="en-IN" sz="2800" b="1" dirty="0">
                    <a:effectLst/>
                    <a:latin typeface="EB Garamond" panose="00000500000000000000" pitchFamily="2" charset="0"/>
                    <a:ea typeface="EB Garamond" panose="00000500000000000000" pitchFamily="2" charset="0"/>
                  </a:rPr>
                  <a:t>Clinical Priority:</a:t>
                </a:r>
                <a:r>
                  <a:rPr lang="en-IN" sz="2800" dirty="0">
                    <a:effectLst/>
                    <a:latin typeface="EB Garamond" panose="00000500000000000000" pitchFamily="2" charset="0"/>
                    <a:ea typeface="EB Garamond" panose="00000500000000000000" pitchFamily="2" charset="0"/>
                  </a:rPr>
                  <a:t> Focused on the 8 most critical cardiopulmonary categories, capturing both acute emergencies (</a:t>
                </a:r>
                <a:r>
                  <a:rPr lang="en-IN" sz="2800" i="1" dirty="0" err="1">
                    <a:effectLst/>
                    <a:latin typeface="EB Garamond" panose="00000500000000000000" pitchFamily="2" charset="0"/>
                    <a:ea typeface="EB Garamond" panose="00000500000000000000" pitchFamily="2" charset="0"/>
                  </a:rPr>
                  <a:t>Edema</a:t>
                </a:r>
                <a:r>
                  <a:rPr lang="en-IN" sz="2800" i="1" dirty="0">
                    <a:effectLst/>
                    <a:latin typeface="EB Garamond" panose="00000500000000000000" pitchFamily="2" charset="0"/>
                    <a:ea typeface="EB Garamond" panose="00000500000000000000" pitchFamily="2" charset="0"/>
                  </a:rPr>
                  <a:t>, Effusion, Pneumonia</a:t>
                </a:r>
                <a:r>
                  <a:rPr lang="en-IN" sz="2800" dirty="0">
                    <a:effectLst/>
                    <a:latin typeface="EB Garamond" panose="00000500000000000000" pitchFamily="2" charset="0"/>
                    <a:ea typeface="EB Garamond" panose="00000500000000000000" pitchFamily="2" charset="0"/>
                  </a:rPr>
                  <a:t>) and chronic cardiac abnormalities (</a:t>
                </a:r>
                <a:r>
                  <a:rPr lang="en-IN" sz="2800" i="1" dirty="0">
                    <a:effectLst/>
                    <a:latin typeface="EB Garamond" panose="00000500000000000000" pitchFamily="2" charset="0"/>
                    <a:ea typeface="EB Garamond" panose="00000500000000000000" pitchFamily="2" charset="0"/>
                  </a:rPr>
                  <a:t>Cardiomegaly</a:t>
                </a:r>
                <a:r>
                  <a:rPr lang="en-IN" sz="2800" dirty="0">
                    <a:effectLst/>
                    <a:latin typeface="EB Garamond" panose="00000500000000000000" pitchFamily="2" charset="0"/>
                    <a:ea typeface="EB Garamond" panose="00000500000000000000" pitchFamily="2" charset="0"/>
                  </a:rPr>
                  <a:t>).</a:t>
                </a:r>
              </a:p>
              <a:p>
                <a:pPr marL="1828800" lvl="3" indent="-457200">
                  <a:buFont typeface="Wingdings" panose="05000000000000000000" pitchFamily="2" charset="2"/>
                  <a:buChar char="Ø"/>
                </a:pPr>
                <a:r>
                  <a:rPr lang="en-IN" sz="2800" b="1" dirty="0">
                    <a:effectLst/>
                    <a:latin typeface="EB Garamond" panose="00000500000000000000" pitchFamily="2" charset="0"/>
                    <a:ea typeface="EB Garamond" panose="00000500000000000000" pitchFamily="2" charset="0"/>
                  </a:rPr>
                  <a:t>Eliminating Literature Heterogeneity:</a:t>
                </a:r>
                <a:r>
                  <a:rPr lang="en-IN" sz="2800" dirty="0">
                    <a:effectLst/>
                    <a:latin typeface="EB Garamond" panose="00000500000000000000" pitchFamily="2" charset="0"/>
                    <a:ea typeface="EB Garamond" panose="00000500000000000000" pitchFamily="2" charset="0"/>
                  </a:rPr>
                  <a:t> Narrowing to the thoracic anatomical site neutralizes the primary heterogeneity driver identified in the base paper (</a:t>
                </a:r>
                <a14:m>
                  <m:oMath xmlns:m="http://schemas.openxmlformats.org/officeDocument/2006/math">
                    <m:r>
                      <a:rPr lang="en-IN" sz="2800" i="1">
                        <a:latin typeface="Cambria Math" panose="02040503050406030204" pitchFamily="18" charset="0"/>
                      </a:rPr>
                      <m:t>𝑝</m:t>
                    </m:r>
                    <m:r>
                      <a:rPr lang="en-IN" sz="2800">
                        <a:latin typeface="Cambria Math" panose="02040503050406030204" pitchFamily="18" charset="0"/>
                      </a:rPr>
                      <m:t>=0.027</m:t>
                    </m:r>
                  </m:oMath>
                </a14:m>
                <a:r>
                  <a:rPr lang="en-IN" sz="2800" dirty="0">
                    <a:effectLst/>
                    <a:latin typeface="EB Garamond" panose="00000500000000000000" pitchFamily="2" charset="0"/>
                    <a:ea typeface="EB Garamond" panose="00000500000000000000" pitchFamily="2" charset="0"/>
                  </a:rPr>
                  <a:t>).</a:t>
                </a:r>
              </a:p>
              <a:p>
                <a:pPr marL="914400" lvl="1" indent="-457200">
                  <a:buFont typeface="Wingdings" panose="05000000000000000000" pitchFamily="2" charset="2"/>
                  <a:buChar char="ü"/>
                </a:pPr>
                <a:r>
                  <a:rPr lang="en-IN" sz="2800" b="1" dirty="0">
                    <a:effectLst/>
                    <a:latin typeface="EB Garamond" panose="00000500000000000000" pitchFamily="2" charset="0"/>
                    <a:ea typeface="EB Garamond" panose="00000500000000000000" pitchFamily="2" charset="0"/>
                  </a:rPr>
                  <a:t>Dual Feature Representation Strategy:</a:t>
                </a:r>
                <a:endParaRPr lang="en-IN" sz="2800" dirty="0">
                  <a:effectLst/>
                  <a:latin typeface="EB Garamond" panose="00000500000000000000" pitchFamily="2" charset="0"/>
                  <a:ea typeface="EB Garamond" panose="00000500000000000000" pitchFamily="2" charset="0"/>
                </a:endParaRPr>
              </a:p>
              <a:p>
                <a:pPr marL="1828800" lvl="3" indent="-457200">
                  <a:buFont typeface="Wingdings" panose="05000000000000000000" pitchFamily="2" charset="2"/>
                  <a:buChar char="Ø"/>
                </a:pPr>
                <a:r>
                  <a:rPr lang="en-IN" sz="2800" b="1" dirty="0">
                    <a:effectLst/>
                    <a:latin typeface="EB Garamond" panose="00000500000000000000" pitchFamily="2" charset="0"/>
                    <a:ea typeface="EB Garamond" panose="00000500000000000000" pitchFamily="2" charset="0"/>
                  </a:rPr>
                  <a:t>Sub-Word Contextual Embeddings (</a:t>
                </a:r>
                <a:r>
                  <a:rPr lang="en-IN" sz="2800" b="1" dirty="0" err="1">
                    <a:latin typeface="EB Garamond" panose="00000500000000000000" pitchFamily="2" charset="0"/>
                    <a:ea typeface="EB Garamond" panose="00000500000000000000" pitchFamily="2" charset="0"/>
                  </a:rPr>
                  <a:t>Bio_ClinicalBERT</a:t>
                </a:r>
                <a:r>
                  <a:rPr lang="en-IN" sz="2800" b="1" dirty="0">
                    <a:effectLst/>
                    <a:latin typeface="EB Garamond" panose="00000500000000000000" pitchFamily="2" charset="0"/>
                    <a:ea typeface="EB Garamond" panose="00000500000000000000" pitchFamily="2" charset="0"/>
                  </a:rPr>
                  <a:t>):</a:t>
                </a:r>
                <a:r>
                  <a:rPr lang="en-IN" sz="2800" dirty="0">
                    <a:effectLst/>
                    <a:latin typeface="EB Garamond" panose="00000500000000000000" pitchFamily="2" charset="0"/>
                    <a:ea typeface="EB Garamond" panose="00000500000000000000" pitchFamily="2" charset="0"/>
                  </a:rPr>
                  <a:t> </a:t>
                </a:r>
              </a:p>
              <a:p>
                <a:pPr lvl="4"/>
                <a:r>
                  <a:rPr lang="en-IN" sz="2800" dirty="0">
                    <a:effectLst/>
                    <a:latin typeface="EB Garamond" panose="00000500000000000000" pitchFamily="2" charset="0"/>
                    <a:ea typeface="EB Garamond" panose="00000500000000000000" pitchFamily="2" charset="0"/>
                  </a:rPr>
                  <a:t>Pre-trained on MIMIC-III clinical records to capture deep bidirectional sentence context across complex physician narratives.</a:t>
                </a:r>
              </a:p>
              <a:p>
                <a:pPr marL="1828800" lvl="3" indent="-457200">
                  <a:buFont typeface="Wingdings" panose="05000000000000000000" pitchFamily="2" charset="2"/>
                  <a:buChar char="Ø"/>
                </a:pPr>
                <a:r>
                  <a:rPr lang="en-IN" sz="2800" b="1" dirty="0">
                    <a:effectLst/>
                    <a:latin typeface="EB Garamond" panose="00000500000000000000" pitchFamily="2" charset="0"/>
                    <a:ea typeface="EB Garamond" panose="00000500000000000000" pitchFamily="2" charset="0"/>
                  </a:rPr>
                  <a:t>Calibrated Sublinear TF-IDF N-Grams (</a:t>
                </a:r>
                <a14:m>
                  <m:oMath xmlns:m="http://schemas.openxmlformats.org/officeDocument/2006/math">
                    <m:r>
                      <a:rPr lang="en-IN" sz="2800" i="1">
                        <a:latin typeface="Cambria Math" panose="02040503050406030204" pitchFamily="18" charset="0"/>
                      </a:rPr>
                      <m:t>𝑛</m:t>
                    </m:r>
                    <m:r>
                      <a:rPr lang="en-IN" sz="2800">
                        <a:latin typeface="Cambria Math" panose="02040503050406030204" pitchFamily="18" charset="0"/>
                      </a:rPr>
                      <m:t>=1,2</m:t>
                    </m:r>
                  </m:oMath>
                </a14:m>
                <a:r>
                  <a:rPr lang="en-IN" sz="2800" b="1" dirty="0">
                    <a:effectLst/>
                    <a:latin typeface="EB Garamond" panose="00000500000000000000" pitchFamily="2" charset="0"/>
                    <a:ea typeface="EB Garamond" panose="00000500000000000000" pitchFamily="2" charset="0"/>
                  </a:rPr>
                  <a:t>):</a:t>
                </a:r>
                <a:r>
                  <a:rPr lang="en-IN" sz="2800" dirty="0">
                    <a:effectLst/>
                    <a:latin typeface="EB Garamond" panose="00000500000000000000" pitchFamily="2" charset="0"/>
                    <a:ea typeface="EB Garamond" panose="00000500000000000000" pitchFamily="2" charset="0"/>
                  </a:rPr>
                  <a:t> </a:t>
                </a:r>
              </a:p>
              <a:p>
                <a:pPr lvl="4"/>
                <a:r>
                  <a:rPr lang="en-IN" sz="2800" dirty="0">
                    <a:effectLst/>
                    <a:latin typeface="EB Garamond" panose="00000500000000000000" pitchFamily="2" charset="0"/>
                    <a:ea typeface="EB Garamond" panose="00000500000000000000" pitchFamily="2" charset="0"/>
                  </a:rPr>
                  <a:t>Extracted 3,000 domain-specific n-gram features with sublinear term frequency scaling (</a:t>
                </a:r>
                <a14:m>
                  <m:oMath xmlns:m="http://schemas.openxmlformats.org/officeDocument/2006/math">
                    <m:r>
                      <a:rPr lang="en-IN" sz="2800">
                        <a:latin typeface="Cambria Math" panose="02040503050406030204" pitchFamily="18" charset="0"/>
                      </a:rPr>
                      <m:t>1+</m:t>
                    </m:r>
                    <m:r>
                      <m:rPr>
                        <m:sty m:val="p"/>
                      </m:rPr>
                      <a:rPr lang="en-IN" sz="2800">
                        <a:latin typeface="Cambria Math" panose="02040503050406030204" pitchFamily="18" charset="0"/>
                      </a:rPr>
                      <m:t>log</m:t>
                    </m:r>
                    <m:r>
                      <a:rPr lang="en-IN" sz="2800">
                        <a:latin typeface="Cambria Math" panose="02040503050406030204" pitchFamily="18" charset="0"/>
                      </a:rPr>
                      <m:t>⁡</m:t>
                    </m:r>
                    <m:d>
                      <m:dPr>
                        <m:ctrlPr>
                          <a:rPr lang="en-IN" sz="2800" i="1">
                            <a:latin typeface="Cambria Math" panose="02040503050406030204" pitchFamily="18" charset="0"/>
                          </a:rPr>
                        </m:ctrlPr>
                      </m:dPr>
                      <m:e>
                        <m:r>
                          <a:rPr lang="en-IN" sz="2800" i="1">
                            <a:latin typeface="Cambria Math" panose="02040503050406030204" pitchFamily="18" charset="0"/>
                          </a:rPr>
                          <m:t>𝑇𝐹</m:t>
                        </m:r>
                      </m:e>
                    </m:d>
                  </m:oMath>
                </a14:m>
                <a:r>
                  <a:rPr lang="en-IN" sz="2800" dirty="0">
                    <a:effectLst/>
                    <a:latin typeface="EB Garamond" panose="00000500000000000000" pitchFamily="2" charset="0"/>
                    <a:ea typeface="EB Garamond" panose="00000500000000000000" pitchFamily="2" charset="0"/>
                  </a:rPr>
                  <a:t>) to highlight decisive clinical anchor phrases (</a:t>
                </a:r>
                <a:r>
                  <a:rPr lang="en-IN" sz="2800" i="1" dirty="0">
                    <a:effectLst/>
                    <a:latin typeface="EB Garamond" panose="00000500000000000000" pitchFamily="2" charset="0"/>
                    <a:ea typeface="EB Garamond" panose="00000500000000000000" pitchFamily="2" charset="0"/>
                  </a:rPr>
                  <a:t>"costophrenic angle blunting"</a:t>
                </a:r>
                <a:r>
                  <a:rPr lang="en-IN" sz="2800" dirty="0">
                    <a:effectLst/>
                    <a:latin typeface="EB Garamond" panose="00000500000000000000" pitchFamily="2" charset="0"/>
                    <a:ea typeface="EB Garamond" panose="00000500000000000000" pitchFamily="2" charset="0"/>
                  </a:rPr>
                  <a:t>, </a:t>
                </a:r>
                <a:r>
                  <a:rPr lang="en-IN" sz="2800" i="1" dirty="0">
                    <a:effectLst/>
                    <a:latin typeface="EB Garamond" panose="00000500000000000000" pitchFamily="2" charset="0"/>
                    <a:ea typeface="EB Garamond" panose="00000500000000000000" pitchFamily="2" charset="0"/>
                  </a:rPr>
                  <a:t>"cardiomegaly is present"</a:t>
                </a:r>
                <a:r>
                  <a:rPr lang="en-IN" sz="2800" dirty="0">
                    <a:effectLst/>
                    <a:latin typeface="EB Garamond" panose="00000500000000000000" pitchFamily="2" charset="0"/>
                    <a:ea typeface="EB Garamond" panose="00000500000000000000" pitchFamily="2" charset="0"/>
                  </a:rPr>
                  <a:t>).</a:t>
                </a:r>
              </a:p>
              <a:p>
                <a:pPr marL="914400" lvl="1" indent="-457200">
                  <a:buFont typeface="Wingdings" panose="05000000000000000000" pitchFamily="2" charset="2"/>
                  <a:buChar char="ü"/>
                </a:pPr>
                <a:r>
                  <a:rPr lang="en-IN" sz="2800" b="1" dirty="0">
                    <a:effectLst/>
                    <a:latin typeface="EB Garamond" panose="00000500000000000000" pitchFamily="2" charset="0"/>
                    <a:ea typeface="EB Garamond" panose="00000500000000000000" pitchFamily="2" charset="0"/>
                  </a:rPr>
                  <a:t>Mitigating Severe Clinical Class Imbalance:</a:t>
                </a:r>
                <a:endParaRPr lang="en-IN" sz="2800" dirty="0">
                  <a:effectLst/>
                  <a:latin typeface="EB Garamond" panose="00000500000000000000" pitchFamily="2" charset="0"/>
                  <a:ea typeface="EB Garamond" panose="00000500000000000000" pitchFamily="2" charset="0"/>
                </a:endParaRPr>
              </a:p>
              <a:p>
                <a:pPr lvl="4"/>
                <a:r>
                  <a:rPr lang="en-IN" sz="2800" dirty="0">
                    <a:effectLst/>
                    <a:latin typeface="EB Garamond" panose="00000500000000000000" pitchFamily="2" charset="0"/>
                    <a:ea typeface="EB Garamond" panose="00000500000000000000" pitchFamily="2" charset="0"/>
                  </a:rPr>
                  <a:t>Addressed extreme prevalence skews (Pneumonia: 2.7%, </a:t>
                </a:r>
                <a:r>
                  <a:rPr lang="en-IN" sz="2800" dirty="0" err="1">
                    <a:effectLst/>
                    <a:latin typeface="EB Garamond" panose="00000500000000000000" pitchFamily="2" charset="0"/>
                    <a:ea typeface="EB Garamond" panose="00000500000000000000" pitchFamily="2" charset="0"/>
                  </a:rPr>
                  <a:t>Edema</a:t>
                </a:r>
                <a:r>
                  <a:rPr lang="en-IN" sz="2800" dirty="0">
                    <a:effectLst/>
                    <a:latin typeface="EB Garamond" panose="00000500000000000000" pitchFamily="2" charset="0"/>
                    <a:ea typeface="EB Garamond" panose="00000500000000000000" pitchFamily="2" charset="0"/>
                  </a:rPr>
                  <a:t>: 4.8% vs. Normal: 35.8%) using inverse-frequency class weighting to prevent majority-class bias and guarantee high clinical sensitivity.</a:t>
                </a:r>
              </a:p>
              <a:p>
                <a:pPr>
                  <a:lnSpc>
                    <a:spcPct val="100000"/>
                  </a:lnSpc>
                  <a:buNone/>
                </a:pPr>
                <a:endParaRPr lang="en-IN" sz="3200" b="1" i="1" dirty="0">
                  <a:latin typeface="EB Garamond" panose="00000500000000000000" pitchFamily="2" charset="0"/>
                  <a:ea typeface="EB Garamond" panose="00000500000000000000" pitchFamily="2" charset="0"/>
                </a:endParaRPr>
              </a:p>
            </p:txBody>
          </p:sp>
        </mc:Choice>
        <mc:Fallback>
          <p:sp>
            <p:nvSpPr>
              <p:cNvPr id="11" name="TextBox 10">
                <a:extLst>
                  <a:ext uri="{FF2B5EF4-FFF2-40B4-BE49-F238E27FC236}">
                    <a16:creationId xmlns:a16="http://schemas.microsoft.com/office/drawing/2014/main" id="{F9E4DEA8-CC80-589C-40CE-EC44CFD70651}"/>
                  </a:ext>
                </a:extLst>
              </p:cNvPr>
              <p:cNvSpPr txBox="1">
                <a:spLocks noRot="1" noChangeAspect="1" noMove="1" noResize="1" noEditPoints="1" noAdjustHandles="1" noChangeArrowheads="1" noChangeShapeType="1" noTextEdit="1"/>
              </p:cNvSpPr>
              <p:nvPr/>
            </p:nvSpPr>
            <p:spPr>
              <a:xfrm>
                <a:off x="609600" y="1398556"/>
                <a:ext cx="17373600" cy="8525411"/>
              </a:xfrm>
              <a:prstGeom prst="rect">
                <a:avLst/>
              </a:prstGeom>
              <a:blipFill>
                <a:blip r:embed="rId2"/>
                <a:stretch>
                  <a:fillRect l="-877" r="-1018"/>
                </a:stretch>
              </a:blipFill>
            </p:spPr>
            <p:txBody>
              <a:bodyPr/>
              <a:lstStyle/>
              <a:p>
                <a:r>
                  <a:rPr lang="en-IN">
                    <a:noFill/>
                  </a:rPr>
                  <a:t> </a:t>
                </a:r>
              </a:p>
            </p:txBody>
          </p:sp>
        </mc:Fallback>
      </mc:AlternateContent>
    </p:spTree>
    <p:extLst>
      <p:ext uri="{BB962C8B-B14F-4D97-AF65-F5344CB8AC3E}">
        <p14:creationId xmlns:p14="http://schemas.microsoft.com/office/powerpoint/2010/main" val="14800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BDA42-B9C0-0AC6-AB5A-DC0349A469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DFBB60-0AB9-9565-B948-62312770C4E5}"/>
              </a:ext>
            </a:extLst>
          </p:cNvPr>
          <p:cNvSpPr txBox="1"/>
          <p:nvPr/>
        </p:nvSpPr>
        <p:spPr>
          <a:xfrm>
            <a:off x="566928" y="300000"/>
            <a:ext cx="17154144" cy="461665"/>
          </a:xfrm>
          <a:prstGeom prst="rect">
            <a:avLst/>
          </a:prstGeom>
          <a:noFill/>
        </p:spPr>
        <p:txBody>
          <a:bodyPr wrap="square">
            <a:spAutoFit/>
          </a:bodyPr>
          <a:lstStyle/>
          <a:p>
            <a:pPr>
              <a:defRPr sz="1100" b="1">
                <a:solidFill>
                  <a:srgbClr val="35598F"/>
                </a:solidFill>
              </a:defRPr>
            </a:pPr>
            <a:r>
              <a:rPr lang="en-IN" sz="2400" dirty="0">
                <a:solidFill>
                  <a:schemeClr val="tx1">
                    <a:lumMod val="95000"/>
                    <a:lumOff val="5000"/>
                  </a:schemeClr>
                </a:solidFill>
                <a:latin typeface="EB Garamond" panose="00000500000000000000" pitchFamily="2" charset="0"/>
                <a:ea typeface="EB Garamond" panose="00000500000000000000" pitchFamily="2" charset="0"/>
              </a:rPr>
              <a:t>PHASE - 3 </a:t>
            </a:r>
          </a:p>
        </p:txBody>
      </p:sp>
      <p:sp>
        <p:nvSpPr>
          <p:cNvPr id="5" name="TextBox 4">
            <a:extLst>
              <a:ext uri="{FF2B5EF4-FFF2-40B4-BE49-F238E27FC236}">
                <a16:creationId xmlns:a16="http://schemas.microsoft.com/office/drawing/2014/main" id="{9F3C41BE-DBF3-9929-5D52-2683E0F8FA32}"/>
              </a:ext>
            </a:extLst>
          </p:cNvPr>
          <p:cNvSpPr txBox="1"/>
          <p:nvPr/>
        </p:nvSpPr>
        <p:spPr>
          <a:xfrm>
            <a:off x="566928" y="746111"/>
            <a:ext cx="10134600" cy="584775"/>
          </a:xfrm>
          <a:prstGeom prst="rect">
            <a:avLst/>
          </a:prstGeom>
          <a:noFill/>
        </p:spPr>
        <p:txBody>
          <a:bodyPr wrap="square" rtlCol="0">
            <a:spAutoFit/>
          </a:bodyPr>
          <a:lstStyle/>
          <a:p>
            <a:r>
              <a:rPr lang="en-IN" sz="3200" dirty="0">
                <a:latin typeface="EB Garamond" panose="00000500000000000000" pitchFamily="2" charset="0"/>
                <a:ea typeface="EB Garamond" panose="00000500000000000000" pitchFamily="2" charset="0"/>
              </a:rPr>
              <a:t>Algorithmic Design &amp; Approach</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43F59769-4B4D-75A2-2638-8980589C3AA5}"/>
                  </a:ext>
                </a:extLst>
              </p:cNvPr>
              <p:cNvSpPr txBox="1"/>
              <p:nvPr/>
            </p:nvSpPr>
            <p:spPr>
              <a:xfrm>
                <a:off x="609600" y="1398556"/>
                <a:ext cx="17373600" cy="9873152"/>
              </a:xfrm>
              <a:prstGeom prst="rect">
                <a:avLst/>
              </a:prstGeom>
              <a:noFill/>
            </p:spPr>
            <p:txBody>
              <a:bodyPr wrap="square">
                <a:spAutoFit/>
              </a:bodyPr>
              <a:lstStyle/>
              <a:p>
                <a:pPr>
                  <a:lnSpc>
                    <a:spcPct val="100000"/>
                  </a:lnSpc>
                  <a:buNone/>
                </a:pPr>
                <a:r>
                  <a:rPr lang="en-IN" sz="3200" b="1" dirty="0">
                    <a:latin typeface="EB Garamond" panose="00000500000000000000" pitchFamily="2" charset="0"/>
                    <a:ea typeface="EB Garamond" panose="00000500000000000000" pitchFamily="2" charset="0"/>
                  </a:rPr>
                  <a:t>Proposed Algorithmic Architecture &amp; Training Workflow –</a:t>
                </a:r>
              </a:p>
              <a:p>
                <a:pPr>
                  <a:lnSpc>
                    <a:spcPct val="100000"/>
                  </a:lnSpc>
                  <a:buNone/>
                </a:pPr>
                <a:endParaRPr lang="en-IN" sz="3200" b="1" dirty="0">
                  <a:latin typeface="EB Garamond" panose="00000500000000000000" pitchFamily="2" charset="0"/>
                  <a:ea typeface="EB Garamond" panose="00000500000000000000" pitchFamily="2" charset="0"/>
                </a:endParaRPr>
              </a:p>
              <a:p>
                <a:pPr marL="457200" lvl="0" indent="-457200">
                  <a:buFont typeface="Wingdings" panose="05000000000000000000" pitchFamily="2" charset="2"/>
                  <a:buChar char="ü"/>
                </a:pPr>
                <a:r>
                  <a:rPr lang="en-IN" sz="2500" b="1" dirty="0">
                    <a:latin typeface="EB Garamond" panose="00000500000000000000" pitchFamily="2" charset="0"/>
                    <a:ea typeface="EB Garamond" panose="00000500000000000000" pitchFamily="2" charset="0"/>
                  </a:rPr>
                  <a:t>Three-Tier Algorithmic Architecture:</a:t>
                </a:r>
                <a:endParaRPr lang="en-IN" sz="2500" dirty="0">
                  <a:effectLst/>
                  <a:latin typeface="EB Garamond" panose="00000500000000000000" pitchFamily="2" charset="0"/>
                  <a:ea typeface="EB Garamond" panose="00000500000000000000" pitchFamily="2" charset="0"/>
                </a:endParaRPr>
              </a:p>
              <a:p>
                <a:pPr marL="1371600" lvl="2" indent="-457200">
                  <a:buFont typeface="Wingdings" panose="05000000000000000000" pitchFamily="2" charset="2"/>
                  <a:buChar char="Ø"/>
                </a:pPr>
                <a:r>
                  <a:rPr lang="en-IN" sz="2400" b="1" dirty="0">
                    <a:effectLst/>
                    <a:latin typeface="EB Garamond" panose="00000500000000000000" pitchFamily="2" charset="0"/>
                    <a:ea typeface="EB Garamond" panose="00000500000000000000" pitchFamily="2" charset="0"/>
                  </a:rPr>
                  <a:t>Tier 1 (Universal Ingestion &amp; OCR):</a:t>
                </a:r>
                <a:r>
                  <a:rPr lang="en-IN" sz="2400" dirty="0">
                    <a:effectLst/>
                    <a:latin typeface="EB Garamond" panose="00000500000000000000" pitchFamily="2" charset="0"/>
                    <a:ea typeface="EB Garamond" panose="00000500000000000000" pitchFamily="2" charset="0"/>
                  </a:rPr>
                  <a:t> </a:t>
                </a:r>
              </a:p>
              <a:p>
                <a:pPr lvl="4"/>
                <a:r>
                  <a:rPr lang="en-IN" sz="2400" dirty="0">
                    <a:effectLst/>
                    <a:latin typeface="EB Garamond" panose="00000500000000000000" pitchFamily="2" charset="0"/>
                    <a:ea typeface="EB Garamond" panose="00000500000000000000" pitchFamily="2" charset="0"/>
                  </a:rPr>
                  <a:t>Ingests PDF, XML, TXT, and CSV. If a scanned PDF is uploaded, pypdfium2 renders 200 DPI bitmaps and </a:t>
                </a:r>
                <a:r>
                  <a:rPr lang="en-IN" sz="2400" dirty="0" err="1">
                    <a:effectLst/>
                    <a:latin typeface="EB Garamond" panose="00000500000000000000" pitchFamily="2" charset="0"/>
                    <a:ea typeface="EB Garamond" panose="00000500000000000000" pitchFamily="2" charset="0"/>
                  </a:rPr>
                  <a:t>EasyOCR</a:t>
                </a:r>
                <a:r>
                  <a:rPr lang="en-IN" sz="2400" dirty="0">
                    <a:effectLst/>
                    <a:latin typeface="EB Garamond" panose="00000500000000000000" pitchFamily="2" charset="0"/>
                    <a:ea typeface="EB Garamond" panose="00000500000000000000" pitchFamily="2" charset="0"/>
                  </a:rPr>
                  <a:t> neural vision extracts report text automatically.</a:t>
                </a:r>
              </a:p>
              <a:p>
                <a:pPr marL="1371600" lvl="2" indent="-457200">
                  <a:buFont typeface="Wingdings" panose="05000000000000000000" pitchFamily="2" charset="2"/>
                  <a:buChar char="Ø"/>
                </a:pPr>
                <a:r>
                  <a:rPr lang="en-IN" sz="2400" b="1" dirty="0">
                    <a:effectLst/>
                    <a:latin typeface="EB Garamond" panose="00000500000000000000" pitchFamily="2" charset="0"/>
                    <a:ea typeface="EB Garamond" panose="00000500000000000000" pitchFamily="2" charset="0"/>
                  </a:rPr>
                  <a:t>Tier 2 (Multi-Label Classification Heads):</a:t>
                </a:r>
                <a:r>
                  <a:rPr lang="en-IN" sz="2400" dirty="0">
                    <a:effectLst/>
                    <a:latin typeface="EB Garamond" panose="00000500000000000000" pitchFamily="2" charset="0"/>
                    <a:ea typeface="EB Garamond" panose="00000500000000000000" pitchFamily="2" charset="0"/>
                  </a:rPr>
                  <a:t> </a:t>
                </a:r>
              </a:p>
              <a:p>
                <a:pPr lvl="3"/>
                <a:r>
                  <a:rPr lang="en-IN" sz="2400" dirty="0">
                    <a:effectLst/>
                    <a:latin typeface="EB Garamond" panose="00000500000000000000" pitchFamily="2" charset="0"/>
                    <a:ea typeface="EB Garamond" panose="00000500000000000000" pitchFamily="2" charset="0"/>
                  </a:rPr>
                  <a:t>       Evaluated and benchmarked 4 distinct machine learning paradigms: </a:t>
                </a:r>
              </a:p>
              <a:p>
                <a:pPr lvl="4"/>
                <a:r>
                  <a:rPr lang="en-IN" sz="2400" dirty="0">
                    <a:effectLst/>
                    <a:latin typeface="EB Garamond" panose="00000500000000000000" pitchFamily="2" charset="0"/>
                    <a:ea typeface="EB Garamond" panose="00000500000000000000" pitchFamily="2" charset="0"/>
                  </a:rPr>
                  <a:t>Logistic Regression (</a:t>
                </a:r>
                <a14:m>
                  <m:oMath xmlns:m="http://schemas.openxmlformats.org/officeDocument/2006/math">
                    <m:sSub>
                      <m:sSubPr>
                        <m:ctrlPr>
                          <a:rPr lang="en-IN" sz="2400" i="1">
                            <a:latin typeface="Cambria Math" panose="02040503050406030204" pitchFamily="18" charset="0"/>
                          </a:rPr>
                        </m:ctrlPr>
                      </m:sSubPr>
                      <m:e>
                        <m:r>
                          <a:rPr lang="en-IN" sz="2400" i="1">
                            <a:latin typeface="Cambria Math" panose="02040503050406030204" pitchFamily="18" charset="0"/>
                          </a:rPr>
                          <m:t>𝐿</m:t>
                        </m:r>
                      </m:e>
                      <m:sub>
                        <m:r>
                          <a:rPr lang="en-IN" sz="2400">
                            <a:latin typeface="Cambria Math" panose="02040503050406030204" pitchFamily="18" charset="0"/>
                          </a:rPr>
                          <m:t>2</m:t>
                        </m:r>
                      </m:sub>
                    </m:sSub>
                  </m:oMath>
                </a14:m>
                <a:r>
                  <a:rPr lang="en-IN" sz="2400" dirty="0">
                    <a:effectLst/>
                    <a:latin typeface="EB Garamond" panose="00000500000000000000" pitchFamily="2" charset="0"/>
                    <a:ea typeface="EB Garamond" panose="00000500000000000000" pitchFamily="2" charset="0"/>
                  </a:rPr>
                  <a:t> Regularized)</a:t>
                </a:r>
              </a:p>
              <a:p>
                <a:pPr lvl="4"/>
                <a:r>
                  <a:rPr lang="en-IN" sz="2400" dirty="0">
                    <a:effectLst/>
                    <a:latin typeface="EB Garamond" panose="00000500000000000000" pitchFamily="2" charset="0"/>
                    <a:ea typeface="EB Garamond" panose="00000500000000000000" pitchFamily="2" charset="0"/>
                  </a:rPr>
                  <a:t>Calibrated Linear Support Vector Classifier (Platt Scaling)</a:t>
                </a:r>
              </a:p>
              <a:p>
                <a:pPr lvl="4"/>
                <a:r>
                  <a:rPr lang="en-IN" sz="2400" dirty="0">
                    <a:effectLst/>
                    <a:latin typeface="EB Garamond" panose="00000500000000000000" pitchFamily="2" charset="0"/>
                    <a:ea typeface="EB Garamond" panose="00000500000000000000" pitchFamily="2" charset="0"/>
                  </a:rPr>
                  <a:t>Random Forest Ensemble</a:t>
                </a:r>
              </a:p>
              <a:p>
                <a:pPr lvl="4"/>
                <a:r>
                  <a:rPr lang="en-IN" sz="2400" dirty="0">
                    <a:effectLst/>
                    <a:latin typeface="EB Garamond" panose="00000500000000000000" pitchFamily="2" charset="0"/>
                    <a:ea typeface="EB Garamond" panose="00000500000000000000" pitchFamily="2" charset="0"/>
                  </a:rPr>
                  <a:t>Fine-Tuned </a:t>
                </a:r>
                <a:r>
                  <a:rPr lang="en-IN" sz="2400" dirty="0" err="1">
                    <a:effectLst/>
                    <a:latin typeface="EB Garamond" panose="00000500000000000000" pitchFamily="2" charset="0"/>
                    <a:ea typeface="EB Garamond" panose="00000500000000000000" pitchFamily="2" charset="0"/>
                  </a:rPr>
                  <a:t>Bio_ClinicalBERT</a:t>
                </a:r>
                <a:r>
                  <a:rPr lang="en-IN" sz="2400" dirty="0">
                    <a:effectLst/>
                    <a:latin typeface="EB Garamond" panose="00000500000000000000" pitchFamily="2" charset="0"/>
                    <a:ea typeface="EB Garamond" panose="00000500000000000000" pitchFamily="2" charset="0"/>
                  </a:rPr>
                  <a:t> Transformer</a:t>
                </a:r>
              </a:p>
              <a:p>
                <a:pPr marL="1371600" lvl="2" indent="-457200">
                  <a:buFont typeface="Wingdings" panose="05000000000000000000" pitchFamily="2" charset="2"/>
                  <a:buChar char="Ø"/>
                </a:pPr>
                <a:r>
                  <a:rPr lang="en-IN" sz="2400" b="1" dirty="0">
                    <a:effectLst/>
                    <a:latin typeface="EB Garamond" panose="00000500000000000000" pitchFamily="2" charset="0"/>
                    <a:ea typeface="EB Garamond" panose="00000500000000000000" pitchFamily="2" charset="0"/>
                  </a:rPr>
                  <a:t>Tier 3 (Automated Clinical Triage):</a:t>
                </a:r>
                <a:r>
                  <a:rPr lang="en-IN" sz="2400" dirty="0">
                    <a:effectLst/>
                    <a:latin typeface="EB Garamond" panose="00000500000000000000" pitchFamily="2" charset="0"/>
                    <a:ea typeface="EB Garamond" panose="00000500000000000000" pitchFamily="2" charset="0"/>
                  </a:rPr>
                  <a:t> </a:t>
                </a:r>
              </a:p>
              <a:p>
                <a:pPr lvl="4"/>
                <a:r>
                  <a:rPr lang="en-IN" sz="2400" dirty="0">
                    <a:effectLst/>
                    <a:latin typeface="EB Garamond" panose="00000500000000000000" pitchFamily="2" charset="0"/>
                    <a:ea typeface="EB Garamond" panose="00000500000000000000" pitchFamily="2" charset="0"/>
                  </a:rPr>
                  <a:t>Probability thresholding (</a:t>
                </a:r>
                <a14:m>
                  <m:oMath xmlns:m="http://schemas.openxmlformats.org/officeDocument/2006/math">
                    <m:r>
                      <a:rPr lang="en-IN" sz="2400" i="1">
                        <a:latin typeface="Cambria Math" panose="02040503050406030204" pitchFamily="18" charset="0"/>
                      </a:rPr>
                      <m:t>𝑝</m:t>
                    </m:r>
                    <m:r>
                      <a:rPr lang="en-IN" sz="2400">
                        <a:latin typeface="Cambria Math" panose="02040503050406030204" pitchFamily="18" charset="0"/>
                      </a:rPr>
                      <m:t>≥0.50</m:t>
                    </m:r>
                  </m:oMath>
                </a14:m>
                <a:r>
                  <a:rPr lang="en-IN" sz="2400" dirty="0">
                    <a:effectLst/>
                    <a:latin typeface="EB Garamond" panose="00000500000000000000" pitchFamily="2" charset="0"/>
                    <a:ea typeface="EB Garamond" panose="00000500000000000000" pitchFamily="2" charset="0"/>
                  </a:rPr>
                  <a:t>) maps multi-label predictions into automated hospital triage priority tiers (</a:t>
                </a:r>
                <a:r>
                  <a:rPr lang="en-IN" sz="2400" b="1" dirty="0">
                    <a:effectLst/>
                    <a:latin typeface="EB Garamond" panose="00000500000000000000" pitchFamily="2" charset="0"/>
                    <a:ea typeface="EB Garamond" panose="00000500000000000000" pitchFamily="2" charset="0"/>
                  </a:rPr>
                  <a:t>HIGH</a:t>
                </a:r>
                <a:r>
                  <a:rPr lang="en-IN" sz="2400" dirty="0">
                    <a:effectLst/>
                    <a:latin typeface="EB Garamond" panose="00000500000000000000" pitchFamily="2" charset="0"/>
                    <a:ea typeface="EB Garamond" panose="00000500000000000000" pitchFamily="2" charset="0"/>
                  </a:rPr>
                  <a:t>: Acute Actionable Pathology / </a:t>
                </a:r>
                <a:r>
                  <a:rPr lang="en-IN" sz="2400" b="1" dirty="0">
                    <a:effectLst/>
                    <a:latin typeface="EB Garamond" panose="00000500000000000000" pitchFamily="2" charset="0"/>
                    <a:ea typeface="EB Garamond" panose="00000500000000000000" pitchFamily="2" charset="0"/>
                  </a:rPr>
                  <a:t>LOW</a:t>
                </a:r>
                <a:r>
                  <a:rPr lang="en-IN" sz="2400" dirty="0">
                    <a:effectLst/>
                    <a:latin typeface="EB Garamond" panose="00000500000000000000" pitchFamily="2" charset="0"/>
                    <a:ea typeface="EB Garamond" panose="00000500000000000000" pitchFamily="2" charset="0"/>
                  </a:rPr>
                  <a:t>: Normal).</a:t>
                </a:r>
              </a:p>
              <a:p>
                <a:pPr marL="457200" lvl="0" indent="-457200">
                  <a:buFont typeface="Wingdings" panose="05000000000000000000" pitchFamily="2" charset="2"/>
                  <a:buChar char="ü"/>
                </a:pPr>
                <a:r>
                  <a:rPr lang="en-IN" sz="2500" b="1" dirty="0">
                    <a:effectLst/>
                    <a:latin typeface="EB Garamond" panose="00000500000000000000" pitchFamily="2" charset="0"/>
                    <a:ea typeface="EB Garamond" panose="00000500000000000000" pitchFamily="2" charset="0"/>
                  </a:rPr>
                  <a:t>Deep Learning Training Convergence (</a:t>
                </a:r>
                <a:r>
                  <a:rPr lang="en-IN" sz="2500" b="1" dirty="0" err="1">
                    <a:latin typeface="EB Garamond" panose="00000500000000000000" pitchFamily="2" charset="0"/>
                    <a:ea typeface="EB Garamond" panose="00000500000000000000" pitchFamily="2" charset="0"/>
                  </a:rPr>
                  <a:t>Bio_ClinicalBERT</a:t>
                </a:r>
                <a:r>
                  <a:rPr lang="en-IN" sz="2500" b="1" dirty="0">
                    <a:effectLst/>
                    <a:latin typeface="EB Garamond" panose="00000500000000000000" pitchFamily="2" charset="0"/>
                    <a:ea typeface="EB Garamond" panose="00000500000000000000" pitchFamily="2" charset="0"/>
                  </a:rPr>
                  <a:t>):</a:t>
                </a:r>
                <a:endParaRPr lang="en-IN" sz="2500" dirty="0">
                  <a:effectLst/>
                  <a:latin typeface="EB Garamond" panose="00000500000000000000" pitchFamily="2" charset="0"/>
                  <a:ea typeface="EB Garamond" panose="00000500000000000000" pitchFamily="2" charset="0"/>
                </a:endParaRPr>
              </a:p>
              <a:p>
                <a:pPr lvl="2"/>
                <a:r>
                  <a:rPr lang="en-IN" sz="2400" dirty="0">
                    <a:effectLst/>
                    <a:latin typeface="EB Garamond" panose="00000500000000000000" pitchFamily="2" charset="0"/>
                    <a:ea typeface="EB Garamond" panose="00000500000000000000" pitchFamily="2" charset="0"/>
                  </a:rPr>
                  <a:t>Supervised fine-tuning across 4 complete epochs using </a:t>
                </a:r>
                <a:r>
                  <a:rPr lang="en-IN" sz="2400" dirty="0" err="1">
                    <a:effectLst/>
                    <a:latin typeface="EB Garamond" panose="00000500000000000000" pitchFamily="2" charset="0"/>
                    <a:ea typeface="EB Garamond" panose="00000500000000000000" pitchFamily="2" charset="0"/>
                  </a:rPr>
                  <a:t>AdamW</a:t>
                </a:r>
                <a:r>
                  <a:rPr lang="en-IN" sz="2400" dirty="0">
                    <a:effectLst/>
                    <a:latin typeface="EB Garamond" panose="00000500000000000000" pitchFamily="2" charset="0"/>
                    <a:ea typeface="EB Garamond" panose="00000500000000000000" pitchFamily="2" charset="0"/>
                  </a:rPr>
                  <a:t> (</a:t>
                </a:r>
                <a14:m>
                  <m:oMath xmlns:m="http://schemas.openxmlformats.org/officeDocument/2006/math">
                    <m:r>
                      <m:rPr>
                        <m:nor/>
                      </m:rPr>
                      <a:rPr lang="en-IN" sz="2400" b="0" i="0">
                        <a:latin typeface="EB Garamond" panose="00000500000000000000" pitchFamily="2" charset="0"/>
                        <a:ea typeface="EB Garamond" panose="00000500000000000000" pitchFamily="2" charset="0"/>
                      </a:rPr>
                      <m:t>lr</m:t>
                    </m:r>
                    <m:r>
                      <a:rPr lang="en-IN" sz="2400">
                        <a:latin typeface="Cambria Math" panose="02040503050406030204" pitchFamily="18" charset="0"/>
                      </a:rPr>
                      <m:t>=2×</m:t>
                    </m:r>
                    <m:sSup>
                      <m:sSupPr>
                        <m:ctrlPr>
                          <a:rPr lang="en-IN" sz="2400">
                            <a:latin typeface="Cambria Math" panose="02040503050406030204" pitchFamily="18" charset="0"/>
                          </a:rPr>
                        </m:ctrlPr>
                      </m:sSupPr>
                      <m:e>
                        <m:r>
                          <a:rPr lang="en-IN" sz="2400">
                            <a:latin typeface="Cambria Math" panose="02040503050406030204" pitchFamily="18" charset="0"/>
                          </a:rPr>
                          <m:t>10</m:t>
                        </m:r>
                      </m:e>
                      <m:sup>
                        <m:r>
                          <a:rPr lang="en-IN" sz="2400">
                            <a:latin typeface="Cambria Math" panose="02040503050406030204" pitchFamily="18" charset="0"/>
                          </a:rPr>
                          <m:t>−5</m:t>
                        </m:r>
                      </m:sup>
                    </m:sSup>
                  </m:oMath>
                </a14:m>
                <a:r>
                  <a:rPr lang="en-IN" sz="2400" dirty="0">
                    <a:effectLst/>
                    <a:latin typeface="EB Garamond" panose="00000500000000000000" pitchFamily="2" charset="0"/>
                    <a:ea typeface="EB Garamond" panose="00000500000000000000" pitchFamily="2" charset="0"/>
                  </a:rPr>
                  <a:t>) and </a:t>
                </a:r>
                <a:r>
                  <a:rPr lang="en-IN" sz="2400" dirty="0" err="1">
                    <a:effectLst/>
                    <a:latin typeface="EB Garamond" panose="00000500000000000000" pitchFamily="2" charset="0"/>
                    <a:ea typeface="EB Garamond" panose="00000500000000000000" pitchFamily="2" charset="0"/>
                  </a:rPr>
                  <a:t>BCEWithLogitsLoss</a:t>
                </a:r>
                <a:r>
                  <a:rPr lang="en-IN" sz="2400" dirty="0">
                    <a:effectLst/>
                    <a:latin typeface="EB Garamond" panose="00000500000000000000" pitchFamily="2" charset="0"/>
                    <a:ea typeface="EB Garamond" panose="00000500000000000000" pitchFamily="2" charset="0"/>
                  </a:rPr>
                  <a:t>: </a:t>
                </a:r>
              </a:p>
              <a:p>
                <a:pPr lvl="3"/>
                <a:r>
                  <a:rPr lang="en-IN" sz="2400" b="1" dirty="0">
                    <a:effectLst/>
                    <a:latin typeface="EB Garamond" panose="00000500000000000000" pitchFamily="2" charset="0"/>
                    <a:ea typeface="EB Garamond" panose="00000500000000000000" pitchFamily="2" charset="0"/>
                  </a:rPr>
                  <a:t>Epoch 1:</a:t>
                </a:r>
                <a:r>
                  <a:rPr lang="en-IN" sz="2400" dirty="0">
                    <a:effectLst/>
                    <a:latin typeface="EB Garamond" panose="00000500000000000000" pitchFamily="2" charset="0"/>
                    <a:ea typeface="EB Garamond" panose="00000500000000000000" pitchFamily="2" charset="0"/>
                  </a:rPr>
                  <a:t> Loss: </a:t>
                </a:r>
                <a:r>
                  <a:rPr lang="en-IN" sz="2400" b="1" dirty="0">
                    <a:effectLst/>
                    <a:latin typeface="EB Garamond" panose="00000500000000000000" pitchFamily="2" charset="0"/>
                    <a:ea typeface="EB Garamond" panose="00000500000000000000" pitchFamily="2" charset="0"/>
                  </a:rPr>
                  <a:t>0.9282</a:t>
                </a:r>
                <a:r>
                  <a:rPr lang="en-IN" sz="2400" dirty="0">
                    <a:effectLst/>
                    <a:latin typeface="EB Garamond" panose="00000500000000000000" pitchFamily="2" charset="0"/>
                    <a:ea typeface="EB Garamond" panose="00000500000000000000" pitchFamily="2" charset="0"/>
                  </a:rPr>
                  <a:t> | Val AUROC: </a:t>
                </a:r>
                <a:r>
                  <a:rPr lang="en-IN" sz="2400" b="1" dirty="0">
                    <a:effectLst/>
                    <a:latin typeface="EB Garamond" panose="00000500000000000000" pitchFamily="2" charset="0"/>
                    <a:ea typeface="EB Garamond" panose="00000500000000000000" pitchFamily="2" charset="0"/>
                  </a:rPr>
                  <a:t>0.7868</a:t>
                </a:r>
                <a:endParaRPr lang="en-IN" sz="2400" dirty="0">
                  <a:effectLst/>
                  <a:latin typeface="EB Garamond" panose="00000500000000000000" pitchFamily="2" charset="0"/>
                  <a:ea typeface="EB Garamond" panose="00000500000000000000" pitchFamily="2" charset="0"/>
                </a:endParaRPr>
              </a:p>
              <a:p>
                <a:pPr lvl="3"/>
                <a:r>
                  <a:rPr lang="en-IN" sz="2400" b="1" dirty="0">
                    <a:effectLst/>
                    <a:latin typeface="EB Garamond" panose="00000500000000000000" pitchFamily="2" charset="0"/>
                    <a:ea typeface="EB Garamond" panose="00000500000000000000" pitchFamily="2" charset="0"/>
                  </a:rPr>
                  <a:t>Epoch 2:</a:t>
                </a:r>
                <a:r>
                  <a:rPr lang="en-IN" sz="2400" dirty="0">
                    <a:effectLst/>
                    <a:latin typeface="EB Garamond" panose="00000500000000000000" pitchFamily="2" charset="0"/>
                    <a:ea typeface="EB Garamond" panose="00000500000000000000" pitchFamily="2" charset="0"/>
                  </a:rPr>
                  <a:t> Loss: </a:t>
                </a:r>
                <a:r>
                  <a:rPr lang="en-IN" sz="2400" b="1" dirty="0">
                    <a:effectLst/>
                    <a:latin typeface="EB Garamond" panose="00000500000000000000" pitchFamily="2" charset="0"/>
                    <a:ea typeface="EB Garamond" panose="00000500000000000000" pitchFamily="2" charset="0"/>
                  </a:rPr>
                  <a:t>0.7410</a:t>
                </a:r>
                <a:r>
                  <a:rPr lang="en-IN" sz="2400" dirty="0">
                    <a:effectLst/>
                    <a:latin typeface="EB Garamond" panose="00000500000000000000" pitchFamily="2" charset="0"/>
                    <a:ea typeface="EB Garamond" panose="00000500000000000000" pitchFamily="2" charset="0"/>
                  </a:rPr>
                  <a:t> | Val AUROC: </a:t>
                </a:r>
                <a:r>
                  <a:rPr lang="en-IN" sz="2400" b="1" dirty="0">
                    <a:effectLst/>
                    <a:latin typeface="EB Garamond" panose="00000500000000000000" pitchFamily="2" charset="0"/>
                    <a:ea typeface="EB Garamond" panose="00000500000000000000" pitchFamily="2" charset="0"/>
                  </a:rPr>
                  <a:t>0.8540</a:t>
                </a:r>
                <a:endParaRPr lang="en-IN" sz="2400" dirty="0">
                  <a:effectLst/>
                  <a:latin typeface="EB Garamond" panose="00000500000000000000" pitchFamily="2" charset="0"/>
                  <a:ea typeface="EB Garamond" panose="00000500000000000000" pitchFamily="2" charset="0"/>
                </a:endParaRPr>
              </a:p>
              <a:p>
                <a:pPr lvl="3"/>
                <a:r>
                  <a:rPr lang="en-IN" sz="2400" b="1" dirty="0">
                    <a:effectLst/>
                    <a:latin typeface="EB Garamond" panose="00000500000000000000" pitchFamily="2" charset="0"/>
                    <a:ea typeface="EB Garamond" panose="00000500000000000000" pitchFamily="2" charset="0"/>
                  </a:rPr>
                  <a:t>Epoch 3:</a:t>
                </a:r>
                <a:r>
                  <a:rPr lang="en-IN" sz="2400" dirty="0">
                    <a:effectLst/>
                    <a:latin typeface="EB Garamond" panose="00000500000000000000" pitchFamily="2" charset="0"/>
                    <a:ea typeface="EB Garamond" panose="00000500000000000000" pitchFamily="2" charset="0"/>
                  </a:rPr>
                  <a:t> Loss: </a:t>
                </a:r>
                <a:r>
                  <a:rPr lang="en-IN" sz="2400" b="1" dirty="0">
                    <a:effectLst/>
                    <a:latin typeface="EB Garamond" panose="00000500000000000000" pitchFamily="2" charset="0"/>
                    <a:ea typeface="EB Garamond" panose="00000500000000000000" pitchFamily="2" charset="0"/>
                  </a:rPr>
                  <a:t>0.6120</a:t>
                </a:r>
                <a:r>
                  <a:rPr lang="en-IN" sz="2400" dirty="0">
                    <a:effectLst/>
                    <a:latin typeface="EB Garamond" panose="00000500000000000000" pitchFamily="2" charset="0"/>
                    <a:ea typeface="EB Garamond" panose="00000500000000000000" pitchFamily="2" charset="0"/>
                  </a:rPr>
                  <a:t> | Val AUROC: </a:t>
                </a:r>
                <a:r>
                  <a:rPr lang="en-IN" sz="2400" b="1" dirty="0">
                    <a:effectLst/>
                    <a:latin typeface="EB Garamond" panose="00000500000000000000" pitchFamily="2" charset="0"/>
                    <a:ea typeface="EB Garamond" panose="00000500000000000000" pitchFamily="2" charset="0"/>
                  </a:rPr>
                  <a:t>0.8980</a:t>
                </a:r>
                <a:endParaRPr lang="en-IN" sz="2400" dirty="0">
                  <a:effectLst/>
                  <a:latin typeface="EB Garamond" panose="00000500000000000000" pitchFamily="2" charset="0"/>
                  <a:ea typeface="EB Garamond" panose="00000500000000000000" pitchFamily="2" charset="0"/>
                </a:endParaRPr>
              </a:p>
              <a:p>
                <a:pPr lvl="3"/>
                <a:r>
                  <a:rPr lang="en-IN" sz="2400" b="1" dirty="0">
                    <a:effectLst/>
                    <a:latin typeface="EB Garamond" panose="00000500000000000000" pitchFamily="2" charset="0"/>
                    <a:ea typeface="EB Garamond" panose="00000500000000000000" pitchFamily="2" charset="0"/>
                  </a:rPr>
                  <a:t>Epoch 4:</a:t>
                </a:r>
                <a:r>
                  <a:rPr lang="en-IN" sz="2400" dirty="0">
                    <a:effectLst/>
                    <a:latin typeface="EB Garamond" panose="00000500000000000000" pitchFamily="2" charset="0"/>
                    <a:ea typeface="EB Garamond" panose="00000500000000000000" pitchFamily="2" charset="0"/>
                  </a:rPr>
                  <a:t> Loss: </a:t>
                </a:r>
                <a:r>
                  <a:rPr lang="en-IN" sz="2400" b="1" dirty="0">
                    <a:effectLst/>
                    <a:latin typeface="EB Garamond" panose="00000500000000000000" pitchFamily="2" charset="0"/>
                    <a:ea typeface="EB Garamond" panose="00000500000000000000" pitchFamily="2" charset="0"/>
                  </a:rPr>
                  <a:t>0.5376</a:t>
                </a:r>
                <a:r>
                  <a:rPr lang="en-IN" sz="2400" dirty="0">
                    <a:effectLst/>
                    <a:latin typeface="EB Garamond" panose="00000500000000000000" pitchFamily="2" charset="0"/>
                    <a:ea typeface="EB Garamond" panose="00000500000000000000" pitchFamily="2" charset="0"/>
                  </a:rPr>
                  <a:t> | Val AUROC: </a:t>
                </a:r>
                <a:r>
                  <a:rPr lang="en-IN" sz="2400" b="1" dirty="0">
                    <a:effectLst/>
                    <a:latin typeface="EB Garamond" panose="00000500000000000000" pitchFamily="2" charset="0"/>
                    <a:ea typeface="EB Garamond" panose="00000500000000000000" pitchFamily="2" charset="0"/>
                  </a:rPr>
                  <a:t>0.9218</a:t>
                </a:r>
                <a:endParaRPr lang="en-IN" sz="2400" dirty="0">
                  <a:effectLst/>
                  <a:latin typeface="EB Garamond" panose="00000500000000000000" pitchFamily="2" charset="0"/>
                  <a:ea typeface="EB Garamond" panose="00000500000000000000" pitchFamily="2" charset="0"/>
                </a:endParaRPr>
              </a:p>
              <a:p>
                <a:pPr lvl="2"/>
                <a:r>
                  <a:rPr lang="en-IN" sz="2400" b="1" dirty="0">
                    <a:effectLst/>
                    <a:latin typeface="EB Garamond" panose="00000500000000000000" pitchFamily="2" charset="0"/>
                    <a:ea typeface="EB Garamond" panose="00000500000000000000" pitchFamily="2" charset="0"/>
                  </a:rPr>
                  <a:t>Outcome:</a:t>
                </a:r>
                <a:r>
                  <a:rPr lang="en-IN" sz="2400" dirty="0">
                    <a:effectLst/>
                    <a:latin typeface="EB Garamond" panose="00000500000000000000" pitchFamily="2" charset="0"/>
                    <a:ea typeface="EB Garamond" panose="00000500000000000000" pitchFamily="2" charset="0"/>
                  </a:rPr>
                  <a:t> Monotonic loss reduction and steady AUROC gain confirm stable convergence without overfitting.</a:t>
                </a:r>
              </a:p>
              <a:p>
                <a:pPr lvl="0">
                  <a:lnSpc>
                    <a:spcPct val="200000"/>
                  </a:lnSpc>
                </a:pPr>
                <a:endParaRPr lang="en-IN" sz="2400" dirty="0">
                  <a:effectLst/>
                  <a:latin typeface="EB Garamond" panose="00000500000000000000" pitchFamily="2" charset="0"/>
                  <a:ea typeface="EB Garamond" panose="00000500000000000000" pitchFamily="2" charset="0"/>
                </a:endParaRPr>
              </a:p>
              <a:p>
                <a:pPr>
                  <a:lnSpc>
                    <a:spcPct val="150000"/>
                  </a:lnSpc>
                  <a:buNone/>
                </a:pPr>
                <a:endParaRPr lang="en-IN" sz="3200" b="1" i="1" dirty="0">
                  <a:latin typeface="EB Garamond" panose="00000500000000000000" pitchFamily="2" charset="0"/>
                  <a:ea typeface="EB Garamond" panose="00000500000000000000" pitchFamily="2" charset="0"/>
                </a:endParaRPr>
              </a:p>
            </p:txBody>
          </p:sp>
        </mc:Choice>
        <mc:Fallback>
          <p:sp>
            <p:nvSpPr>
              <p:cNvPr id="11" name="TextBox 10">
                <a:extLst>
                  <a:ext uri="{FF2B5EF4-FFF2-40B4-BE49-F238E27FC236}">
                    <a16:creationId xmlns:a16="http://schemas.microsoft.com/office/drawing/2014/main" id="{43F59769-4B4D-75A2-2638-8980589C3AA5}"/>
                  </a:ext>
                </a:extLst>
              </p:cNvPr>
              <p:cNvSpPr txBox="1">
                <a:spLocks noRot="1" noChangeAspect="1" noMove="1" noResize="1" noEditPoints="1" noAdjustHandles="1" noChangeArrowheads="1" noChangeShapeType="1" noTextEdit="1"/>
              </p:cNvSpPr>
              <p:nvPr/>
            </p:nvSpPr>
            <p:spPr>
              <a:xfrm>
                <a:off x="609600" y="1398556"/>
                <a:ext cx="17373600" cy="9873152"/>
              </a:xfrm>
              <a:prstGeom prst="rect">
                <a:avLst/>
              </a:prstGeom>
              <a:blipFill>
                <a:blip r:embed="rId2"/>
                <a:stretch>
                  <a:fillRect l="-877" t="-802"/>
                </a:stretch>
              </a:blipFill>
            </p:spPr>
            <p:txBody>
              <a:bodyPr/>
              <a:lstStyle/>
              <a:p>
                <a:r>
                  <a:rPr lang="en-IN">
                    <a:noFill/>
                  </a:rPr>
                  <a:t> </a:t>
                </a:r>
              </a:p>
            </p:txBody>
          </p:sp>
        </mc:Fallback>
      </mc:AlternateContent>
    </p:spTree>
    <p:extLst>
      <p:ext uri="{BB962C8B-B14F-4D97-AF65-F5344CB8AC3E}">
        <p14:creationId xmlns:p14="http://schemas.microsoft.com/office/powerpoint/2010/main" val="3906626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777D0-7B22-FAB0-0811-19A78B1F4B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9C5F4B-E939-EE3D-DD98-9F1E1F629A31}"/>
              </a:ext>
            </a:extLst>
          </p:cNvPr>
          <p:cNvSpPr txBox="1"/>
          <p:nvPr/>
        </p:nvSpPr>
        <p:spPr>
          <a:xfrm>
            <a:off x="566928" y="300000"/>
            <a:ext cx="17154144" cy="461665"/>
          </a:xfrm>
          <a:prstGeom prst="rect">
            <a:avLst/>
          </a:prstGeom>
          <a:noFill/>
        </p:spPr>
        <p:txBody>
          <a:bodyPr wrap="square">
            <a:spAutoFit/>
          </a:bodyPr>
          <a:lstStyle/>
          <a:p>
            <a:pPr>
              <a:defRPr sz="1100" b="1">
                <a:solidFill>
                  <a:srgbClr val="35598F"/>
                </a:solidFill>
              </a:defRPr>
            </a:pPr>
            <a:r>
              <a:rPr lang="en-IN" sz="2400" dirty="0">
                <a:solidFill>
                  <a:schemeClr val="tx1">
                    <a:lumMod val="95000"/>
                    <a:lumOff val="5000"/>
                  </a:schemeClr>
                </a:solidFill>
                <a:latin typeface="EB Garamond" panose="00000500000000000000" pitchFamily="2" charset="0"/>
                <a:ea typeface="EB Garamond" panose="00000500000000000000" pitchFamily="2" charset="0"/>
              </a:rPr>
              <a:t>PHASE - 3 </a:t>
            </a:r>
          </a:p>
        </p:txBody>
      </p:sp>
      <p:sp>
        <p:nvSpPr>
          <p:cNvPr id="5" name="TextBox 4">
            <a:extLst>
              <a:ext uri="{FF2B5EF4-FFF2-40B4-BE49-F238E27FC236}">
                <a16:creationId xmlns:a16="http://schemas.microsoft.com/office/drawing/2014/main" id="{6E1D28F7-9456-79C4-52AD-DE7C2A2CBCEB}"/>
              </a:ext>
            </a:extLst>
          </p:cNvPr>
          <p:cNvSpPr txBox="1"/>
          <p:nvPr/>
        </p:nvSpPr>
        <p:spPr>
          <a:xfrm>
            <a:off x="566928" y="746111"/>
            <a:ext cx="10134600" cy="584775"/>
          </a:xfrm>
          <a:prstGeom prst="rect">
            <a:avLst/>
          </a:prstGeom>
          <a:noFill/>
        </p:spPr>
        <p:txBody>
          <a:bodyPr wrap="square" rtlCol="0">
            <a:spAutoFit/>
          </a:bodyPr>
          <a:lstStyle/>
          <a:p>
            <a:r>
              <a:rPr lang="en-IN" sz="3200" dirty="0">
                <a:latin typeface="EB Garamond" panose="00000500000000000000" pitchFamily="2" charset="0"/>
                <a:ea typeface="EB Garamond" panose="00000500000000000000" pitchFamily="2" charset="0"/>
              </a:rPr>
              <a:t>Algorithmic Design &amp; Approach</a:t>
            </a:r>
          </a:p>
        </p:txBody>
      </p:sp>
      <p:sp>
        <p:nvSpPr>
          <p:cNvPr id="11" name="TextBox 10">
            <a:extLst>
              <a:ext uri="{FF2B5EF4-FFF2-40B4-BE49-F238E27FC236}">
                <a16:creationId xmlns:a16="http://schemas.microsoft.com/office/drawing/2014/main" id="{52FD1BD0-499F-E56E-03F9-4CA44E0F9B5A}"/>
              </a:ext>
            </a:extLst>
          </p:cNvPr>
          <p:cNvSpPr txBox="1"/>
          <p:nvPr/>
        </p:nvSpPr>
        <p:spPr>
          <a:xfrm>
            <a:off x="533400" y="1398556"/>
            <a:ext cx="17373600" cy="584775"/>
          </a:xfrm>
          <a:prstGeom prst="rect">
            <a:avLst/>
          </a:prstGeom>
          <a:noFill/>
        </p:spPr>
        <p:txBody>
          <a:bodyPr wrap="square">
            <a:spAutoFit/>
          </a:bodyPr>
          <a:lstStyle/>
          <a:p>
            <a:pPr>
              <a:lnSpc>
                <a:spcPct val="100000"/>
              </a:lnSpc>
              <a:buNone/>
            </a:pPr>
            <a:r>
              <a:rPr lang="en-IN" sz="3200" b="1" dirty="0">
                <a:latin typeface="EB Garamond" panose="00000500000000000000" pitchFamily="2" charset="0"/>
                <a:ea typeface="EB Garamond" panose="00000500000000000000" pitchFamily="2" charset="0"/>
              </a:rPr>
              <a:t>Convincing Results Across Test Cases &amp; Benchmark Verification –</a:t>
            </a:r>
          </a:p>
        </p:txBody>
      </p:sp>
      <p:graphicFrame>
        <p:nvGraphicFramePr>
          <p:cNvPr id="6" name="Table 5">
            <a:extLst>
              <a:ext uri="{FF2B5EF4-FFF2-40B4-BE49-F238E27FC236}">
                <a16:creationId xmlns:a16="http://schemas.microsoft.com/office/drawing/2014/main" id="{0AD6ABCD-9B71-1AF5-28C6-DBAF382EC7C5}"/>
              </a:ext>
            </a:extLst>
          </p:cNvPr>
          <p:cNvGraphicFramePr>
            <a:graphicFrameLocks noGrp="1"/>
          </p:cNvGraphicFramePr>
          <p:nvPr>
            <p:extLst>
              <p:ext uri="{D42A27DB-BD31-4B8C-83A1-F6EECF244321}">
                <p14:modId xmlns:p14="http://schemas.microsoft.com/office/powerpoint/2010/main" val="238808369"/>
              </p:ext>
            </p:extLst>
          </p:nvPr>
        </p:nvGraphicFramePr>
        <p:xfrm>
          <a:off x="593966" y="2171701"/>
          <a:ext cx="17313032" cy="7815298"/>
        </p:xfrm>
        <a:graphic>
          <a:graphicData uri="http://schemas.openxmlformats.org/drawingml/2006/table">
            <a:tbl>
              <a:tblPr>
                <a:tableStyleId>{5C22544A-7EE6-4342-B048-85BDC9FD1C3A}</a:tableStyleId>
              </a:tblPr>
              <a:tblGrid>
                <a:gridCol w="4328258">
                  <a:extLst>
                    <a:ext uri="{9D8B030D-6E8A-4147-A177-3AD203B41FA5}">
                      <a16:colId xmlns:a16="http://schemas.microsoft.com/office/drawing/2014/main" val="1152668645"/>
                    </a:ext>
                  </a:extLst>
                </a:gridCol>
                <a:gridCol w="4328258">
                  <a:extLst>
                    <a:ext uri="{9D8B030D-6E8A-4147-A177-3AD203B41FA5}">
                      <a16:colId xmlns:a16="http://schemas.microsoft.com/office/drawing/2014/main" val="2668871154"/>
                    </a:ext>
                  </a:extLst>
                </a:gridCol>
                <a:gridCol w="4328258">
                  <a:extLst>
                    <a:ext uri="{9D8B030D-6E8A-4147-A177-3AD203B41FA5}">
                      <a16:colId xmlns:a16="http://schemas.microsoft.com/office/drawing/2014/main" val="487852434"/>
                    </a:ext>
                  </a:extLst>
                </a:gridCol>
                <a:gridCol w="4328258">
                  <a:extLst>
                    <a:ext uri="{9D8B030D-6E8A-4147-A177-3AD203B41FA5}">
                      <a16:colId xmlns:a16="http://schemas.microsoft.com/office/drawing/2014/main" val="3713466617"/>
                    </a:ext>
                  </a:extLst>
                </a:gridCol>
              </a:tblGrid>
              <a:tr h="1169944">
                <a:tc>
                  <a:txBody>
                    <a:bodyPr/>
                    <a:lstStyle/>
                    <a:p>
                      <a:pPr algn="ctr">
                        <a:buNone/>
                      </a:pPr>
                      <a:r>
                        <a:rPr lang="en-IN" sz="2400" b="1">
                          <a:latin typeface="EB Garamond" panose="00000500000000000000" pitchFamily="2" charset="0"/>
                          <a:ea typeface="EB Garamond" panose="00000500000000000000" pitchFamily="2" charset="0"/>
                        </a:rPr>
                        <a:t>Evaluation Metric / Test Case</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b="1" dirty="0">
                          <a:latin typeface="EB Garamond" panose="00000500000000000000" pitchFamily="2" charset="0"/>
                          <a:ea typeface="EB Garamond" panose="00000500000000000000" pitchFamily="2" charset="0"/>
                        </a:rPr>
                        <a:t>Base Paper Benchmark (Yang et al., 2025)</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b="1" dirty="0">
                          <a:latin typeface="EB Garamond" panose="00000500000000000000" pitchFamily="2" charset="0"/>
                          <a:ea typeface="EB Garamond" panose="00000500000000000000" pitchFamily="2" charset="0"/>
                        </a:rPr>
                        <a:t>Our Trained Model (Phase 3)</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b="1" dirty="0">
                          <a:latin typeface="EB Garamond" panose="00000500000000000000" pitchFamily="2" charset="0"/>
                          <a:ea typeface="EB Garamond" panose="00000500000000000000" pitchFamily="2" charset="0"/>
                        </a:rPr>
                        <a:t>Performance Status</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1612072785"/>
                  </a:ext>
                </a:extLst>
              </a:tr>
              <a:tr h="561650">
                <a:tc>
                  <a:txBody>
                    <a:bodyPr/>
                    <a:lstStyle/>
                    <a:p>
                      <a:pPr algn="ctr">
                        <a:buNone/>
                      </a:pPr>
                      <a:r>
                        <a:rPr lang="en-IN" sz="2400">
                          <a:latin typeface="EB Garamond" panose="00000500000000000000" pitchFamily="2" charset="0"/>
                          <a:ea typeface="EB Garamond" panose="00000500000000000000" pitchFamily="2" charset="0"/>
                        </a:rPr>
                        <a:t>Pooled Sensitivity</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91.0% (87–93%)</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dirty="0">
                          <a:latin typeface="EB Garamond" panose="00000500000000000000" pitchFamily="2" charset="0"/>
                          <a:ea typeface="EB Garamond" panose="00000500000000000000" pitchFamily="2" charset="0"/>
                        </a:rPr>
                        <a:t>91.2%</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Within 95% CI</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3129790927"/>
                  </a:ext>
                </a:extLst>
              </a:tr>
              <a:tr h="818960">
                <a:tc>
                  <a:txBody>
                    <a:bodyPr/>
                    <a:lstStyle/>
                    <a:p>
                      <a:pPr algn="ctr">
                        <a:buNone/>
                      </a:pPr>
                      <a:r>
                        <a:rPr lang="en-IN" sz="2400">
                          <a:latin typeface="EB Garamond" panose="00000500000000000000" pitchFamily="2" charset="0"/>
                          <a:ea typeface="EB Garamond" panose="00000500000000000000" pitchFamily="2" charset="0"/>
                        </a:rPr>
                        <a:t>Pooled Specificity</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96.0% (93–97%)</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97.7%</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+1.7 percentage points</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1153492507"/>
                  </a:ext>
                </a:extLst>
              </a:tr>
              <a:tr h="818960">
                <a:tc>
                  <a:txBody>
                    <a:bodyPr/>
                    <a:lstStyle/>
                    <a:p>
                      <a:pPr algn="ctr">
                        <a:buNone/>
                      </a:pPr>
                      <a:r>
                        <a:rPr lang="en-IN" sz="2400">
                          <a:latin typeface="EB Garamond" panose="00000500000000000000" pitchFamily="2" charset="0"/>
                          <a:ea typeface="EB Garamond" panose="00000500000000000000" pitchFamily="2" charset="0"/>
                        </a:rPr>
                        <a:t>Summary AUROC</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0.980 (0.960–0.990)</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dirty="0">
                          <a:latin typeface="EB Garamond" panose="00000500000000000000" pitchFamily="2" charset="0"/>
                          <a:ea typeface="EB Garamond" panose="00000500000000000000" pitchFamily="2" charset="0"/>
                        </a:rPr>
                        <a:t>0.984</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Higher than benchmark</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2589596816"/>
                  </a:ext>
                </a:extLst>
              </a:tr>
              <a:tr h="818960">
                <a:tc>
                  <a:txBody>
                    <a:bodyPr/>
                    <a:lstStyle/>
                    <a:p>
                      <a:pPr algn="ctr">
                        <a:buNone/>
                      </a:pPr>
                      <a:r>
                        <a:rPr lang="en-IN" sz="2400">
                          <a:latin typeface="EB Garamond" panose="00000500000000000000" pitchFamily="2" charset="0"/>
                          <a:ea typeface="EB Garamond" panose="00000500000000000000" pitchFamily="2" charset="0"/>
                        </a:rPr>
                        <a:t>Diagnostic Odds Ratio (DOR)</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dirty="0">
                          <a:latin typeface="EB Garamond" panose="00000500000000000000" pitchFamily="2" charset="0"/>
                          <a:ea typeface="EB Garamond" panose="00000500000000000000" pitchFamily="2" charset="0"/>
                        </a:rPr>
                        <a:t>220.0 (112–435)</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dirty="0">
                          <a:latin typeface="EB Garamond" panose="00000500000000000000" pitchFamily="2" charset="0"/>
                          <a:ea typeface="EB Garamond" panose="00000500000000000000" pitchFamily="2" charset="0"/>
                        </a:rPr>
                        <a:t>393.1</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78.7% higher</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2409846149"/>
                  </a:ext>
                </a:extLst>
              </a:tr>
              <a:tr h="818960">
                <a:tc>
                  <a:txBody>
                    <a:bodyPr/>
                    <a:lstStyle/>
                    <a:p>
                      <a:pPr algn="ctr">
                        <a:buNone/>
                      </a:pPr>
                      <a:r>
                        <a:rPr lang="en-IN" sz="2400">
                          <a:latin typeface="EB Garamond" panose="00000500000000000000" pitchFamily="2" charset="0"/>
                          <a:ea typeface="EB Garamond" panose="00000500000000000000" pitchFamily="2" charset="0"/>
                        </a:rPr>
                        <a:t>Cardiomegaly</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Subgroup AUROC: ~0.98</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AUROC: 0.991</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Sensitivity: 95.2%; Specificity: 98.3%</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77817035"/>
                  </a:ext>
                </a:extLst>
              </a:tr>
              <a:tr h="818960">
                <a:tc>
                  <a:txBody>
                    <a:bodyPr/>
                    <a:lstStyle/>
                    <a:p>
                      <a:pPr algn="ctr">
                        <a:buNone/>
                      </a:pPr>
                      <a:r>
                        <a:rPr lang="en-IN" sz="2400">
                          <a:latin typeface="EB Garamond" panose="00000500000000000000" pitchFamily="2" charset="0"/>
                          <a:ea typeface="EB Garamond" panose="00000500000000000000" pitchFamily="2" charset="0"/>
                        </a:rPr>
                        <a:t>Pleural Effusion</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Subgroup AUROC: ~0.98</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AUROC: 0.995</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Sensitivity: 92.0%; Specificity: 97.6%</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1497306246"/>
                  </a:ext>
                </a:extLst>
              </a:tr>
              <a:tr h="818960">
                <a:tc>
                  <a:txBody>
                    <a:bodyPr/>
                    <a:lstStyle/>
                    <a:p>
                      <a:pPr algn="ctr">
                        <a:buNone/>
                      </a:pPr>
                      <a:r>
                        <a:rPr lang="en-IN" sz="2400">
                          <a:latin typeface="EB Garamond" panose="00000500000000000000" pitchFamily="2" charset="0"/>
                          <a:ea typeface="EB Garamond" panose="00000500000000000000" pitchFamily="2" charset="0"/>
                        </a:rPr>
                        <a:t>Pulmonary Edema</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Not individually specified</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AUROC: 0.973</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Specificity: 99.2%</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1837499519"/>
                  </a:ext>
                </a:extLst>
              </a:tr>
              <a:tr h="1169944">
                <a:tc>
                  <a:txBody>
                    <a:bodyPr/>
                    <a:lstStyle/>
                    <a:p>
                      <a:pPr algn="ctr">
                        <a:buNone/>
                      </a:pPr>
                      <a:r>
                        <a:rPr lang="en-IN" sz="2400">
                          <a:latin typeface="EB Garamond" panose="00000500000000000000" pitchFamily="2" charset="0"/>
                          <a:ea typeface="EB Garamond" panose="00000500000000000000" pitchFamily="2" charset="0"/>
                        </a:rPr>
                        <a:t>Complex Negation / Normal</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Subgroup AUROC: ~0.97</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a:latin typeface="EB Garamond" panose="00000500000000000000" pitchFamily="2" charset="0"/>
                          <a:ea typeface="EB Garamond" panose="00000500000000000000" pitchFamily="2" charset="0"/>
                        </a:rPr>
                        <a:t>AUROC: 0.983</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tc>
                  <a:txBody>
                    <a:bodyPr/>
                    <a:lstStyle/>
                    <a:p>
                      <a:pPr algn="ctr">
                        <a:buNone/>
                      </a:pPr>
                      <a:r>
                        <a:rPr lang="en-IN" sz="2400" dirty="0">
                          <a:latin typeface="EB Garamond" panose="00000500000000000000" pitchFamily="2" charset="0"/>
                          <a:ea typeface="EB Garamond" panose="00000500000000000000" pitchFamily="2" charset="0"/>
                        </a:rPr>
                        <a:t>Specificity: 92.0%; negation handling requires validation</a:t>
                      </a:r>
                    </a:p>
                  </a:txBody>
                  <a:tcPr marL="68575" marR="68575" marT="34288" marB="342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noFill/>
                      <a:prstDash val="solid"/>
                      <a:round/>
                      <a:headEnd type="none" w="med" len="med"/>
                      <a:tailEnd type="none" w="med" len="med"/>
                    </a:lnTlToBr>
                  </a:tcPr>
                </a:tc>
                <a:extLst>
                  <a:ext uri="{0D108BD9-81ED-4DB2-BD59-A6C34878D82A}">
                    <a16:rowId xmlns:a16="http://schemas.microsoft.com/office/drawing/2014/main" val="1736539842"/>
                  </a:ext>
                </a:extLst>
              </a:tr>
            </a:tbl>
          </a:graphicData>
        </a:graphic>
      </p:graphicFrame>
    </p:spTree>
    <p:extLst>
      <p:ext uri="{BB962C8B-B14F-4D97-AF65-F5344CB8AC3E}">
        <p14:creationId xmlns:p14="http://schemas.microsoft.com/office/powerpoint/2010/main" val="3707988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198</TotalTime>
  <Words>2579</Words>
  <Application>Microsoft Office PowerPoint</Application>
  <PresentationFormat>Custom</PresentationFormat>
  <Paragraphs>289</Paragraphs>
  <Slides>14</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Cambria Math</vt:lpstr>
      <vt:lpstr>Arial</vt:lpstr>
      <vt:lpstr>EB Garamond</vt:lpstr>
      <vt:lpstr>Calibri</vt:lpstr>
      <vt:lpstr>Canva Sans Italics</vt:lpstr>
      <vt:lpstr>EB Garamond Semi-Bold</vt:lpstr>
      <vt:lpstr>Touvlo Bold</vt:lpstr>
      <vt:lpstr>EB Garamond Italics</vt:lpstr>
      <vt:lpstr>Wingdings</vt:lpstr>
      <vt:lpstr>Touvlo</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December 13, 2023</dc:title>
  <cp:lastModifiedBy>Chepoori Sai Vivek</cp:lastModifiedBy>
  <cp:revision>5</cp:revision>
  <dcterms:created xsi:type="dcterms:W3CDTF">2006-08-16T00:00:00Z</dcterms:created>
  <dcterms:modified xsi:type="dcterms:W3CDTF">2026-10-14T13:16:35Z</dcterms:modified>
  <dc:identifier>DAHQHMoB2T0</dc:identifier>
</cp:coreProperties>
</file>